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354" r:id="rId3"/>
    <p:sldId id="355" r:id="rId5"/>
    <p:sldId id="356" r:id="rId6"/>
    <p:sldId id="357" r:id="rId7"/>
    <p:sldId id="411" r:id="rId8"/>
    <p:sldId id="412" r:id="rId9"/>
    <p:sldId id="413" r:id="rId10"/>
    <p:sldId id="362" r:id="rId11"/>
    <p:sldId id="363" r:id="rId12"/>
    <p:sldId id="365" r:id="rId13"/>
    <p:sldId id="366" r:id="rId14"/>
    <p:sldId id="367" r:id="rId15"/>
    <p:sldId id="368" r:id="rId16"/>
    <p:sldId id="414" r:id="rId17"/>
    <p:sldId id="369" r:id="rId18"/>
    <p:sldId id="370" r:id="rId19"/>
    <p:sldId id="371" r:id="rId20"/>
    <p:sldId id="372" r:id="rId21"/>
    <p:sldId id="407" r:id="rId22"/>
    <p:sldId id="373" r:id="rId23"/>
    <p:sldId id="374" r:id="rId24"/>
    <p:sldId id="375" r:id="rId25"/>
    <p:sldId id="376" r:id="rId26"/>
    <p:sldId id="404" r:id="rId27"/>
    <p:sldId id="378" r:id="rId28"/>
    <p:sldId id="405" r:id="rId29"/>
    <p:sldId id="380" r:id="rId30"/>
    <p:sldId id="381" r:id="rId31"/>
    <p:sldId id="382" r:id="rId32"/>
    <p:sldId id="383" r:id="rId33"/>
    <p:sldId id="384" r:id="rId34"/>
    <p:sldId id="416" r:id="rId35"/>
    <p:sldId id="417" r:id="rId36"/>
    <p:sldId id="389" r:id="rId37"/>
    <p:sldId id="418" r:id="rId38"/>
    <p:sldId id="406" r:id="rId39"/>
    <p:sldId id="391" r:id="rId40"/>
    <p:sldId id="419" r:id="rId41"/>
    <p:sldId id="393" r:id="rId42"/>
    <p:sldId id="394" r:id="rId43"/>
    <p:sldId id="257" r:id="rId44"/>
    <p:sldId id="258" r:id="rId4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17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8" Type="http://schemas.openxmlformats.org/officeDocument/2006/relationships/tableStyles" Target="tableStyles.xml"/><Relationship Id="rId47" Type="http://schemas.openxmlformats.org/officeDocument/2006/relationships/viewProps" Target="viewProps.xml"/><Relationship Id="rId46" Type="http://schemas.openxmlformats.org/officeDocument/2006/relationships/presProps" Target="presProps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EE07004-3BCC-4906-BBE8-ADFAA9DAFAE9}" type="datetimeFigureOut">
              <a:rPr lang="en-IN" smtClean="0"/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6DFE2DD-C996-4D39-A3F8-FC91A1D33C93}" type="slidenum">
              <a:rPr lang="en-IN" smtClean="0"/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9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fld id="{CEF603D0-ECB2-446F-9ACE-CE39AE45CB82}" type="slidenum">
              <a:rPr lang="en-US" altLang="hi-IN">
                <a:latin typeface="Times New Roman" panose="02020603050405020304" pitchFamily="18" charset="0"/>
                <a:cs typeface="Arial" panose="020B0604020202020204" pitchFamily="34" charset="0"/>
              </a:rPr>
            </a:fld>
            <a:endParaRPr lang="en-US" altLang="hi-IN">
              <a:latin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522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2228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/>
            <a:endParaRPr lang="hi-IN" altLang="hi-IN">
              <a:ea typeface="Mangal" panose="02040503050203030202" pitchFamily="18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fld id="{EF96735B-7F33-44EA-BB11-5EEBFF1A7BAD}" type="slidenum">
              <a:rPr lang="en-US" altLang="hi-IN">
                <a:latin typeface="Times New Roman" panose="02020603050405020304" pitchFamily="18" charset="0"/>
                <a:cs typeface="Arial" panose="020B0604020202020204" pitchFamily="34" charset="0"/>
              </a:rPr>
            </a:fld>
            <a:endParaRPr lang="en-US" altLang="hi-IN">
              <a:latin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542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4276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/>
            <a:endParaRPr lang="hi-IN" altLang="hi-IN">
              <a:ea typeface="Mangal" panose="02040503050203030202" pitchFamily="18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fld id="{91C8EA0E-4D56-4603-BCB8-011181830037}" type="slidenum">
              <a:rPr lang="en-US" altLang="hi-IN">
                <a:latin typeface="Times New Roman" panose="02020603050405020304" pitchFamily="18" charset="0"/>
                <a:cs typeface="Arial" panose="020B0604020202020204" pitchFamily="34" charset="0"/>
              </a:rPr>
            </a:fld>
            <a:endParaRPr lang="en-US" altLang="hi-IN">
              <a:latin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563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6324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/>
            <a:endParaRPr lang="hi-IN" altLang="hi-IN">
              <a:ea typeface="Mangal" panose="02040503050203030202" pitchFamily="18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fld id="{219E5423-AD7E-48C4-817C-8FEFC893F08B}" type="slidenum">
              <a:rPr lang="en-US" altLang="hi-IN">
                <a:latin typeface="Times New Roman" panose="02020603050405020304" pitchFamily="18" charset="0"/>
                <a:cs typeface="Arial" panose="020B0604020202020204" pitchFamily="34" charset="0"/>
              </a:rPr>
            </a:fld>
            <a:endParaRPr lang="en-US" altLang="hi-IN">
              <a:latin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583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837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/>
            <a:endParaRPr lang="hi-IN" altLang="hi-IN">
              <a:ea typeface="Mangal" panose="02040503050203030202" pitchFamily="18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fld id="{DF31BCB2-3382-4BEB-87CE-E9265191D06A}" type="slidenum">
              <a:rPr lang="en-US" altLang="hi-IN">
                <a:latin typeface="Times New Roman" panose="02020603050405020304" pitchFamily="18" charset="0"/>
                <a:cs typeface="Arial" panose="020B0604020202020204" pitchFamily="34" charset="0"/>
              </a:rPr>
            </a:fld>
            <a:endParaRPr lang="en-US" altLang="hi-IN">
              <a:latin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634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349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/>
            <a:endParaRPr lang="hi-IN" altLang="hi-IN">
              <a:ea typeface="Mangal" panose="02040503050203030202" pitchFamily="18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fld id="{99240BF7-C72A-4A5B-A05F-326FDA8BD271}" type="slidenum">
              <a:rPr lang="en-US" altLang="hi-IN">
                <a:latin typeface="Times New Roman" panose="02020603050405020304" pitchFamily="18" charset="0"/>
                <a:cs typeface="Arial" panose="020B0604020202020204" pitchFamily="34" charset="0"/>
              </a:rPr>
            </a:fld>
            <a:endParaRPr lang="en-US" altLang="hi-IN">
              <a:latin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65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/>
            <a:endParaRPr lang="hi-IN" altLang="hi-IN">
              <a:ea typeface="Mangal" panose="02040503050203030202" pitchFamily="18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fld id="{8B505BDA-A9CE-46FF-86AF-0AB3BDC7DA24}" type="slidenum">
              <a:rPr lang="en-US" altLang="hi-IN">
                <a:latin typeface="Times New Roman" panose="02020603050405020304" pitchFamily="18" charset="0"/>
                <a:cs typeface="Arial" panose="020B0604020202020204" pitchFamily="34" charset="0"/>
              </a:rPr>
            </a:fld>
            <a:endParaRPr lang="en-US" altLang="hi-IN">
              <a:latin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675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7588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/>
            <a:endParaRPr lang="hi-IN" altLang="hi-IN">
              <a:ea typeface="Mangal" panose="02040503050203030202" pitchFamily="18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fld id="{867D6E4C-22F7-4990-98DE-195796D188F7}" type="slidenum">
              <a:rPr lang="en-US" altLang="hi-IN">
                <a:latin typeface="Times New Roman" panose="02020603050405020304" pitchFamily="18" charset="0"/>
                <a:cs typeface="Arial" panose="020B0604020202020204" pitchFamily="34" charset="0"/>
              </a:rPr>
            </a:fld>
            <a:endParaRPr lang="en-US" altLang="hi-IN">
              <a:latin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696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9636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/>
            <a:endParaRPr lang="hi-IN" altLang="hi-IN">
              <a:ea typeface="Mangal" panose="02040503050203030202" pitchFamily="18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fld id="{BA16724A-49A8-45C7-8F2F-7B0885EBD540}" type="slidenum">
              <a:rPr lang="en-US" altLang="hi-IN">
                <a:latin typeface="Times New Roman" panose="02020603050405020304" pitchFamily="18" charset="0"/>
                <a:cs typeface="Arial" panose="020B0604020202020204" pitchFamily="34" charset="0"/>
              </a:rPr>
            </a:fld>
            <a:endParaRPr lang="en-US" altLang="hi-IN">
              <a:latin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716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1684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/>
            <a:endParaRPr lang="hi-IN" altLang="hi-IN">
              <a:ea typeface="Mangal" panose="02040503050203030202" pitchFamily="18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fld id="{DEF74D9B-D834-420E-8085-DDBCF210A553}" type="slidenum">
              <a:rPr lang="en-US" altLang="hi-IN">
                <a:latin typeface="Times New Roman" panose="02020603050405020304" pitchFamily="18" charset="0"/>
                <a:cs typeface="Arial" panose="020B0604020202020204" pitchFamily="34" charset="0"/>
              </a:rPr>
            </a:fld>
            <a:endParaRPr lang="en-US" altLang="hi-IN">
              <a:latin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737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373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/>
            <a:endParaRPr lang="hi-IN" altLang="hi-IN">
              <a:ea typeface="Mangal" panose="02040503050203030202" pitchFamily="18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fld id="{F4D4EB0E-72F5-4112-AF48-A6A3F651DAC5}" type="slidenum">
              <a:rPr lang="en-US" altLang="hi-IN">
                <a:latin typeface="Times New Roman" panose="02020603050405020304" pitchFamily="18" charset="0"/>
                <a:cs typeface="Arial" panose="020B0604020202020204" pitchFamily="34" charset="0"/>
              </a:rPr>
            </a:fld>
            <a:endParaRPr lang="en-US" altLang="hi-IN">
              <a:latin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768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6804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/>
            <a:endParaRPr lang="hi-IN" altLang="hi-IN">
              <a:ea typeface="Mangal" panose="02040503050203030202" pitchFamily="18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fld id="{3084550C-40EC-493E-8623-CD49637EF235}" type="slidenum">
              <a:rPr lang="en-US" altLang="hi-IN">
                <a:latin typeface="Times New Roman" panose="02020603050405020304" pitchFamily="18" charset="0"/>
                <a:cs typeface="Arial" panose="020B0604020202020204" pitchFamily="34" charset="0"/>
              </a:rPr>
            </a:fld>
            <a:endParaRPr lang="en-US" altLang="hi-IN">
              <a:latin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788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885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/>
            <a:endParaRPr lang="hi-IN" altLang="hi-IN">
              <a:ea typeface="Mangal" panose="02040503050203030202" pitchFamily="18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fld id="{35E8116D-FA15-4502-A075-A070B417D658}" type="slidenum">
              <a:rPr lang="en-US" altLang="hi-IN">
                <a:latin typeface="Times New Roman" panose="02020603050405020304" pitchFamily="18" charset="0"/>
                <a:cs typeface="Arial" panose="020B0604020202020204" pitchFamily="34" charset="0"/>
              </a:rPr>
            </a:fld>
            <a:endParaRPr lang="en-US" altLang="hi-IN">
              <a:latin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808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0900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/>
            <a:endParaRPr lang="hi-IN" altLang="hi-IN">
              <a:ea typeface="Mangal" panose="02040503050203030202" pitchFamily="18" charset="0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fld id="{28AC3E1A-4B7F-4D21-AF48-208A4AB3336D}" type="slidenum">
              <a:rPr lang="en-US" altLang="hi-IN">
                <a:latin typeface="Times New Roman" panose="02020603050405020304" pitchFamily="18" charset="0"/>
                <a:cs typeface="Arial" panose="020B0604020202020204" pitchFamily="34" charset="0"/>
              </a:rPr>
            </a:fld>
            <a:endParaRPr lang="en-US" altLang="hi-IN">
              <a:latin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/>
            <a:endParaRPr lang="hi-IN" altLang="hi-IN">
              <a:ea typeface="Mangal" panose="02040503050203030202" pitchFamily="18" charset="0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fld id="{C2F342FA-D8AD-457F-8E72-F99273B02C64}" type="slidenum">
              <a:rPr lang="en-US" altLang="hi-IN">
                <a:latin typeface="Times New Roman" panose="02020603050405020304" pitchFamily="18" charset="0"/>
                <a:cs typeface="Arial" panose="020B0604020202020204" pitchFamily="34" charset="0"/>
              </a:rPr>
            </a:fld>
            <a:endParaRPr lang="en-US" altLang="hi-IN">
              <a:latin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849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4996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/>
            <a:endParaRPr lang="hi-IN" altLang="hi-IN">
              <a:ea typeface="Mangal" panose="02040503050203030202" pitchFamily="18" charset="0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fld id="{D2756662-5C53-4FC0-91D6-CDCACDBF5BC8}" type="slidenum">
              <a:rPr lang="en-US" altLang="hi-IN">
                <a:latin typeface="Times New Roman" panose="02020603050405020304" pitchFamily="18" charset="0"/>
                <a:cs typeface="Arial" panose="020B0604020202020204" pitchFamily="34" charset="0"/>
              </a:rPr>
            </a:fld>
            <a:endParaRPr lang="en-US" altLang="hi-IN">
              <a:latin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870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7044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/>
            <a:endParaRPr lang="hi-IN" altLang="hi-IN">
              <a:ea typeface="Mangal" panose="02040503050203030202" pitchFamily="18" charset="0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fld id="{1F0D8243-42C7-4564-9EB4-76B9EBA7F9F6}" type="slidenum">
              <a:rPr lang="en-US" altLang="hi-IN">
                <a:latin typeface="Times New Roman" panose="02020603050405020304" pitchFamily="18" charset="0"/>
                <a:cs typeface="Arial" panose="020B0604020202020204" pitchFamily="34" charset="0"/>
              </a:rPr>
            </a:fld>
            <a:endParaRPr lang="en-US" altLang="hi-IN">
              <a:latin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890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/>
            <a:endParaRPr lang="hi-IN" altLang="hi-IN">
              <a:ea typeface="Mangal" panose="02040503050203030202" pitchFamily="18" charset="0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fld id="{DC00054B-9EB6-4187-B2C2-7E3BD3C195AF}" type="slidenum">
              <a:rPr lang="en-US" altLang="hi-IN">
                <a:latin typeface="Times New Roman" panose="02020603050405020304" pitchFamily="18" charset="0"/>
                <a:cs typeface="Arial" panose="020B0604020202020204" pitchFamily="34" charset="0"/>
              </a:rPr>
            </a:fld>
            <a:endParaRPr lang="en-US" altLang="hi-IN">
              <a:latin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911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1140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/>
            <a:endParaRPr lang="hi-IN" altLang="hi-IN">
              <a:ea typeface="Mangal" panose="02040503050203030202" pitchFamily="18" charset="0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fld id="{9A0CD3BF-889B-4A8E-9D21-6DA8D63A3A58}" type="slidenum">
              <a:rPr lang="en-US" altLang="hi-IN">
                <a:latin typeface="Times New Roman" panose="02020603050405020304" pitchFamily="18" charset="0"/>
                <a:cs typeface="Arial" panose="020B0604020202020204" pitchFamily="34" charset="0"/>
              </a:rPr>
            </a:fld>
            <a:endParaRPr lang="en-US" altLang="hi-IN">
              <a:latin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931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3188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/>
            <a:endParaRPr lang="hi-IN" altLang="hi-IN">
              <a:ea typeface="Mangal" panose="02040503050203030202" pitchFamily="18" charset="0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fld id="{738109E2-DF14-403E-B09D-F28AC98D75D5}" type="slidenum">
              <a:rPr lang="en-US" altLang="hi-IN">
                <a:latin typeface="Times New Roman" panose="02020603050405020304" pitchFamily="18" charset="0"/>
                <a:cs typeface="Arial" panose="020B0604020202020204" pitchFamily="34" charset="0"/>
              </a:rPr>
            </a:fld>
            <a:endParaRPr lang="en-US" altLang="hi-IN">
              <a:latin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993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933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/>
            <a:endParaRPr lang="hi-IN" altLang="hi-IN">
              <a:ea typeface="Mangal" panose="02040503050203030202" pitchFamily="18" charset="0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fld id="{42950AE7-E4D3-487B-9637-E107D0327F02}" type="slidenum">
              <a:rPr lang="en-US" altLang="hi-IN">
                <a:latin typeface="Times New Roman" panose="02020603050405020304" pitchFamily="18" charset="0"/>
                <a:cs typeface="Arial" panose="020B0604020202020204" pitchFamily="34" charset="0"/>
              </a:rPr>
            </a:fld>
            <a:endParaRPr lang="en-US" altLang="hi-IN">
              <a:latin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1013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1380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/>
            <a:endParaRPr lang="hi-IN" altLang="hi-IN">
              <a:ea typeface="Mangal" panose="02040503050203030202" pitchFamily="18" charset="0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fld id="{6CB768C5-59CF-40E0-94E9-72625E4A52BE}" type="slidenum">
              <a:rPr lang="en-US" altLang="hi-IN">
                <a:latin typeface="Times New Roman" panose="02020603050405020304" pitchFamily="18" charset="0"/>
                <a:cs typeface="Arial" panose="020B0604020202020204" pitchFamily="34" charset="0"/>
              </a:rPr>
            </a:fld>
            <a:endParaRPr lang="en-US" altLang="hi-IN">
              <a:latin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1044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445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/>
            <a:r>
              <a:rPr lang="en-US" altLang="en-US" dirty="0">
                <a:latin typeface="Times New Roman" panose="02020603050405020304" pitchFamily="18" charset="0"/>
                <a:sym typeface="+mn-ea"/>
              </a:rPr>
              <a:t>transmit a digital signal by using one of two different approaches: baseband transmission or broadband transmission</a:t>
            </a:r>
            <a:endParaRPr lang="en-US" altLang="en-US" dirty="0">
              <a:latin typeface="Times New Roman" panose="02020603050405020304" pitchFamily="18" charset="0"/>
            </a:endParaRPr>
          </a:p>
          <a:p>
            <a:pPr eaLnBrk="1" hangingPunct="1"/>
            <a:r>
              <a:rPr lang="en-US" altLang="en-US" dirty="0">
                <a:latin typeface="Times New Roman" panose="02020603050405020304" pitchFamily="18" charset="0"/>
                <a:sym typeface="+mn-ea"/>
              </a:rPr>
              <a:t>Baseband transmission means sending a digital signal over a channel without changing</a:t>
            </a:r>
            <a:endParaRPr lang="en-US" altLang="en-US" b="0" i="0" baseline="0" dirty="0">
              <a:latin typeface="Times New Roman" panose="02020603050405020304" pitchFamily="18" charset="0"/>
            </a:endParaRPr>
          </a:p>
          <a:p>
            <a:pPr eaLnBrk="1" hangingPunct="1"/>
            <a:r>
              <a:rPr lang="en-US" altLang="en-US" dirty="0">
                <a:latin typeface="Times New Roman" panose="02020603050405020304" pitchFamily="18" charset="0"/>
                <a:sym typeface="+mn-ea"/>
              </a:rPr>
              <a:t>the digital signal to an analog signal</a:t>
            </a:r>
            <a:endParaRPr lang="en-US" altLang="en-US" dirty="0">
              <a:latin typeface="Times New Roman" panose="02020603050405020304" pitchFamily="18" charset="0"/>
            </a:endParaRPr>
          </a:p>
          <a:p>
            <a:pPr eaLnBrk="1" hangingPunct="1"/>
            <a:endParaRPr lang="hi-IN" altLang="hi-IN">
              <a:ea typeface="Mangal" panose="02040503050203030202" pitchFamily="18" charset="0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fld id="{31F484FF-2070-4574-90AC-518C5DC25005}" type="slidenum">
              <a:rPr lang="en-US" altLang="hi-IN">
                <a:latin typeface="Times New Roman" panose="02020603050405020304" pitchFamily="18" charset="0"/>
                <a:cs typeface="Arial" panose="020B0604020202020204" pitchFamily="34" charset="0"/>
              </a:rPr>
            </a:fld>
            <a:endParaRPr lang="en-US" altLang="hi-IN">
              <a:latin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1064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6500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/>
            <a:endParaRPr lang="hi-IN" altLang="hi-IN">
              <a:ea typeface="Mangal" panose="02040503050203030202" pitchFamily="18" charset="0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fld id="{D466A531-9A90-4DCB-A627-DE8A11D9A06F}" type="slidenum">
              <a:rPr lang="en-US" altLang="hi-IN">
                <a:latin typeface="Times New Roman" panose="02020603050405020304" pitchFamily="18" charset="0"/>
                <a:cs typeface="Arial" panose="020B0604020202020204" pitchFamily="34" charset="0"/>
              </a:rPr>
            </a:fld>
            <a:endParaRPr lang="en-US" altLang="hi-IN">
              <a:latin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1085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8548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/>
            <a:r>
              <a:rPr lang="en-US" altLang="en-US" dirty="0">
                <a:latin typeface="Times New Roman" panose="02020603050405020304" pitchFamily="18" charset="0"/>
                <a:sym typeface="+mn-ea"/>
              </a:rPr>
              <a:t>Low-Pass Channel with Wide Bandwidth</a:t>
            </a:r>
            <a:endParaRPr lang="en-US" altLang="en-US" i="0" baseline="0" dirty="0">
              <a:latin typeface="Times New Roman" panose="02020603050405020304" pitchFamily="18" charset="0"/>
            </a:endParaRPr>
          </a:p>
          <a:p>
            <a:pPr eaLnBrk="1" hangingPunct="1"/>
            <a:r>
              <a:rPr lang="en-US" altLang="en-US" dirty="0">
                <a:latin typeface="Times New Roman" panose="02020603050405020304" pitchFamily="18" charset="0"/>
                <a:sym typeface="+mn-ea"/>
              </a:rPr>
              <a:t>If we want to preserve the exact form of a nonperiodic digital signal with vertical segments vertical and horizontal segments horizontal, we need to send the entire spectrum, the continuous range of frequencies between zero and infinity.</a:t>
            </a:r>
            <a:endParaRPr lang="en-US" altLang="en-US" dirty="0">
              <a:latin typeface="Times New Roman" panose="02020603050405020304" pitchFamily="18" charset="0"/>
            </a:endParaRPr>
          </a:p>
          <a:p>
            <a:pPr eaLnBrk="1" hangingPunct="1"/>
            <a:endParaRPr lang="hi-IN" altLang="hi-IN">
              <a:ea typeface="Mangal" panose="02040503050203030202" pitchFamily="18" charset="0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fld id="{82AC8C92-C5F6-4F5A-8AD0-9DA2A4E5B205}" type="slidenum">
              <a:rPr lang="en-US" altLang="hi-IN">
                <a:latin typeface="Times New Roman" panose="02020603050405020304" pitchFamily="18" charset="0"/>
                <a:cs typeface="Arial" panose="020B0604020202020204" pitchFamily="34" charset="0"/>
              </a:rPr>
            </a:fld>
            <a:endParaRPr lang="en-US" altLang="hi-IN">
              <a:latin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112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12644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/>
            <a:endParaRPr lang="hi-IN" altLang="hi-IN">
              <a:ea typeface="Mangal" panose="02040503050203030202" pitchFamily="18" charset="0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fld id="{92133FB5-0D1A-4C3C-B5EC-7F617D092BDA}" type="slidenum">
              <a:rPr lang="en-US" altLang="hi-IN">
                <a:latin typeface="Times New Roman" panose="02020603050405020304" pitchFamily="18" charset="0"/>
                <a:cs typeface="Arial" panose="020B0604020202020204" pitchFamily="34" charset="0"/>
              </a:rPr>
            </a:fld>
            <a:endParaRPr lang="en-US" altLang="hi-IN">
              <a:latin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1146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1469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/>
            <a:endParaRPr lang="hi-IN" altLang="hi-IN">
              <a:ea typeface="Mangal" panose="02040503050203030202" pitchFamily="18" charset="0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fld id="{3D05C980-7E2C-41B2-954F-0255B4A53404}" type="slidenum">
              <a:rPr lang="en-US" altLang="hi-IN">
                <a:latin typeface="Times New Roman" panose="02020603050405020304" pitchFamily="18" charset="0"/>
                <a:cs typeface="Arial" panose="020B0604020202020204" pitchFamily="34" charset="0"/>
              </a:rPr>
            </a:fld>
            <a:endParaRPr lang="en-US" altLang="hi-IN">
              <a:latin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1167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16740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/>
            <a:endParaRPr lang="hi-IN" altLang="hi-IN">
              <a:ea typeface="Mangal" panose="02040503050203030202" pitchFamily="18" charset="0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fld id="{164D9F87-7D02-4E50-B07D-02E676F14C94}" type="slidenum">
              <a:rPr lang="en-US" altLang="hi-IN">
                <a:latin typeface="Times New Roman" panose="02020603050405020304" pitchFamily="18" charset="0"/>
                <a:cs typeface="Arial" panose="020B0604020202020204" pitchFamily="34" charset="0"/>
              </a:rPr>
            </a:fld>
            <a:endParaRPr lang="en-US" altLang="hi-IN">
              <a:latin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1187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18788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/>
            <a:endParaRPr lang="hi-IN" altLang="hi-IN">
              <a:ea typeface="Mangal" panose="02040503050203030202" pitchFamily="18" charset="0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fld id="{CC105134-1FD6-4AFA-BCE1-5BDAC3B96B12}" type="slidenum">
              <a:rPr lang="en-US" altLang="hi-IN">
                <a:latin typeface="Times New Roman" panose="02020603050405020304" pitchFamily="18" charset="0"/>
                <a:cs typeface="Arial" panose="020B0604020202020204" pitchFamily="34" charset="0"/>
              </a:rPr>
            </a:fld>
            <a:endParaRPr lang="en-US" altLang="hi-IN">
              <a:latin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1218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21860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/>
            <a:endParaRPr lang="hi-IN" altLang="hi-IN">
              <a:ea typeface="Mangal" panose="02040503050203030202" pitchFamily="18" charset="0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fld id="{86C7B2B9-6328-4A5F-9DC9-B3B0CD4B9C72}" type="slidenum">
              <a:rPr lang="en-US" altLang="hi-IN">
                <a:latin typeface="Times New Roman" panose="02020603050405020304" pitchFamily="18" charset="0"/>
                <a:cs typeface="Arial" panose="020B0604020202020204" pitchFamily="34" charset="0"/>
              </a:rPr>
            </a:fld>
            <a:endParaRPr lang="en-US" altLang="hi-IN">
              <a:latin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1239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23908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/>
            <a:endParaRPr lang="hi-IN" altLang="hi-IN">
              <a:ea typeface="Mangal" panose="02040503050203030202" pitchFamily="18" charset="0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Puzzle 1 Answers:</a:t>
            </a:r>
          </a:p>
          <a:p>
            <a:r>
              <a:t>- Bit rate → Speed of bits in 1s</a:t>
            </a:r>
          </a:p>
          <a:p>
            <a:r>
              <a:t>- Bit length → Space each bit takes</a:t>
            </a:r>
          </a:p>
          <a:p>
            <a:r>
              <a:t>- Digital → Goes on forever like bedtime stories (infinite bandwidth)</a:t>
            </a:r>
          </a:p>
          <a:p>
            <a:r>
              <a:t>- Baseband BW → Grows with bit speed</a:t>
            </a:r>
          </a:p>
          <a:p/>
          <a:p>
            <a:r>
              <a:t>Justification:</a:t>
            </a:r>
          </a:p>
          <a:p>
            <a:r>
              <a:t>Bit rate = bits per second; Bit length = physical distance of one bit.</a:t>
            </a:r>
          </a:p>
          <a:p>
            <a:r>
              <a:t>Digital signals theoretically have infinite bandwidth.</a:t>
            </a:r>
          </a:p>
          <a:p>
            <a:r>
              <a:t>Baseband bandwidth increases with bit rate (BW = bit rate / 2).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Puzzle 2 Answers:</a:t>
            </a:r>
          </a:p>
          <a:p>
            <a:r>
              <a:t>- Fourier → Turns waves into tiny beats</a:t>
            </a:r>
          </a:p>
          <a:p>
            <a:r>
              <a:t>- Composite → Group of wave friends (sine mix)</a:t>
            </a:r>
          </a:p>
          <a:p>
            <a:r>
              <a:t>- Freq. Dom → Spiky signal spectrum (frequency view)</a:t>
            </a:r>
          </a:p>
          <a:p>
            <a:r>
              <a:t>- Bandwidth → Highest minus lowest note (range)</a:t>
            </a:r>
          </a:p>
          <a:p/>
          <a:p>
            <a:r>
              <a:t>Justification:</a:t>
            </a:r>
          </a:p>
          <a:p>
            <a:r>
              <a:t>Fourier: analysis technique to break signal into sine waves.</a:t>
            </a:r>
          </a:p>
          <a:p>
            <a:r>
              <a:t>Composite: combination of multiple sine waves.</a:t>
            </a:r>
          </a:p>
          <a:p>
            <a:r>
              <a:t>Frequency domain: represents sine components as spikes.</a:t>
            </a:r>
          </a:p>
          <a:p>
            <a:r>
              <a:t>Bandwidth: frequency range = f_high - f_low.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7A7DD9-CDFB-47DA-A11A-0E60A6CDB456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31593-560E-4405-99DA-0B6EBCFC5771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7A7DD9-CDFB-47DA-A11A-0E60A6CDB456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31593-560E-4405-99DA-0B6EBCFC5771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7A7DD9-CDFB-47DA-A11A-0E60A6CDB456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31593-560E-4405-99DA-0B6EBCFC5771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7A7DD9-CDFB-47DA-A11A-0E60A6CDB456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31593-560E-4405-99DA-0B6EBCFC5771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7A7DD9-CDFB-47DA-A11A-0E60A6CDB456}" type="datetimeFigureOut">
              <a:rPr lang="en-IN" smtClean="0"/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31593-560E-4405-99DA-0B6EBCFC5771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7A7DD9-CDFB-47DA-A11A-0E60A6CDB456}" type="datetimeFigureOut">
              <a:rPr lang="en-IN" smtClean="0"/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31593-560E-4405-99DA-0B6EBCFC5771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7A7DD9-CDFB-47DA-A11A-0E60A6CDB456}" type="datetimeFigureOut">
              <a:rPr lang="en-IN" smtClean="0"/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31593-560E-4405-99DA-0B6EBCFC5771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7A7DD9-CDFB-47DA-A11A-0E60A6CDB456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31593-560E-4405-99DA-0B6EBCFC5771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7A7DD9-CDFB-47DA-A11A-0E60A6CDB456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31593-560E-4405-99DA-0B6EBCFC5771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7A7DD9-CDFB-47DA-A11A-0E60A6CDB456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31593-560E-4405-99DA-0B6EBCFC5771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7A7DD9-CDFB-47DA-A11A-0E60A6CDB456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31593-560E-4405-99DA-0B6EBCFC5771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7A7DD9-CDFB-47DA-A11A-0E60A6CDB456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A31593-560E-4405-99DA-0B6EBCFC5771}" type="slidenum">
              <a:rPr lang="en-IN" smtClean="0"/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5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7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9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9.wmf"/></Relationships>
</file>

<file path=ppt/slides/_rels/slide1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1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0.png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2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3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1.png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4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1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5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2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6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2.png"/></Relationships>
</file>

<file path=ppt/slides/_rels/slide2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7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2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8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3.png"/></Relationships>
</file>

<file path=ppt/slides/_rels/slide2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9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2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0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2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1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4.wmf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2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2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5.png"/></Relationships>
</file>

<file path=ppt/slides/_rels/slide3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3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6.png"/></Relationships>
</file>

<file path=ppt/slides/_rels/slide3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4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7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3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5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3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6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3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7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3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8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8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3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9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9.png"/></Relationships>
</file>

<file path=ppt/slides/_rels/slide4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0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4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1.xml"/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4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2.xml"/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Line 2"/>
          <p:cNvSpPr>
            <a:spLocks noChangeShapeType="1"/>
          </p:cNvSpPr>
          <p:nvPr/>
        </p:nvSpPr>
        <p:spPr bwMode="auto">
          <a:xfrm>
            <a:off x="1676400" y="2286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51203" name="Line 3"/>
          <p:cNvSpPr>
            <a:spLocks noChangeShapeType="1"/>
          </p:cNvSpPr>
          <p:nvPr/>
        </p:nvSpPr>
        <p:spPr bwMode="auto">
          <a:xfrm>
            <a:off x="1676400" y="10668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51204" name="Text Box 4"/>
          <p:cNvSpPr txBox="1">
            <a:spLocks noChangeArrowheads="1"/>
          </p:cNvSpPr>
          <p:nvPr/>
        </p:nvSpPr>
        <p:spPr bwMode="auto">
          <a:xfrm>
            <a:off x="1828801" y="457201"/>
            <a:ext cx="76676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r>
              <a:rPr lang="en-US" altLang="hi-IN" sz="2400" b="1">
                <a:solidFill>
                  <a:srgbClr val="FF0000"/>
                </a:solidFill>
                <a:latin typeface="Times New Roman" panose="02020603050405020304" pitchFamily="18" charset="0"/>
              </a:rPr>
              <a:t>Figure</a:t>
            </a:r>
            <a:r>
              <a:rPr lang="en-US" altLang="hi-IN" sz="2400" b="1">
                <a:solidFill>
                  <a:schemeClr val="folHlink"/>
                </a:solidFill>
                <a:latin typeface="Times New Roman" panose="02020603050405020304" pitchFamily="18" charset="0"/>
              </a:rPr>
              <a:t>   </a:t>
            </a:r>
            <a:r>
              <a:rPr lang="en-US" altLang="hi-IN" sz="2000" b="1" i="1">
                <a:latin typeface="Times New Roman" panose="02020603050405020304" pitchFamily="18" charset="0"/>
              </a:rPr>
              <a:t>The time-domain and frequency-domain plots of a sine wave</a:t>
            </a:r>
            <a:endParaRPr lang="en-US" altLang="hi-IN" sz="2000" b="1" i="1">
              <a:latin typeface="Times New Roman" panose="02020603050405020304" pitchFamily="18" charset="0"/>
            </a:endParaRPr>
          </a:p>
        </p:txBody>
      </p:sp>
      <p:sp>
        <p:nvSpPr>
          <p:cNvPr id="51205" name="Line 5"/>
          <p:cNvSpPr>
            <a:spLocks noChangeShapeType="1"/>
          </p:cNvSpPr>
          <p:nvPr/>
        </p:nvSpPr>
        <p:spPr bwMode="auto">
          <a:xfrm>
            <a:off x="1676400" y="63246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pic>
        <p:nvPicPr>
          <p:cNvPr id="51206" name="Picture 6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92375" y="1447801"/>
            <a:ext cx="7056438" cy="4619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3716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49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5600" y="88108"/>
            <a:ext cx="1563688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147255000"/>
    </mc:Choice>
    <mc:Fallback>
      <p:transition spd="slow" advClick="0" advTm="214725500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ChangeArrowheads="1"/>
          </p:cNvSpPr>
          <p:nvPr/>
        </p:nvSpPr>
        <p:spPr bwMode="ltGray">
          <a:xfrm>
            <a:off x="1890713" y="107951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pPr algn="ctr" eaLnBrk="1" hangingPunct="1"/>
            <a:endParaRPr kumimoji="1" lang="hi-IN" altLang="hi-IN" sz="2400">
              <a:latin typeface="Tahoma" panose="020B0604030504040204" pitchFamily="34" charset="0"/>
            </a:endParaRPr>
          </a:p>
        </p:txBody>
      </p:sp>
      <p:sp>
        <p:nvSpPr>
          <p:cNvPr id="53251" name="Rectangle 3"/>
          <p:cNvSpPr>
            <a:spLocks noChangeArrowheads="1"/>
          </p:cNvSpPr>
          <p:nvPr/>
        </p:nvSpPr>
        <p:spPr bwMode="ltGray">
          <a:xfrm>
            <a:off x="2273301" y="107951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pPr algn="ctr" eaLnBrk="1" hangingPunct="1"/>
            <a:endParaRPr kumimoji="1" lang="hi-IN" altLang="hi-IN" sz="2400">
              <a:latin typeface="Tahoma" panose="020B0604030504040204" pitchFamily="34" charset="0"/>
            </a:endParaRPr>
          </a:p>
        </p:txBody>
      </p:sp>
      <p:sp>
        <p:nvSpPr>
          <p:cNvPr id="53252" name="Rectangle 4"/>
          <p:cNvSpPr>
            <a:spLocks noChangeArrowheads="1"/>
          </p:cNvSpPr>
          <p:nvPr/>
        </p:nvSpPr>
        <p:spPr bwMode="ltGray">
          <a:xfrm>
            <a:off x="2014539" y="530226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pPr algn="ctr" eaLnBrk="1" hangingPunct="1"/>
            <a:endParaRPr kumimoji="1" lang="hi-IN" altLang="hi-IN" sz="2400">
              <a:latin typeface="Tahoma" panose="020B0604030504040204" pitchFamily="34" charset="0"/>
            </a:endParaRPr>
          </a:p>
        </p:txBody>
      </p:sp>
      <p:sp>
        <p:nvSpPr>
          <p:cNvPr id="53253" name="Rectangle 5"/>
          <p:cNvSpPr>
            <a:spLocks noChangeArrowheads="1"/>
          </p:cNvSpPr>
          <p:nvPr/>
        </p:nvSpPr>
        <p:spPr bwMode="ltGray">
          <a:xfrm>
            <a:off x="2384425" y="530226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pPr algn="ctr" eaLnBrk="1" hangingPunct="1"/>
            <a:endParaRPr kumimoji="1" lang="hi-IN" altLang="hi-IN" sz="2400">
              <a:latin typeface="Tahoma" panose="020B0604030504040204" pitchFamily="34" charset="0"/>
            </a:endParaRPr>
          </a:p>
        </p:txBody>
      </p:sp>
      <p:sp>
        <p:nvSpPr>
          <p:cNvPr id="53254" name="Rectangle 6"/>
          <p:cNvSpPr>
            <a:spLocks noChangeArrowheads="1"/>
          </p:cNvSpPr>
          <p:nvPr/>
        </p:nvSpPr>
        <p:spPr bwMode="ltGray">
          <a:xfrm>
            <a:off x="1600200" y="457201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pPr algn="ctr" eaLnBrk="1" hangingPunct="1"/>
            <a:endParaRPr kumimoji="1" lang="hi-IN" altLang="hi-IN" sz="2400">
              <a:latin typeface="Tahoma" panose="020B0604030504040204" pitchFamily="34" charset="0"/>
            </a:endParaRPr>
          </a:p>
        </p:txBody>
      </p:sp>
      <p:sp>
        <p:nvSpPr>
          <p:cNvPr id="53255" name="Rectangle 7"/>
          <p:cNvSpPr>
            <a:spLocks noChangeArrowheads="1"/>
          </p:cNvSpPr>
          <p:nvPr/>
        </p:nvSpPr>
        <p:spPr bwMode="gray">
          <a:xfrm>
            <a:off x="2235200" y="1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pPr algn="ctr" eaLnBrk="1" hangingPunct="1"/>
            <a:endParaRPr kumimoji="1" lang="hi-IN" altLang="hi-IN" sz="2400">
              <a:latin typeface="Tahoma" panose="020B0604030504040204" pitchFamily="34" charset="0"/>
            </a:endParaRPr>
          </a:p>
        </p:txBody>
      </p:sp>
      <p:sp>
        <p:nvSpPr>
          <p:cNvPr id="53256" name="Rectangle 8"/>
          <p:cNvSpPr>
            <a:spLocks noChangeArrowheads="1"/>
          </p:cNvSpPr>
          <p:nvPr/>
        </p:nvSpPr>
        <p:spPr bwMode="gray">
          <a:xfrm>
            <a:off x="1966914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pPr algn="ctr" eaLnBrk="1" hangingPunct="1"/>
            <a:endParaRPr kumimoji="1" lang="hi-IN" altLang="hi-IN" sz="2400">
              <a:latin typeface="Tahoma" panose="020B0604030504040204" pitchFamily="34" charset="0"/>
            </a:endParaRPr>
          </a:p>
        </p:txBody>
      </p:sp>
      <p:sp>
        <p:nvSpPr>
          <p:cNvPr id="53259" name="Rectangle 11"/>
          <p:cNvSpPr>
            <a:spLocks noChangeArrowheads="1"/>
          </p:cNvSpPr>
          <p:nvPr/>
        </p:nvSpPr>
        <p:spPr bwMode="auto">
          <a:xfrm>
            <a:off x="1443947" y="1833593"/>
            <a:ext cx="8922678" cy="2062103"/>
          </a:xfrm>
          <a:prstGeom prst="rect">
            <a:avLst/>
          </a:prstGeom>
          <a:solidFill>
            <a:srgbClr val="99FF33"/>
          </a:solidFill>
          <a:ln>
            <a:noFill/>
          </a:ln>
          <a:extLst>
            <a:ext uri="{91240B29-F687-4F45-9708-019B960494DF}">
              <a14:hiddenLine xmlns:a14="http://schemas.microsoft.com/office/drawing/2010/main" w="762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pPr algn="ctr"/>
            <a:r>
              <a:rPr lang="en-US" altLang="hi-IN" sz="3200" b="1" dirty="0"/>
              <a:t>A complete sine wave in the time domain can be represented by:</a:t>
            </a:r>
            <a:endParaRPr lang="en-US" altLang="hi-IN" sz="3200" b="1" dirty="0"/>
          </a:p>
          <a:p>
            <a:pPr algn="ctr"/>
            <a:endParaRPr lang="en-US" altLang="hi-IN" sz="3200" b="1" dirty="0"/>
          </a:p>
          <a:p>
            <a:pPr algn="ctr"/>
            <a:r>
              <a:rPr lang="en-US" altLang="hi-IN" sz="3200" dirty="0"/>
              <a:t>One single spike in the frequency domain.</a:t>
            </a:r>
            <a:endParaRPr lang="en-US" altLang="hi-IN" sz="3200" dirty="0"/>
          </a:p>
        </p:txBody>
      </p:sp>
      <p:pic>
        <p:nvPicPr>
          <p:cNvPr id="2" name="Picture 4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3716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49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5600" y="88108"/>
            <a:ext cx="1563688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147255000"/>
    </mc:Choice>
    <mc:Fallback>
      <p:transition spd="slow" advClick="0" advTm="2147255000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ChangeArrowheads="1"/>
          </p:cNvSpPr>
          <p:nvPr/>
        </p:nvSpPr>
        <p:spPr bwMode="ltGray">
          <a:xfrm>
            <a:off x="1890713" y="350838"/>
            <a:ext cx="438150" cy="474662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pPr algn="ctr" eaLnBrk="1" hangingPunct="1"/>
            <a:endParaRPr kumimoji="1" lang="hi-IN" altLang="hi-IN" sz="2400">
              <a:latin typeface="Tahoma" panose="020B0604030504040204" pitchFamily="34" charset="0"/>
            </a:endParaRPr>
          </a:p>
        </p:txBody>
      </p:sp>
      <p:sp>
        <p:nvSpPr>
          <p:cNvPr id="55299" name="Rectangle 3"/>
          <p:cNvSpPr>
            <a:spLocks noChangeArrowheads="1"/>
          </p:cNvSpPr>
          <p:nvPr/>
        </p:nvSpPr>
        <p:spPr bwMode="ltGray">
          <a:xfrm>
            <a:off x="2273301" y="350838"/>
            <a:ext cx="328613" cy="474662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pPr algn="ctr" eaLnBrk="1" hangingPunct="1"/>
            <a:endParaRPr kumimoji="1" lang="hi-IN" altLang="hi-IN" sz="2400">
              <a:latin typeface="Tahoma" panose="020B0604030504040204" pitchFamily="34" charset="0"/>
            </a:endParaRPr>
          </a:p>
        </p:txBody>
      </p:sp>
      <p:grpSp>
        <p:nvGrpSpPr>
          <p:cNvPr id="55300" name="Group 4"/>
          <p:cNvGrpSpPr/>
          <p:nvPr/>
        </p:nvGrpSpPr>
        <p:grpSpPr bwMode="auto">
          <a:xfrm>
            <a:off x="2014539" y="773113"/>
            <a:ext cx="738187" cy="474662"/>
            <a:chOff x="309" y="487"/>
            <a:chExt cx="465" cy="299"/>
          </a:xfrm>
        </p:grpSpPr>
        <p:sp>
          <p:nvSpPr>
            <p:cNvPr id="55307" name="Rectangle 5"/>
            <p:cNvSpPr>
              <a:spLocks noChangeArrowheads="1"/>
            </p:cNvSpPr>
            <p:nvPr/>
          </p:nvSpPr>
          <p:spPr bwMode="ltGray">
            <a:xfrm>
              <a:off x="309" y="487"/>
              <a:ext cx="266" cy="299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Lucida Sans Unicode" panose="020B0602030504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Lucida Sans Unicode" panose="020B0602030504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Lucida Sans Unicode" panose="020B0602030504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Lucida Sans Unicode" panose="020B0602030504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Lucida Sans Unicode" panose="020B0602030504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Lucida Sans Unicode" panose="020B0602030504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Lucida Sans Unicode" panose="020B0602030504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Lucida Sans Unicode" panose="020B0602030504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Lucida Sans Unicode" panose="020B0602030504020204" pitchFamily="34" charset="0"/>
                </a:defRPr>
              </a:lvl9pPr>
            </a:lstStyle>
            <a:p>
              <a:pPr algn="ctr" eaLnBrk="1" hangingPunct="1"/>
              <a:endParaRPr kumimoji="1" lang="hi-IN" altLang="hi-IN" sz="2400">
                <a:latin typeface="Tahoma" panose="020B0604030504040204" pitchFamily="34" charset="0"/>
              </a:endParaRPr>
            </a:p>
          </p:txBody>
        </p:sp>
        <p:sp>
          <p:nvSpPr>
            <p:cNvPr id="55308" name="Rectangle 6"/>
            <p:cNvSpPr>
              <a:spLocks noChangeArrowheads="1"/>
            </p:cNvSpPr>
            <p:nvPr/>
          </p:nvSpPr>
          <p:spPr bwMode="ltGray">
            <a:xfrm>
              <a:off x="542" y="487"/>
              <a:ext cx="232" cy="299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Lucida Sans Unicode" panose="020B0602030504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Lucida Sans Unicode" panose="020B0602030504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Lucida Sans Unicode" panose="020B0602030504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Lucida Sans Unicode" panose="020B0602030504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Lucida Sans Unicode" panose="020B0602030504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Lucida Sans Unicode" panose="020B0602030504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Lucida Sans Unicode" panose="020B0602030504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Lucida Sans Unicode" panose="020B0602030504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Lucida Sans Unicode" panose="020B0602030504020204" pitchFamily="34" charset="0"/>
                </a:defRPr>
              </a:lvl9pPr>
            </a:lstStyle>
            <a:p>
              <a:pPr algn="ctr" eaLnBrk="1" hangingPunct="1"/>
              <a:endParaRPr kumimoji="1" lang="hi-IN" altLang="hi-IN" sz="2400">
                <a:latin typeface="Tahoma" panose="020B0604030504040204" pitchFamily="34" charset="0"/>
              </a:endParaRPr>
            </a:p>
          </p:txBody>
        </p:sp>
      </p:grpSp>
      <p:sp>
        <p:nvSpPr>
          <p:cNvPr id="55301" name="Rectangle 7"/>
          <p:cNvSpPr>
            <a:spLocks noChangeArrowheads="1"/>
          </p:cNvSpPr>
          <p:nvPr/>
        </p:nvSpPr>
        <p:spPr bwMode="ltGray">
          <a:xfrm>
            <a:off x="1600200" y="700089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pPr algn="ctr" eaLnBrk="1" hangingPunct="1"/>
            <a:endParaRPr kumimoji="1" lang="hi-IN" altLang="hi-IN" sz="2400">
              <a:latin typeface="Tahoma" panose="020B0604030504040204" pitchFamily="34" charset="0"/>
            </a:endParaRPr>
          </a:p>
        </p:txBody>
      </p:sp>
      <p:sp>
        <p:nvSpPr>
          <p:cNvPr id="55302" name="Rectangle 8"/>
          <p:cNvSpPr>
            <a:spLocks noChangeArrowheads="1"/>
          </p:cNvSpPr>
          <p:nvPr/>
        </p:nvSpPr>
        <p:spPr bwMode="gray">
          <a:xfrm>
            <a:off x="2235200" y="242888"/>
            <a:ext cx="31750" cy="1052512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pPr algn="ctr" eaLnBrk="1" hangingPunct="1"/>
            <a:endParaRPr kumimoji="1" lang="hi-IN" altLang="hi-IN" sz="2400">
              <a:latin typeface="Tahoma" panose="020B0604030504040204" pitchFamily="34" charset="0"/>
            </a:endParaRPr>
          </a:p>
        </p:txBody>
      </p:sp>
      <p:sp>
        <p:nvSpPr>
          <p:cNvPr id="55303" name="Rectangle 9"/>
          <p:cNvSpPr>
            <a:spLocks noChangeArrowheads="1"/>
          </p:cNvSpPr>
          <p:nvPr/>
        </p:nvSpPr>
        <p:spPr bwMode="gray">
          <a:xfrm>
            <a:off x="1966914" y="773113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pPr algn="ctr" eaLnBrk="1" hangingPunct="1"/>
            <a:endParaRPr kumimoji="1" lang="hi-IN" altLang="hi-IN" sz="2400">
              <a:latin typeface="Tahoma" panose="020B0604030504040204" pitchFamily="34" charset="0"/>
            </a:endParaRPr>
          </a:p>
        </p:txBody>
      </p:sp>
      <p:sp>
        <p:nvSpPr>
          <p:cNvPr id="55304" name="Rectangle 10"/>
          <p:cNvSpPr>
            <a:spLocks noChangeArrowheads="1"/>
          </p:cNvSpPr>
          <p:nvPr/>
        </p:nvSpPr>
        <p:spPr bwMode="auto">
          <a:xfrm>
            <a:off x="1676400" y="1447800"/>
            <a:ext cx="8839200" cy="381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endParaRPr lang="hi-IN" altLang="en-US" sz="2800" b="1" i="1" baseline="-18000">
              <a:latin typeface="Times New Roman" panose="02020603050405020304" pitchFamily="18" charset="0"/>
            </a:endParaRPr>
          </a:p>
        </p:txBody>
      </p:sp>
      <p:sp>
        <p:nvSpPr>
          <p:cNvPr id="55305" name="Rectangle 11"/>
          <p:cNvSpPr>
            <a:spLocks noChangeArrowheads="1"/>
          </p:cNvSpPr>
          <p:nvPr/>
        </p:nvSpPr>
        <p:spPr bwMode="auto">
          <a:xfrm>
            <a:off x="1752600" y="1447801"/>
            <a:ext cx="10031858" cy="13849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457200" indent="-4572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pPr algn="just">
              <a:buFont typeface="Arial" panose="020B0604020202020204" pitchFamily="34" charset="0"/>
              <a:buChar char="•"/>
            </a:pPr>
            <a:r>
              <a:rPr lang="en-US" altLang="hi-IN" sz="2800" b="1" i="1" dirty="0"/>
              <a:t>The frequency domain is more compact and useful :</a:t>
            </a:r>
            <a:endParaRPr lang="en-US" altLang="hi-IN" sz="2800" b="1" i="1" dirty="0"/>
          </a:p>
          <a:p>
            <a:pPr marL="0" indent="0" algn="just"/>
            <a:r>
              <a:rPr lang="en-US" altLang="hi-IN" sz="2800" b="1" i="1" dirty="0"/>
              <a:t>			</a:t>
            </a:r>
            <a:endParaRPr lang="en-US" altLang="hi-IN" sz="2800" b="1" i="1" dirty="0"/>
          </a:p>
          <a:p>
            <a:pPr marL="0" indent="0" algn="just"/>
            <a:r>
              <a:rPr lang="en-US" altLang="hi-IN" sz="2800" i="1" dirty="0"/>
              <a:t>	When dealing with more than one sine wave. </a:t>
            </a:r>
            <a:endParaRPr lang="en-US" altLang="hi-IN" sz="2800" i="1" dirty="0">
              <a:latin typeface="Times New Roman" panose="02020603050405020304" pitchFamily="18" charset="0"/>
            </a:endParaRPr>
          </a:p>
        </p:txBody>
      </p:sp>
      <p:sp>
        <p:nvSpPr>
          <p:cNvPr id="55306" name="Text Box 12"/>
          <p:cNvSpPr txBox="1">
            <a:spLocks noChangeArrowheads="1"/>
          </p:cNvSpPr>
          <p:nvPr/>
        </p:nvSpPr>
        <p:spPr bwMode="auto">
          <a:xfrm>
            <a:off x="2673350" y="700088"/>
            <a:ext cx="1792288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r>
              <a:rPr lang="en-US" altLang="hi-IN" sz="3200" b="1" i="1">
                <a:solidFill>
                  <a:srgbClr val="FF0000"/>
                </a:solidFill>
                <a:latin typeface="Times New Roman" panose="02020603050405020304" pitchFamily="18" charset="0"/>
              </a:rPr>
              <a:t>Example </a:t>
            </a:r>
            <a:endParaRPr lang="en-US" altLang="hi-IN" sz="3200" b="1" i="1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2" name="Picture 4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3716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49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5600" y="88108"/>
            <a:ext cx="1563688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147255000"/>
    </mc:Choice>
    <mc:Fallback>
      <p:transition spd="slow" advClick="0" advTm="2147255000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Line 2"/>
          <p:cNvSpPr>
            <a:spLocks noChangeShapeType="1"/>
          </p:cNvSpPr>
          <p:nvPr/>
        </p:nvSpPr>
        <p:spPr bwMode="auto">
          <a:xfrm>
            <a:off x="1676400" y="152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57347" name="Line 3"/>
          <p:cNvSpPr>
            <a:spLocks noChangeShapeType="1"/>
          </p:cNvSpPr>
          <p:nvPr/>
        </p:nvSpPr>
        <p:spPr bwMode="auto">
          <a:xfrm>
            <a:off x="1676400" y="14478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57348" name="Text Box 4"/>
          <p:cNvSpPr txBox="1">
            <a:spLocks noChangeArrowheads="1"/>
          </p:cNvSpPr>
          <p:nvPr/>
        </p:nvSpPr>
        <p:spPr bwMode="auto">
          <a:xfrm>
            <a:off x="1752600" y="798513"/>
            <a:ext cx="7577138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r>
              <a:rPr lang="en-US" altLang="hi-IN" sz="2400" b="1">
                <a:solidFill>
                  <a:srgbClr val="FF0000"/>
                </a:solidFill>
                <a:latin typeface="Times New Roman" panose="02020603050405020304" pitchFamily="18" charset="0"/>
              </a:rPr>
              <a:t>Figure </a:t>
            </a:r>
            <a:r>
              <a:rPr lang="en-US" altLang="hi-IN" sz="2400" b="1">
                <a:solidFill>
                  <a:schemeClr val="folHlink"/>
                </a:solidFill>
                <a:latin typeface="Times New Roman" panose="02020603050405020304" pitchFamily="18" charset="0"/>
              </a:rPr>
              <a:t>  </a:t>
            </a:r>
            <a:r>
              <a:rPr lang="en-US" altLang="hi-IN" sz="2000" b="1" i="1">
                <a:latin typeface="Times New Roman" panose="02020603050405020304" pitchFamily="18" charset="0"/>
              </a:rPr>
              <a:t>The time domain and frequency domain of three sine waves</a:t>
            </a:r>
            <a:endParaRPr lang="en-US" altLang="hi-IN" sz="2000" b="1" i="1">
              <a:latin typeface="Times New Roman" panose="02020603050405020304" pitchFamily="18" charset="0"/>
            </a:endParaRPr>
          </a:p>
        </p:txBody>
      </p:sp>
      <p:sp>
        <p:nvSpPr>
          <p:cNvPr id="57349" name="Line 5"/>
          <p:cNvSpPr>
            <a:spLocks noChangeShapeType="1"/>
          </p:cNvSpPr>
          <p:nvPr/>
        </p:nvSpPr>
        <p:spPr bwMode="auto">
          <a:xfrm>
            <a:off x="1676400" y="63246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pic>
        <p:nvPicPr>
          <p:cNvPr id="57350" name="Picture 6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2601" y="1981201"/>
            <a:ext cx="8583613" cy="3154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3716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49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5600" y="88108"/>
            <a:ext cx="1563688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147255000"/>
    </mc:Choice>
    <mc:Fallback>
      <p:transition spd="slow" advClick="0" advTm="2147255000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Content Placeholder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Single-frequency sine wave is not useful in: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			Data communications.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Need to send a composite signal: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      Signal made of many simple sine waves.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4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3716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49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5600" y="88108"/>
            <a:ext cx="1563688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147255000"/>
    </mc:Choice>
    <mc:Fallback>
      <p:transition spd="slow" advClick="0" advTm="2147255000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9" name="Content Placeholder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According to Fourier analysis, any composite signal: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Combination of simple sine waves. 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Have different frequencies, amplitudes, and phases.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4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3716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49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5600" y="88108"/>
            <a:ext cx="1563688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147255000"/>
    </mc:Choice>
    <mc:Fallback>
      <p:transition spd="slow" advClick="0" advTm="2147255000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3" name="Content Placeholder 2"/>
          <p:cNvSpPr>
            <a:spLocks noGrp="1" noChangeArrowheads="1"/>
          </p:cNvSpPr>
          <p:nvPr>
            <p:ph idx="1"/>
          </p:nvPr>
        </p:nvSpPr>
        <p:spPr>
          <a:xfrm>
            <a:off x="838200" y="1466030"/>
            <a:ext cx="10515600" cy="4351338"/>
          </a:xfrm>
        </p:spPr>
        <p:txBody>
          <a:bodyPr/>
          <a:lstStyle/>
          <a:p>
            <a:pPr algn="just"/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the composite signal is periodic.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Decomposition gives a series of signals with discrete frequencies.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the composite signal is nonperiodic.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Decomposition gives a combination of: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 algn="just">
              <a:buNone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	 sine waves with continuous frequencies.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4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3716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49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5600" y="88108"/>
            <a:ext cx="1563688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147255000"/>
    </mc:Choice>
    <mc:Fallback>
      <p:transition spd="slow" advClick="0" advTm="2147255000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Line 2"/>
          <p:cNvSpPr>
            <a:spLocks noChangeShapeType="1"/>
          </p:cNvSpPr>
          <p:nvPr/>
        </p:nvSpPr>
        <p:spPr bwMode="auto">
          <a:xfrm>
            <a:off x="1676400" y="2286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62467" name="Line 3"/>
          <p:cNvSpPr>
            <a:spLocks noChangeShapeType="1"/>
          </p:cNvSpPr>
          <p:nvPr/>
        </p:nvSpPr>
        <p:spPr bwMode="auto">
          <a:xfrm>
            <a:off x="1676400" y="10668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62468" name="Text Box 4"/>
          <p:cNvSpPr txBox="1">
            <a:spLocks noChangeArrowheads="1"/>
          </p:cNvSpPr>
          <p:nvPr/>
        </p:nvSpPr>
        <p:spPr bwMode="auto">
          <a:xfrm>
            <a:off x="1828800" y="457201"/>
            <a:ext cx="4097338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r>
              <a:rPr lang="en-US" altLang="hi-IN" sz="2400" b="1">
                <a:solidFill>
                  <a:schemeClr val="folHlink"/>
                </a:solidFill>
                <a:latin typeface="Times New Roman" panose="02020603050405020304" pitchFamily="18" charset="0"/>
              </a:rPr>
              <a:t>Figure  </a:t>
            </a:r>
            <a:r>
              <a:rPr lang="en-US" altLang="hi-IN" sz="2000" b="1" i="1">
                <a:latin typeface="Times New Roman" panose="02020603050405020304" pitchFamily="18" charset="0"/>
              </a:rPr>
              <a:t>A composite periodic signal</a:t>
            </a:r>
            <a:endParaRPr lang="en-US" altLang="hi-IN" sz="2000" b="1" i="1">
              <a:latin typeface="Times New Roman" panose="02020603050405020304" pitchFamily="18" charset="0"/>
            </a:endParaRPr>
          </a:p>
        </p:txBody>
      </p:sp>
      <p:sp>
        <p:nvSpPr>
          <p:cNvPr id="62469" name="Line 5"/>
          <p:cNvSpPr>
            <a:spLocks noChangeShapeType="1"/>
          </p:cNvSpPr>
          <p:nvPr/>
        </p:nvSpPr>
        <p:spPr bwMode="auto">
          <a:xfrm>
            <a:off x="1676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pic>
        <p:nvPicPr>
          <p:cNvPr id="62470" name="Picture 8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47864" y="1981200"/>
            <a:ext cx="8491537" cy="3074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3716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49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5600" y="88108"/>
            <a:ext cx="1563688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147255000"/>
    </mc:Choice>
    <mc:Fallback>
      <p:transition spd="slow" advClick="0" advTm="2147255000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Line 2"/>
          <p:cNvSpPr>
            <a:spLocks noChangeShapeType="1"/>
          </p:cNvSpPr>
          <p:nvPr/>
        </p:nvSpPr>
        <p:spPr bwMode="auto">
          <a:xfrm>
            <a:off x="1676400" y="762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64515" name="Line 3"/>
          <p:cNvSpPr>
            <a:spLocks noChangeShapeType="1"/>
          </p:cNvSpPr>
          <p:nvPr/>
        </p:nvSpPr>
        <p:spPr bwMode="auto">
          <a:xfrm>
            <a:off x="1676400" y="990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64516" name="Text Box 4"/>
          <p:cNvSpPr txBox="1">
            <a:spLocks noChangeArrowheads="1"/>
          </p:cNvSpPr>
          <p:nvPr/>
        </p:nvSpPr>
        <p:spPr bwMode="auto">
          <a:xfrm>
            <a:off x="1828800" y="630239"/>
            <a:ext cx="7715250" cy="769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r>
              <a:rPr lang="en-US" altLang="hi-IN" sz="2400" b="1">
                <a:solidFill>
                  <a:srgbClr val="FF0000"/>
                </a:solidFill>
                <a:latin typeface="Times New Roman" panose="02020603050405020304" pitchFamily="18" charset="0"/>
              </a:rPr>
              <a:t>Figure  </a:t>
            </a:r>
            <a:r>
              <a:rPr lang="en-US" altLang="hi-IN" sz="2400" b="1">
                <a:solidFill>
                  <a:schemeClr val="folHlink"/>
                </a:solidFill>
                <a:latin typeface="Times New Roman" panose="02020603050405020304" pitchFamily="18" charset="0"/>
              </a:rPr>
              <a:t> </a:t>
            </a:r>
            <a:r>
              <a:rPr lang="en-US" altLang="hi-IN" sz="2000" b="1" i="1">
                <a:latin typeface="Times New Roman" panose="02020603050405020304" pitchFamily="18" charset="0"/>
              </a:rPr>
              <a:t>Decomposition of a composite periodic signal in the time and</a:t>
            </a:r>
            <a:br>
              <a:rPr lang="en-US" altLang="hi-IN" sz="2000" b="1" i="1">
                <a:latin typeface="Times New Roman" panose="02020603050405020304" pitchFamily="18" charset="0"/>
              </a:rPr>
            </a:br>
            <a:r>
              <a:rPr lang="en-US" altLang="hi-IN" sz="2000" b="1" i="1">
                <a:latin typeface="Times New Roman" panose="02020603050405020304" pitchFamily="18" charset="0"/>
              </a:rPr>
              <a:t>                          frequency domains</a:t>
            </a:r>
            <a:endParaRPr lang="en-US" altLang="hi-IN" sz="2000" b="1" i="1">
              <a:latin typeface="Times New Roman" panose="02020603050405020304" pitchFamily="18" charset="0"/>
            </a:endParaRPr>
          </a:p>
        </p:txBody>
      </p:sp>
      <p:sp>
        <p:nvSpPr>
          <p:cNvPr id="64517" name="Line 5"/>
          <p:cNvSpPr>
            <a:spLocks noChangeShapeType="1"/>
          </p:cNvSpPr>
          <p:nvPr/>
        </p:nvSpPr>
        <p:spPr bwMode="auto">
          <a:xfrm>
            <a:off x="1676400" y="63246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pic>
        <p:nvPicPr>
          <p:cNvPr id="64518" name="Picture 6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6800" y="1476376"/>
            <a:ext cx="7340600" cy="4695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3716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49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5600" y="88108"/>
            <a:ext cx="1563688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147255000"/>
    </mc:Choice>
    <mc:Fallback>
      <p:transition spd="slow" advClick="0" advTm="2147255000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Line 2"/>
          <p:cNvSpPr>
            <a:spLocks noChangeShapeType="1"/>
          </p:cNvSpPr>
          <p:nvPr/>
        </p:nvSpPr>
        <p:spPr bwMode="auto">
          <a:xfrm>
            <a:off x="1676400" y="533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66563" name="Line 3"/>
          <p:cNvSpPr>
            <a:spLocks noChangeShapeType="1"/>
          </p:cNvSpPr>
          <p:nvPr/>
        </p:nvSpPr>
        <p:spPr bwMode="auto">
          <a:xfrm>
            <a:off x="1676400" y="1371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66564" name="Text Box 4"/>
          <p:cNvSpPr txBox="1">
            <a:spLocks noChangeArrowheads="1"/>
          </p:cNvSpPr>
          <p:nvPr/>
        </p:nvSpPr>
        <p:spPr bwMode="auto">
          <a:xfrm>
            <a:off x="1828800" y="762001"/>
            <a:ext cx="741045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r>
              <a:rPr lang="en-US" altLang="hi-IN" sz="2400" b="1">
                <a:solidFill>
                  <a:srgbClr val="FF0000"/>
                </a:solidFill>
                <a:latin typeface="Times New Roman" panose="02020603050405020304" pitchFamily="18" charset="0"/>
              </a:rPr>
              <a:t>Figure</a:t>
            </a:r>
            <a:r>
              <a:rPr lang="en-US" altLang="hi-IN" sz="2400" b="1">
                <a:solidFill>
                  <a:schemeClr val="folHlink"/>
                </a:solidFill>
                <a:latin typeface="Times New Roman" panose="02020603050405020304" pitchFamily="18" charset="0"/>
              </a:rPr>
              <a:t>  </a:t>
            </a:r>
            <a:r>
              <a:rPr lang="en-US" altLang="hi-IN" sz="2000" b="1" i="1">
                <a:latin typeface="Times New Roman" panose="02020603050405020304" pitchFamily="18" charset="0"/>
              </a:rPr>
              <a:t>The time and frequency domains of a nonperiodic signal</a:t>
            </a:r>
            <a:endParaRPr lang="en-US" altLang="hi-IN" sz="2000" b="1" i="1">
              <a:latin typeface="Times New Roman" panose="02020603050405020304" pitchFamily="18" charset="0"/>
            </a:endParaRPr>
          </a:p>
        </p:txBody>
      </p:sp>
      <p:sp>
        <p:nvSpPr>
          <p:cNvPr id="66565" name="Line 5"/>
          <p:cNvSpPr>
            <a:spLocks noChangeShapeType="1"/>
          </p:cNvSpPr>
          <p:nvPr/>
        </p:nvSpPr>
        <p:spPr bwMode="auto">
          <a:xfrm>
            <a:off x="1676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pic>
        <p:nvPicPr>
          <p:cNvPr id="66566" name="Picture 6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41514" y="2325688"/>
            <a:ext cx="8345487" cy="2627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3716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49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5600" y="88108"/>
            <a:ext cx="1563688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147255000"/>
    </mc:Choice>
    <mc:Fallback>
      <p:transition spd="slow" advClick="0" advTm="2147255000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/>
          <p:cNvSpPr>
            <a:spLocks noChangeArrowheads="1"/>
          </p:cNvSpPr>
          <p:nvPr/>
        </p:nvSpPr>
        <p:spPr bwMode="ltGray">
          <a:xfrm>
            <a:off x="1890713" y="107951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pPr algn="ctr" eaLnBrk="1" hangingPunct="1"/>
            <a:endParaRPr kumimoji="1" lang="hi-IN" altLang="hi-IN" sz="2400">
              <a:latin typeface="Tahoma" panose="020B0604030504040204" pitchFamily="34" charset="0"/>
            </a:endParaRPr>
          </a:p>
        </p:txBody>
      </p:sp>
      <p:sp>
        <p:nvSpPr>
          <p:cNvPr id="68611" name="Rectangle 3"/>
          <p:cNvSpPr>
            <a:spLocks noChangeArrowheads="1"/>
          </p:cNvSpPr>
          <p:nvPr/>
        </p:nvSpPr>
        <p:spPr bwMode="ltGray">
          <a:xfrm>
            <a:off x="2273301" y="107951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pPr algn="ctr" eaLnBrk="1" hangingPunct="1"/>
            <a:endParaRPr kumimoji="1" lang="hi-IN" altLang="hi-IN" sz="2400">
              <a:latin typeface="Tahoma" panose="020B0604030504040204" pitchFamily="34" charset="0"/>
            </a:endParaRPr>
          </a:p>
        </p:txBody>
      </p:sp>
      <p:sp>
        <p:nvSpPr>
          <p:cNvPr id="68612" name="Rectangle 4"/>
          <p:cNvSpPr>
            <a:spLocks noChangeArrowheads="1"/>
          </p:cNvSpPr>
          <p:nvPr/>
        </p:nvSpPr>
        <p:spPr bwMode="ltGray">
          <a:xfrm>
            <a:off x="2014539" y="530226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pPr algn="ctr" eaLnBrk="1" hangingPunct="1"/>
            <a:endParaRPr kumimoji="1" lang="hi-IN" altLang="hi-IN" sz="2400">
              <a:latin typeface="Tahoma" panose="020B0604030504040204" pitchFamily="34" charset="0"/>
            </a:endParaRPr>
          </a:p>
        </p:txBody>
      </p:sp>
      <p:sp>
        <p:nvSpPr>
          <p:cNvPr id="68613" name="Rectangle 5"/>
          <p:cNvSpPr>
            <a:spLocks noChangeArrowheads="1"/>
          </p:cNvSpPr>
          <p:nvPr/>
        </p:nvSpPr>
        <p:spPr bwMode="ltGray">
          <a:xfrm>
            <a:off x="2384425" y="530226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pPr algn="ctr" eaLnBrk="1" hangingPunct="1"/>
            <a:endParaRPr kumimoji="1" lang="hi-IN" altLang="hi-IN" sz="2400">
              <a:latin typeface="Tahoma" panose="020B0604030504040204" pitchFamily="34" charset="0"/>
            </a:endParaRPr>
          </a:p>
        </p:txBody>
      </p:sp>
      <p:sp>
        <p:nvSpPr>
          <p:cNvPr id="68614" name="Rectangle 6"/>
          <p:cNvSpPr>
            <a:spLocks noChangeArrowheads="1"/>
          </p:cNvSpPr>
          <p:nvPr/>
        </p:nvSpPr>
        <p:spPr bwMode="ltGray">
          <a:xfrm>
            <a:off x="1600200" y="457201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pPr algn="ctr" eaLnBrk="1" hangingPunct="1"/>
            <a:endParaRPr kumimoji="1" lang="hi-IN" altLang="hi-IN" sz="2400">
              <a:latin typeface="Tahoma" panose="020B0604030504040204" pitchFamily="34" charset="0"/>
            </a:endParaRPr>
          </a:p>
        </p:txBody>
      </p:sp>
      <p:sp>
        <p:nvSpPr>
          <p:cNvPr id="68615" name="Rectangle 7"/>
          <p:cNvSpPr>
            <a:spLocks noChangeArrowheads="1"/>
          </p:cNvSpPr>
          <p:nvPr/>
        </p:nvSpPr>
        <p:spPr bwMode="gray">
          <a:xfrm>
            <a:off x="2235200" y="1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pPr algn="ctr" eaLnBrk="1" hangingPunct="1"/>
            <a:endParaRPr kumimoji="1" lang="hi-IN" altLang="hi-IN" sz="2400">
              <a:latin typeface="Tahoma" panose="020B0604030504040204" pitchFamily="34" charset="0"/>
            </a:endParaRPr>
          </a:p>
        </p:txBody>
      </p:sp>
      <p:sp>
        <p:nvSpPr>
          <p:cNvPr id="68616" name="Rectangle 8"/>
          <p:cNvSpPr>
            <a:spLocks noChangeArrowheads="1"/>
          </p:cNvSpPr>
          <p:nvPr/>
        </p:nvSpPr>
        <p:spPr bwMode="gray">
          <a:xfrm>
            <a:off x="1966914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pPr algn="ctr" eaLnBrk="1" hangingPunct="1"/>
            <a:endParaRPr kumimoji="1" lang="hi-IN" altLang="hi-IN" sz="2400">
              <a:latin typeface="Tahoma" panose="020B0604030504040204" pitchFamily="34" charset="0"/>
            </a:endParaRPr>
          </a:p>
        </p:txBody>
      </p:sp>
      <p:sp>
        <p:nvSpPr>
          <p:cNvPr id="68617" name="Line 9"/>
          <p:cNvSpPr>
            <a:spLocks noChangeShapeType="1"/>
          </p:cNvSpPr>
          <p:nvPr/>
        </p:nvSpPr>
        <p:spPr bwMode="auto">
          <a:xfrm>
            <a:off x="1981200" y="25908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68618" name="Line 10"/>
          <p:cNvSpPr>
            <a:spLocks noChangeShapeType="1"/>
          </p:cNvSpPr>
          <p:nvPr/>
        </p:nvSpPr>
        <p:spPr bwMode="auto">
          <a:xfrm>
            <a:off x="1982788" y="48006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68619" name="Rectangle 11"/>
          <p:cNvSpPr>
            <a:spLocks noChangeArrowheads="1"/>
          </p:cNvSpPr>
          <p:nvPr/>
        </p:nvSpPr>
        <p:spPr bwMode="auto">
          <a:xfrm>
            <a:off x="2019300" y="2682876"/>
            <a:ext cx="8077200" cy="2062103"/>
          </a:xfrm>
          <a:prstGeom prst="rect">
            <a:avLst/>
          </a:prstGeom>
          <a:solidFill>
            <a:srgbClr val="99FF33"/>
          </a:solidFill>
          <a:ln>
            <a:noFill/>
          </a:ln>
          <a:extLst>
            <a:ext uri="{91240B29-F687-4F45-9708-019B960494DF}">
              <a14:hiddenLine xmlns:a14="http://schemas.microsoft.com/office/drawing/2010/main" w="762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pPr algn="ctr"/>
            <a:r>
              <a:rPr lang="en-US" altLang="hi-IN" sz="3200" b="1" dirty="0"/>
              <a:t>Bandwidth of a composite signal is the difference between:</a:t>
            </a:r>
            <a:endParaRPr lang="en-US" altLang="hi-IN" sz="3200" b="1" dirty="0"/>
          </a:p>
          <a:p>
            <a:pPr algn="ctr"/>
            <a:endParaRPr lang="en-US" altLang="hi-IN" sz="3200" b="1" dirty="0"/>
          </a:p>
          <a:p>
            <a:pPr algn="ctr"/>
            <a:r>
              <a:rPr lang="en-US" altLang="hi-IN" sz="3200" dirty="0"/>
              <a:t>Highest and the lowest frequencies</a:t>
            </a:r>
            <a:endParaRPr lang="en-US" altLang="hi-IN" sz="3200" dirty="0"/>
          </a:p>
        </p:txBody>
      </p:sp>
      <p:pic>
        <p:nvPicPr>
          <p:cNvPr id="2" name="Picture 4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3716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49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5600" y="88108"/>
            <a:ext cx="1563688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147255000"/>
    </mc:Choice>
    <mc:Fallback>
      <p:transition spd="slow" advClick="0" advTm="2147255000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Line 2"/>
          <p:cNvSpPr>
            <a:spLocks noChangeShapeType="1"/>
          </p:cNvSpPr>
          <p:nvPr/>
        </p:nvSpPr>
        <p:spPr bwMode="auto">
          <a:xfrm>
            <a:off x="1676400" y="762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70659" name="Line 3"/>
          <p:cNvSpPr>
            <a:spLocks noChangeShapeType="1"/>
          </p:cNvSpPr>
          <p:nvPr/>
        </p:nvSpPr>
        <p:spPr bwMode="auto">
          <a:xfrm>
            <a:off x="1676400" y="9144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70660" name="Text Box 4"/>
          <p:cNvSpPr txBox="1">
            <a:spLocks noChangeArrowheads="1"/>
          </p:cNvSpPr>
          <p:nvPr/>
        </p:nvSpPr>
        <p:spPr bwMode="auto">
          <a:xfrm>
            <a:off x="1828801" y="628651"/>
            <a:ext cx="777557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r>
              <a:rPr lang="en-US" altLang="hi-IN" sz="2400" b="1">
                <a:solidFill>
                  <a:srgbClr val="FF0000"/>
                </a:solidFill>
                <a:latin typeface="Times New Roman" panose="02020603050405020304" pitchFamily="18" charset="0"/>
              </a:rPr>
              <a:t>Figure</a:t>
            </a:r>
            <a:r>
              <a:rPr lang="en-US" altLang="hi-IN" sz="2400" b="1">
                <a:solidFill>
                  <a:schemeClr val="folHlink"/>
                </a:solidFill>
                <a:latin typeface="Times New Roman" panose="02020603050405020304" pitchFamily="18" charset="0"/>
              </a:rPr>
              <a:t>   </a:t>
            </a:r>
            <a:r>
              <a:rPr lang="en-US" altLang="hi-IN" sz="2000" b="1" i="1">
                <a:latin typeface="Times New Roman" panose="02020603050405020304" pitchFamily="18" charset="0"/>
              </a:rPr>
              <a:t>The bandwidth of periodic and nonperiodic composite signals</a:t>
            </a:r>
            <a:endParaRPr lang="en-US" altLang="hi-IN" sz="2000" b="1" i="1">
              <a:latin typeface="Times New Roman" panose="02020603050405020304" pitchFamily="18" charset="0"/>
            </a:endParaRPr>
          </a:p>
        </p:txBody>
      </p:sp>
      <p:sp>
        <p:nvSpPr>
          <p:cNvPr id="70661" name="Line 5"/>
          <p:cNvSpPr>
            <a:spLocks noChangeShapeType="1"/>
          </p:cNvSpPr>
          <p:nvPr/>
        </p:nvSpPr>
        <p:spPr bwMode="auto">
          <a:xfrm>
            <a:off x="1676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pic>
        <p:nvPicPr>
          <p:cNvPr id="70662" name="Picture 6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05150" y="1090614"/>
            <a:ext cx="6115050" cy="5005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3716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49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5600" y="88108"/>
            <a:ext cx="1563688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147255000"/>
    </mc:Choice>
    <mc:Fallback>
      <p:transition spd="slow" advClick="0" advTm="2147255000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ChangeArrowheads="1"/>
          </p:cNvSpPr>
          <p:nvPr/>
        </p:nvSpPr>
        <p:spPr bwMode="ltGray">
          <a:xfrm>
            <a:off x="1890713" y="350838"/>
            <a:ext cx="438150" cy="474662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pPr algn="ctr" eaLnBrk="1" hangingPunct="1"/>
            <a:endParaRPr kumimoji="1" lang="hi-IN" altLang="hi-IN" sz="2400">
              <a:latin typeface="Tahoma" panose="020B0604030504040204" pitchFamily="34" charset="0"/>
            </a:endParaRPr>
          </a:p>
        </p:txBody>
      </p:sp>
      <p:sp>
        <p:nvSpPr>
          <p:cNvPr id="72707" name="Rectangle 3"/>
          <p:cNvSpPr>
            <a:spLocks noChangeArrowheads="1"/>
          </p:cNvSpPr>
          <p:nvPr/>
        </p:nvSpPr>
        <p:spPr bwMode="ltGray">
          <a:xfrm>
            <a:off x="2273301" y="350838"/>
            <a:ext cx="328613" cy="474662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pPr algn="ctr" eaLnBrk="1" hangingPunct="1"/>
            <a:endParaRPr kumimoji="1" lang="hi-IN" altLang="hi-IN" sz="2400">
              <a:latin typeface="Tahoma" panose="020B0604030504040204" pitchFamily="34" charset="0"/>
            </a:endParaRPr>
          </a:p>
        </p:txBody>
      </p:sp>
      <p:grpSp>
        <p:nvGrpSpPr>
          <p:cNvPr id="72708" name="Group 4"/>
          <p:cNvGrpSpPr/>
          <p:nvPr/>
        </p:nvGrpSpPr>
        <p:grpSpPr bwMode="auto">
          <a:xfrm>
            <a:off x="2014539" y="773113"/>
            <a:ext cx="738187" cy="474662"/>
            <a:chOff x="309" y="487"/>
            <a:chExt cx="465" cy="299"/>
          </a:xfrm>
        </p:grpSpPr>
        <p:sp>
          <p:nvSpPr>
            <p:cNvPr id="72715" name="Rectangle 5"/>
            <p:cNvSpPr>
              <a:spLocks noChangeArrowheads="1"/>
            </p:cNvSpPr>
            <p:nvPr/>
          </p:nvSpPr>
          <p:spPr bwMode="ltGray">
            <a:xfrm>
              <a:off x="309" y="487"/>
              <a:ext cx="266" cy="299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Lucida Sans Unicode" panose="020B0602030504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Lucida Sans Unicode" panose="020B0602030504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Lucida Sans Unicode" panose="020B0602030504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Lucida Sans Unicode" panose="020B0602030504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Lucida Sans Unicode" panose="020B0602030504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Lucida Sans Unicode" panose="020B0602030504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Lucida Sans Unicode" panose="020B0602030504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Lucida Sans Unicode" panose="020B0602030504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Lucida Sans Unicode" panose="020B0602030504020204" pitchFamily="34" charset="0"/>
                </a:defRPr>
              </a:lvl9pPr>
            </a:lstStyle>
            <a:p>
              <a:pPr algn="ctr" eaLnBrk="1" hangingPunct="1"/>
              <a:endParaRPr kumimoji="1" lang="hi-IN" altLang="hi-IN" sz="2400">
                <a:latin typeface="Tahoma" panose="020B0604030504040204" pitchFamily="34" charset="0"/>
              </a:endParaRPr>
            </a:p>
          </p:txBody>
        </p:sp>
        <p:sp>
          <p:nvSpPr>
            <p:cNvPr id="72716" name="Rectangle 6"/>
            <p:cNvSpPr>
              <a:spLocks noChangeArrowheads="1"/>
            </p:cNvSpPr>
            <p:nvPr/>
          </p:nvSpPr>
          <p:spPr bwMode="ltGray">
            <a:xfrm>
              <a:off x="542" y="487"/>
              <a:ext cx="232" cy="299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Lucida Sans Unicode" panose="020B0602030504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Lucida Sans Unicode" panose="020B0602030504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Lucida Sans Unicode" panose="020B0602030504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Lucida Sans Unicode" panose="020B0602030504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Lucida Sans Unicode" panose="020B0602030504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Lucida Sans Unicode" panose="020B0602030504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Lucida Sans Unicode" panose="020B0602030504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Lucida Sans Unicode" panose="020B0602030504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Lucida Sans Unicode" panose="020B0602030504020204" pitchFamily="34" charset="0"/>
                </a:defRPr>
              </a:lvl9pPr>
            </a:lstStyle>
            <a:p>
              <a:pPr algn="ctr" eaLnBrk="1" hangingPunct="1"/>
              <a:endParaRPr kumimoji="1" lang="hi-IN" altLang="hi-IN" sz="2400">
                <a:latin typeface="Tahoma" panose="020B0604030504040204" pitchFamily="34" charset="0"/>
              </a:endParaRPr>
            </a:p>
          </p:txBody>
        </p:sp>
      </p:grpSp>
      <p:sp>
        <p:nvSpPr>
          <p:cNvPr id="72709" name="Rectangle 7"/>
          <p:cNvSpPr>
            <a:spLocks noChangeArrowheads="1"/>
          </p:cNvSpPr>
          <p:nvPr/>
        </p:nvSpPr>
        <p:spPr bwMode="ltGray">
          <a:xfrm>
            <a:off x="1600200" y="700089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pPr algn="ctr" eaLnBrk="1" hangingPunct="1"/>
            <a:endParaRPr kumimoji="1" lang="hi-IN" altLang="hi-IN" sz="2400">
              <a:latin typeface="Tahoma" panose="020B0604030504040204" pitchFamily="34" charset="0"/>
            </a:endParaRPr>
          </a:p>
        </p:txBody>
      </p:sp>
      <p:sp>
        <p:nvSpPr>
          <p:cNvPr id="72710" name="Rectangle 8"/>
          <p:cNvSpPr>
            <a:spLocks noChangeArrowheads="1"/>
          </p:cNvSpPr>
          <p:nvPr/>
        </p:nvSpPr>
        <p:spPr bwMode="gray">
          <a:xfrm>
            <a:off x="2235200" y="242888"/>
            <a:ext cx="31750" cy="1052512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pPr algn="ctr" eaLnBrk="1" hangingPunct="1"/>
            <a:endParaRPr kumimoji="1" lang="hi-IN" altLang="hi-IN" sz="2400">
              <a:latin typeface="Tahoma" panose="020B0604030504040204" pitchFamily="34" charset="0"/>
            </a:endParaRPr>
          </a:p>
        </p:txBody>
      </p:sp>
      <p:sp>
        <p:nvSpPr>
          <p:cNvPr id="72711" name="Rectangle 9"/>
          <p:cNvSpPr>
            <a:spLocks noChangeArrowheads="1"/>
          </p:cNvSpPr>
          <p:nvPr/>
        </p:nvSpPr>
        <p:spPr bwMode="gray">
          <a:xfrm>
            <a:off x="1966914" y="773113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pPr algn="ctr" eaLnBrk="1" hangingPunct="1"/>
            <a:endParaRPr kumimoji="1" lang="hi-IN" altLang="hi-IN" sz="2400">
              <a:latin typeface="Tahoma" panose="020B0604030504040204" pitchFamily="34" charset="0"/>
            </a:endParaRPr>
          </a:p>
        </p:txBody>
      </p:sp>
      <p:sp>
        <p:nvSpPr>
          <p:cNvPr id="72712" name="Rectangle 10"/>
          <p:cNvSpPr>
            <a:spLocks noChangeArrowheads="1"/>
          </p:cNvSpPr>
          <p:nvPr/>
        </p:nvSpPr>
        <p:spPr bwMode="auto">
          <a:xfrm>
            <a:off x="1676400" y="1447800"/>
            <a:ext cx="8839200" cy="381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endParaRPr lang="hi-IN" altLang="en-US" sz="2800" b="1" i="1" baseline="-18000">
              <a:latin typeface="Times New Roman" panose="02020603050405020304" pitchFamily="18" charset="0"/>
            </a:endParaRPr>
          </a:p>
        </p:txBody>
      </p:sp>
      <p:sp>
        <p:nvSpPr>
          <p:cNvPr id="72713" name="Rectangle 11"/>
          <p:cNvSpPr>
            <a:spLocks noChangeArrowheads="1"/>
          </p:cNvSpPr>
          <p:nvPr/>
        </p:nvSpPr>
        <p:spPr bwMode="auto">
          <a:xfrm>
            <a:off x="1812925" y="1717676"/>
            <a:ext cx="8534400" cy="35394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 marL="1200150" indent="-4572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pPr algn="just">
              <a:buFont typeface="Arial" panose="020B0604020202020204" pitchFamily="34" charset="0"/>
              <a:buChar char="•"/>
            </a:pPr>
            <a:r>
              <a:rPr lang="en-US" altLang="hi-IN" sz="2800" dirty="0">
                <a:latin typeface="Times New Roman" panose="02020603050405020304" pitchFamily="18" charset="0"/>
              </a:rPr>
              <a:t>If a periodic signal is decomposed into five sine waves with frequencies </a:t>
            </a:r>
            <a:endParaRPr lang="en-US" altLang="hi-IN" sz="2800" dirty="0">
              <a:latin typeface="Times New Roman" panose="02020603050405020304" pitchFamily="18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endParaRPr lang="en-US" altLang="hi-IN" sz="2800" dirty="0">
              <a:latin typeface="Times New Roman" panose="02020603050405020304" pitchFamily="18" charset="0"/>
            </a:endParaRPr>
          </a:p>
          <a:p>
            <a:pPr lvl="1" algn="just">
              <a:buFont typeface="Arial" panose="020B0604020202020204" pitchFamily="34" charset="0"/>
              <a:buChar char="•"/>
            </a:pPr>
            <a:r>
              <a:rPr lang="en-US" altLang="hi-IN" sz="2800" dirty="0">
                <a:latin typeface="Times New Roman" panose="02020603050405020304" pitchFamily="18" charset="0"/>
              </a:rPr>
              <a:t>100, 300, 500, 700, and 900 Hz</a:t>
            </a:r>
            <a:endParaRPr lang="en-US" altLang="hi-IN" sz="2800" dirty="0">
              <a:latin typeface="Times New Roman" panose="02020603050405020304" pitchFamily="18" charset="0"/>
            </a:endParaRPr>
          </a:p>
          <a:p>
            <a:pPr lvl="1" algn="just">
              <a:buFont typeface="Arial" panose="020B0604020202020204" pitchFamily="34" charset="0"/>
              <a:buChar char="•"/>
            </a:pPr>
            <a:r>
              <a:rPr lang="en-US" altLang="hi-IN" sz="2800" dirty="0">
                <a:latin typeface="Times New Roman" panose="02020603050405020304" pitchFamily="18" charset="0"/>
              </a:rPr>
              <a:t>What is its bandwidth? </a:t>
            </a:r>
            <a:endParaRPr lang="en-US" altLang="hi-IN" sz="2800" dirty="0">
              <a:latin typeface="Times New Roman" panose="02020603050405020304" pitchFamily="18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endParaRPr lang="en-US" altLang="hi-IN" sz="2800" dirty="0">
              <a:latin typeface="Times New Roman" panose="02020603050405020304" pitchFamily="18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altLang="hi-IN" sz="2800" dirty="0">
                <a:latin typeface="Times New Roman" panose="02020603050405020304" pitchFamily="18" charset="0"/>
              </a:rPr>
              <a:t>Draw the spectrum, assuming all components have a maximum amplitude of 10 V.</a:t>
            </a:r>
            <a:endParaRPr lang="en-US" altLang="hi-IN" sz="2800" dirty="0">
              <a:latin typeface="Times New Roman" panose="02020603050405020304" pitchFamily="18" charset="0"/>
            </a:endParaRPr>
          </a:p>
        </p:txBody>
      </p:sp>
      <p:sp>
        <p:nvSpPr>
          <p:cNvPr id="72714" name="Text Box 12"/>
          <p:cNvSpPr txBox="1">
            <a:spLocks noChangeArrowheads="1"/>
          </p:cNvSpPr>
          <p:nvPr/>
        </p:nvSpPr>
        <p:spPr bwMode="auto">
          <a:xfrm>
            <a:off x="2705100" y="663575"/>
            <a:ext cx="1792288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r>
              <a:rPr lang="en-US" altLang="hi-IN" sz="3200" b="1" i="1">
                <a:solidFill>
                  <a:srgbClr val="FF0000"/>
                </a:solidFill>
                <a:latin typeface="Times New Roman" panose="02020603050405020304" pitchFamily="18" charset="0"/>
              </a:rPr>
              <a:t>Example </a:t>
            </a:r>
            <a:endParaRPr lang="en-US" altLang="hi-IN" sz="3200" b="1" i="1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2" name="Picture 4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3716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49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5600" y="88108"/>
            <a:ext cx="1563688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147255000"/>
    </mc:Choice>
    <mc:Fallback>
      <p:transition spd="slow" advClick="0" advTm="2147255000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755" name="Picture 14"/>
          <p:cNvPicPr>
            <a:picLocks noGrp="1" noChangeAspect="1" noChangeArrowheads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173538" y="3581400"/>
            <a:ext cx="3721100" cy="450850"/>
          </a:xfrm>
          <a:noFill/>
          <a:ln w="57150">
            <a:solidFill>
              <a:srgbClr val="3366FF"/>
            </a:solidFill>
            <a:miter lim="800000"/>
            <a:headEnd/>
            <a:tailEnd/>
          </a:ln>
        </p:spPr>
      </p:pic>
      <p:pic>
        <p:nvPicPr>
          <p:cNvPr id="2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3716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49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5600" y="88108"/>
            <a:ext cx="1563688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147255000"/>
    </mc:Choice>
    <mc:Fallback>
      <p:transition spd="slow" advClick="0" advTm="2147255000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Line 2"/>
          <p:cNvSpPr>
            <a:spLocks noChangeShapeType="1"/>
          </p:cNvSpPr>
          <p:nvPr/>
        </p:nvSpPr>
        <p:spPr bwMode="auto">
          <a:xfrm>
            <a:off x="1676400" y="2286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75779" name="Line 3"/>
          <p:cNvSpPr>
            <a:spLocks noChangeShapeType="1"/>
          </p:cNvSpPr>
          <p:nvPr/>
        </p:nvSpPr>
        <p:spPr bwMode="auto">
          <a:xfrm>
            <a:off x="1676400" y="10668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75780" name="Text Box 4"/>
          <p:cNvSpPr txBox="1">
            <a:spLocks noChangeArrowheads="1"/>
          </p:cNvSpPr>
          <p:nvPr/>
        </p:nvSpPr>
        <p:spPr bwMode="auto">
          <a:xfrm>
            <a:off x="1828800" y="457201"/>
            <a:ext cx="417195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r>
              <a:rPr lang="en-US" altLang="hi-IN" sz="2400" b="1">
                <a:solidFill>
                  <a:srgbClr val="FF0000"/>
                </a:solidFill>
                <a:latin typeface="Times New Roman" panose="02020603050405020304" pitchFamily="18" charset="0"/>
              </a:rPr>
              <a:t>Figure </a:t>
            </a:r>
            <a:r>
              <a:rPr lang="en-US" altLang="hi-IN" sz="2400" b="1">
                <a:solidFill>
                  <a:schemeClr val="folHlink"/>
                </a:solidFill>
                <a:latin typeface="Times New Roman" panose="02020603050405020304" pitchFamily="18" charset="0"/>
              </a:rPr>
              <a:t> </a:t>
            </a:r>
            <a:r>
              <a:rPr lang="en-US" altLang="hi-IN" sz="2000" b="1" i="1">
                <a:latin typeface="Times New Roman" panose="02020603050405020304" pitchFamily="18" charset="0"/>
              </a:rPr>
              <a:t>The bandwidth for Example</a:t>
            </a:r>
            <a:endParaRPr lang="en-US" altLang="hi-IN" sz="2000" b="1" i="1">
              <a:latin typeface="Times New Roman" panose="02020603050405020304" pitchFamily="18" charset="0"/>
            </a:endParaRPr>
          </a:p>
        </p:txBody>
      </p:sp>
      <p:sp>
        <p:nvSpPr>
          <p:cNvPr id="75781" name="Line 5"/>
          <p:cNvSpPr>
            <a:spLocks noChangeShapeType="1"/>
          </p:cNvSpPr>
          <p:nvPr/>
        </p:nvSpPr>
        <p:spPr bwMode="auto">
          <a:xfrm>
            <a:off x="1676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pic>
        <p:nvPicPr>
          <p:cNvPr id="75782" name="Picture 6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08275" y="2430463"/>
            <a:ext cx="6929438" cy="2305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3716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49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5600" y="88108"/>
            <a:ext cx="1563688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147255000"/>
    </mc:Choice>
    <mc:Fallback>
      <p:transition spd="slow" advClick="0" advTm="2147255000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2"/>
          <p:cNvSpPr>
            <a:spLocks noChangeArrowheads="1"/>
          </p:cNvSpPr>
          <p:nvPr/>
        </p:nvSpPr>
        <p:spPr bwMode="ltGray">
          <a:xfrm>
            <a:off x="1890713" y="350838"/>
            <a:ext cx="438150" cy="474662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pPr algn="ctr" eaLnBrk="1" hangingPunct="1"/>
            <a:endParaRPr kumimoji="1" lang="hi-IN" altLang="hi-IN" sz="2400">
              <a:latin typeface="Tahoma" panose="020B0604030504040204" pitchFamily="34" charset="0"/>
            </a:endParaRPr>
          </a:p>
        </p:txBody>
      </p:sp>
      <p:sp>
        <p:nvSpPr>
          <p:cNvPr id="77827" name="Rectangle 3"/>
          <p:cNvSpPr>
            <a:spLocks noChangeArrowheads="1"/>
          </p:cNvSpPr>
          <p:nvPr/>
        </p:nvSpPr>
        <p:spPr bwMode="ltGray">
          <a:xfrm>
            <a:off x="2273301" y="350838"/>
            <a:ext cx="328613" cy="474662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pPr algn="ctr" eaLnBrk="1" hangingPunct="1"/>
            <a:endParaRPr kumimoji="1" lang="hi-IN" altLang="hi-IN" sz="2400">
              <a:latin typeface="Tahoma" panose="020B0604030504040204" pitchFamily="34" charset="0"/>
            </a:endParaRPr>
          </a:p>
        </p:txBody>
      </p:sp>
      <p:grpSp>
        <p:nvGrpSpPr>
          <p:cNvPr id="77828" name="Group 4"/>
          <p:cNvGrpSpPr/>
          <p:nvPr/>
        </p:nvGrpSpPr>
        <p:grpSpPr bwMode="auto">
          <a:xfrm>
            <a:off x="2014539" y="773113"/>
            <a:ext cx="738187" cy="474662"/>
            <a:chOff x="309" y="487"/>
            <a:chExt cx="465" cy="299"/>
          </a:xfrm>
        </p:grpSpPr>
        <p:sp>
          <p:nvSpPr>
            <p:cNvPr id="77835" name="Rectangle 5"/>
            <p:cNvSpPr>
              <a:spLocks noChangeArrowheads="1"/>
            </p:cNvSpPr>
            <p:nvPr/>
          </p:nvSpPr>
          <p:spPr bwMode="ltGray">
            <a:xfrm>
              <a:off x="309" y="487"/>
              <a:ext cx="266" cy="299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Lucida Sans Unicode" panose="020B0602030504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Lucida Sans Unicode" panose="020B0602030504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Lucida Sans Unicode" panose="020B0602030504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Lucida Sans Unicode" panose="020B0602030504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Lucida Sans Unicode" panose="020B0602030504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Lucida Sans Unicode" panose="020B0602030504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Lucida Sans Unicode" panose="020B0602030504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Lucida Sans Unicode" panose="020B0602030504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Lucida Sans Unicode" panose="020B0602030504020204" pitchFamily="34" charset="0"/>
                </a:defRPr>
              </a:lvl9pPr>
            </a:lstStyle>
            <a:p>
              <a:pPr algn="ctr" eaLnBrk="1" hangingPunct="1"/>
              <a:endParaRPr kumimoji="1" lang="hi-IN" altLang="hi-IN" sz="2400">
                <a:latin typeface="Tahoma" panose="020B0604030504040204" pitchFamily="34" charset="0"/>
              </a:endParaRPr>
            </a:p>
          </p:txBody>
        </p:sp>
        <p:sp>
          <p:nvSpPr>
            <p:cNvPr id="77836" name="Rectangle 6"/>
            <p:cNvSpPr>
              <a:spLocks noChangeArrowheads="1"/>
            </p:cNvSpPr>
            <p:nvPr/>
          </p:nvSpPr>
          <p:spPr bwMode="ltGray">
            <a:xfrm>
              <a:off x="542" y="487"/>
              <a:ext cx="232" cy="299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Lucida Sans Unicode" panose="020B0602030504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Lucida Sans Unicode" panose="020B0602030504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Lucida Sans Unicode" panose="020B0602030504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Lucida Sans Unicode" panose="020B0602030504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Lucida Sans Unicode" panose="020B0602030504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Lucida Sans Unicode" panose="020B0602030504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Lucida Sans Unicode" panose="020B0602030504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Lucida Sans Unicode" panose="020B0602030504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Lucida Sans Unicode" panose="020B0602030504020204" pitchFamily="34" charset="0"/>
                </a:defRPr>
              </a:lvl9pPr>
            </a:lstStyle>
            <a:p>
              <a:pPr algn="ctr" eaLnBrk="1" hangingPunct="1"/>
              <a:endParaRPr kumimoji="1" lang="hi-IN" altLang="hi-IN" sz="2400">
                <a:latin typeface="Tahoma" panose="020B0604030504040204" pitchFamily="34" charset="0"/>
              </a:endParaRPr>
            </a:p>
          </p:txBody>
        </p:sp>
      </p:grpSp>
      <p:sp>
        <p:nvSpPr>
          <p:cNvPr id="77829" name="Rectangle 7"/>
          <p:cNvSpPr>
            <a:spLocks noChangeArrowheads="1"/>
          </p:cNvSpPr>
          <p:nvPr/>
        </p:nvSpPr>
        <p:spPr bwMode="ltGray">
          <a:xfrm>
            <a:off x="1600200" y="700089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pPr algn="ctr" eaLnBrk="1" hangingPunct="1"/>
            <a:endParaRPr kumimoji="1" lang="hi-IN" altLang="hi-IN" sz="2400">
              <a:latin typeface="Tahoma" panose="020B0604030504040204" pitchFamily="34" charset="0"/>
            </a:endParaRPr>
          </a:p>
        </p:txBody>
      </p:sp>
      <p:sp>
        <p:nvSpPr>
          <p:cNvPr id="77830" name="Rectangle 8"/>
          <p:cNvSpPr>
            <a:spLocks noChangeArrowheads="1"/>
          </p:cNvSpPr>
          <p:nvPr/>
        </p:nvSpPr>
        <p:spPr bwMode="gray">
          <a:xfrm>
            <a:off x="2235200" y="242888"/>
            <a:ext cx="31750" cy="1052512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pPr algn="ctr" eaLnBrk="1" hangingPunct="1"/>
            <a:endParaRPr kumimoji="1" lang="hi-IN" altLang="hi-IN" sz="2400">
              <a:latin typeface="Tahoma" panose="020B0604030504040204" pitchFamily="34" charset="0"/>
            </a:endParaRPr>
          </a:p>
        </p:txBody>
      </p:sp>
      <p:sp>
        <p:nvSpPr>
          <p:cNvPr id="77831" name="Rectangle 9"/>
          <p:cNvSpPr>
            <a:spLocks noChangeArrowheads="1"/>
          </p:cNvSpPr>
          <p:nvPr/>
        </p:nvSpPr>
        <p:spPr bwMode="gray">
          <a:xfrm>
            <a:off x="1981201" y="1349375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pPr algn="ctr" eaLnBrk="1" hangingPunct="1"/>
            <a:endParaRPr kumimoji="1" lang="hi-IN" altLang="hi-IN" sz="2400">
              <a:latin typeface="Tahoma" panose="020B0604030504040204" pitchFamily="34" charset="0"/>
            </a:endParaRPr>
          </a:p>
        </p:txBody>
      </p:sp>
      <p:sp>
        <p:nvSpPr>
          <p:cNvPr id="77832" name="Rectangle 10"/>
          <p:cNvSpPr>
            <a:spLocks noChangeArrowheads="1"/>
          </p:cNvSpPr>
          <p:nvPr/>
        </p:nvSpPr>
        <p:spPr bwMode="auto">
          <a:xfrm>
            <a:off x="1676400" y="1447800"/>
            <a:ext cx="8839200" cy="381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endParaRPr lang="hi-IN" altLang="en-US" sz="2800" b="1" i="1" baseline="-18000">
              <a:latin typeface="Times New Roman" panose="02020603050405020304" pitchFamily="18" charset="0"/>
            </a:endParaRPr>
          </a:p>
        </p:txBody>
      </p:sp>
      <p:sp>
        <p:nvSpPr>
          <p:cNvPr id="190473" name="Rectangle 11"/>
          <p:cNvSpPr>
            <a:spLocks noChangeArrowheads="1"/>
          </p:cNvSpPr>
          <p:nvPr/>
        </p:nvSpPr>
        <p:spPr bwMode="auto">
          <a:xfrm>
            <a:off x="1752600" y="1295400"/>
            <a:ext cx="8534400" cy="3970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pPr marL="457200" indent="-457200" algn="just">
              <a:buFont typeface="Arial" panose="020B0604020202020204" pitchFamily="34" charset="0"/>
              <a:buChar char="•"/>
              <a:defRPr/>
            </a:pPr>
            <a:r>
              <a:rPr lang="en-US" altLang="hi-IN" sz="2800" b="1" i="1" dirty="0">
                <a:latin typeface="Times New Roman" panose="02020603050405020304" pitchFamily="18" charset="0"/>
              </a:rPr>
              <a:t>A periodic signal has a bandwidth of 20 Hz. </a:t>
            </a:r>
            <a:endParaRPr lang="en-US" altLang="hi-IN" sz="2800" b="1" i="1" dirty="0">
              <a:latin typeface="Times New Roman" panose="02020603050405020304" pitchFamily="18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  <a:defRPr/>
            </a:pPr>
            <a:r>
              <a:rPr lang="en-US" altLang="hi-IN" sz="2800" b="1" i="1" dirty="0">
                <a:latin typeface="Times New Roman" panose="02020603050405020304" pitchFamily="18" charset="0"/>
              </a:rPr>
              <a:t>The highest frequency is 60 Hz. </a:t>
            </a:r>
            <a:endParaRPr lang="en-US" altLang="hi-IN" sz="2800" b="1" i="1" dirty="0">
              <a:latin typeface="Times New Roman" panose="02020603050405020304" pitchFamily="18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  <a:defRPr/>
            </a:pPr>
            <a:r>
              <a:rPr lang="en-US" altLang="hi-IN" sz="2800" b="1" i="1" dirty="0">
                <a:latin typeface="Times New Roman" panose="02020603050405020304" pitchFamily="18" charset="0"/>
              </a:rPr>
              <a:t>What is the lowest frequency? </a:t>
            </a:r>
            <a:endParaRPr lang="en-US" altLang="hi-IN" sz="2800" b="1" i="1" dirty="0">
              <a:latin typeface="Times New Roman" panose="02020603050405020304" pitchFamily="18" charset="0"/>
            </a:endParaRPr>
          </a:p>
          <a:p>
            <a:pPr algn="just">
              <a:defRPr/>
            </a:pPr>
            <a:endParaRPr lang="en-US" altLang="hi-IN" sz="2800" b="1" i="1" dirty="0">
              <a:latin typeface="Times New Roman" panose="02020603050405020304" pitchFamily="18" charset="0"/>
            </a:endParaRPr>
          </a:p>
          <a:p>
            <a:pPr algn="just">
              <a:defRPr/>
            </a:pPr>
            <a:endParaRPr lang="en-US" altLang="hi-IN" sz="2800" b="1" i="1" dirty="0">
              <a:latin typeface="Times New Roman" panose="02020603050405020304" pitchFamily="18" charset="0"/>
            </a:endParaRPr>
          </a:p>
          <a:p>
            <a:pPr marL="514350" indent="-514350" algn="just">
              <a:buFontTx/>
              <a:buAutoNum type="alphaLcParenR"/>
              <a:defRPr/>
            </a:pPr>
            <a:r>
              <a:rPr lang="en-US" altLang="hi-IN" sz="2800" b="1" i="1" dirty="0">
                <a:latin typeface="Times New Roman" panose="02020603050405020304" pitchFamily="18" charset="0"/>
              </a:rPr>
              <a:t>60 Hz</a:t>
            </a:r>
            <a:endParaRPr lang="en-US" altLang="hi-IN" sz="2800" b="1" i="1" dirty="0">
              <a:latin typeface="Times New Roman" panose="02020603050405020304" pitchFamily="18" charset="0"/>
            </a:endParaRPr>
          </a:p>
          <a:p>
            <a:pPr marL="514350" indent="-514350" algn="just">
              <a:buFontTx/>
              <a:buAutoNum type="alphaLcParenR"/>
              <a:defRPr/>
            </a:pPr>
            <a:r>
              <a:rPr lang="en-US" altLang="hi-IN" sz="2800" b="1" i="1" dirty="0">
                <a:latin typeface="Times New Roman" panose="02020603050405020304" pitchFamily="18" charset="0"/>
              </a:rPr>
              <a:t>20 HZ</a:t>
            </a:r>
            <a:endParaRPr lang="en-US" altLang="hi-IN" sz="2800" b="1" i="1" dirty="0">
              <a:latin typeface="Times New Roman" panose="02020603050405020304" pitchFamily="18" charset="0"/>
            </a:endParaRPr>
          </a:p>
          <a:p>
            <a:pPr marL="514350" indent="-514350" algn="just">
              <a:buFontTx/>
              <a:buAutoNum type="alphaLcParenR"/>
              <a:defRPr/>
            </a:pPr>
            <a:r>
              <a:rPr lang="en-US" altLang="hi-IN" sz="2800" b="1" i="1" dirty="0">
                <a:latin typeface="Times New Roman" panose="02020603050405020304" pitchFamily="18" charset="0"/>
              </a:rPr>
              <a:t>40 Hz</a:t>
            </a:r>
            <a:endParaRPr lang="en-US" altLang="hi-IN" sz="2800" b="1" i="1" dirty="0">
              <a:latin typeface="Times New Roman" panose="02020603050405020304" pitchFamily="18" charset="0"/>
            </a:endParaRPr>
          </a:p>
          <a:p>
            <a:pPr marL="514350" indent="-514350" algn="just">
              <a:buFontTx/>
              <a:buAutoNum type="alphaLcParenR"/>
              <a:defRPr/>
            </a:pPr>
            <a:r>
              <a:rPr lang="en-US" altLang="hi-IN" sz="2800" b="1" i="1" dirty="0">
                <a:latin typeface="Times New Roman" panose="02020603050405020304" pitchFamily="18" charset="0"/>
              </a:rPr>
              <a:t>80 Hz</a:t>
            </a:r>
            <a:endParaRPr lang="en-US" altLang="hi-IN" sz="2800" b="1" i="1" dirty="0">
              <a:latin typeface="Times New Roman" panose="02020603050405020304" pitchFamily="18" charset="0"/>
            </a:endParaRPr>
          </a:p>
        </p:txBody>
      </p:sp>
      <p:sp>
        <p:nvSpPr>
          <p:cNvPr id="77834" name="Text Box 12"/>
          <p:cNvSpPr txBox="1">
            <a:spLocks noChangeArrowheads="1"/>
          </p:cNvSpPr>
          <p:nvPr/>
        </p:nvSpPr>
        <p:spPr bwMode="auto">
          <a:xfrm>
            <a:off x="2668589" y="569913"/>
            <a:ext cx="287337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r>
              <a:rPr lang="en-US" altLang="hi-IN" sz="3200" b="1" i="1">
                <a:solidFill>
                  <a:srgbClr val="FF0000"/>
                </a:solidFill>
                <a:latin typeface="Times New Roman" panose="02020603050405020304" pitchFamily="18" charset="0"/>
              </a:rPr>
              <a:t> </a:t>
            </a:r>
            <a:endParaRPr lang="en-US" altLang="hi-IN" sz="3200" b="1" i="1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2" name="Picture 4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3716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49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5600" y="88108"/>
            <a:ext cx="1563688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147255000"/>
    </mc:Choice>
    <mc:Fallback>
      <p:transition spd="slow" advClick="0" advTm="2147255000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Line 2"/>
          <p:cNvSpPr>
            <a:spLocks noChangeShapeType="1"/>
          </p:cNvSpPr>
          <p:nvPr/>
        </p:nvSpPr>
        <p:spPr bwMode="auto">
          <a:xfrm>
            <a:off x="1676400" y="533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79875" name="Line 3"/>
          <p:cNvSpPr>
            <a:spLocks noChangeShapeType="1"/>
          </p:cNvSpPr>
          <p:nvPr/>
        </p:nvSpPr>
        <p:spPr bwMode="auto">
          <a:xfrm>
            <a:off x="1676400" y="1371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79876" name="Line 5"/>
          <p:cNvSpPr>
            <a:spLocks noChangeShapeType="1"/>
          </p:cNvSpPr>
          <p:nvPr/>
        </p:nvSpPr>
        <p:spPr bwMode="auto">
          <a:xfrm>
            <a:off x="1676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pic>
        <p:nvPicPr>
          <p:cNvPr id="79877" name="Picture 6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39939" y="2776538"/>
            <a:ext cx="8034337" cy="1416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9878" name="Rectangle 1"/>
          <p:cNvSpPr>
            <a:spLocks noChangeArrowheads="1"/>
          </p:cNvSpPr>
          <p:nvPr/>
        </p:nvSpPr>
        <p:spPr bwMode="auto">
          <a:xfrm>
            <a:off x="1828800" y="1581150"/>
            <a:ext cx="78486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pPr algn="just"/>
            <a:r>
              <a:rPr lang="en-US" altLang="hi-IN" b="1" i="1">
                <a:latin typeface="Times New Roman" panose="02020603050405020304" pitchFamily="18" charset="0"/>
              </a:rPr>
              <a:t>Draw the spectrum if the signal contains all frequencies of the same amplitude.</a:t>
            </a:r>
            <a:endParaRPr lang="en-US" altLang="hi-IN" b="1" i="1">
              <a:latin typeface="Times New Roman" panose="02020603050405020304" pitchFamily="18" charset="0"/>
            </a:endParaRPr>
          </a:p>
        </p:txBody>
      </p:sp>
      <p:pic>
        <p:nvPicPr>
          <p:cNvPr id="2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3716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49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5600" y="88108"/>
            <a:ext cx="1563688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147255000"/>
    </mc:Choice>
    <mc:Fallback>
      <p:transition spd="slow" advClick="0" advTm="2147255000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2"/>
          <p:cNvSpPr>
            <a:spLocks noChangeArrowheads="1"/>
          </p:cNvSpPr>
          <p:nvPr/>
        </p:nvSpPr>
        <p:spPr bwMode="ltGray">
          <a:xfrm>
            <a:off x="1890713" y="350838"/>
            <a:ext cx="438150" cy="474662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pPr algn="ctr" eaLnBrk="1" hangingPunct="1"/>
            <a:endParaRPr kumimoji="1" lang="hi-IN" altLang="hi-IN" sz="2400">
              <a:latin typeface="Tahoma" panose="020B0604030504040204" pitchFamily="34" charset="0"/>
            </a:endParaRPr>
          </a:p>
        </p:txBody>
      </p:sp>
      <p:sp>
        <p:nvSpPr>
          <p:cNvPr id="81923" name="Rectangle 3"/>
          <p:cNvSpPr>
            <a:spLocks noChangeArrowheads="1"/>
          </p:cNvSpPr>
          <p:nvPr/>
        </p:nvSpPr>
        <p:spPr bwMode="ltGray">
          <a:xfrm>
            <a:off x="2273301" y="350838"/>
            <a:ext cx="328613" cy="474662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pPr algn="ctr" eaLnBrk="1" hangingPunct="1"/>
            <a:endParaRPr kumimoji="1" lang="hi-IN" altLang="hi-IN" sz="2400">
              <a:latin typeface="Tahoma" panose="020B0604030504040204" pitchFamily="34" charset="0"/>
            </a:endParaRPr>
          </a:p>
        </p:txBody>
      </p:sp>
      <p:grpSp>
        <p:nvGrpSpPr>
          <p:cNvPr id="81924" name="Group 4"/>
          <p:cNvGrpSpPr/>
          <p:nvPr/>
        </p:nvGrpSpPr>
        <p:grpSpPr bwMode="auto">
          <a:xfrm>
            <a:off x="2014539" y="773113"/>
            <a:ext cx="738187" cy="474662"/>
            <a:chOff x="309" y="487"/>
            <a:chExt cx="465" cy="299"/>
          </a:xfrm>
        </p:grpSpPr>
        <p:sp>
          <p:nvSpPr>
            <p:cNvPr id="81931" name="Rectangle 5"/>
            <p:cNvSpPr>
              <a:spLocks noChangeArrowheads="1"/>
            </p:cNvSpPr>
            <p:nvPr/>
          </p:nvSpPr>
          <p:spPr bwMode="ltGray">
            <a:xfrm>
              <a:off x="309" y="487"/>
              <a:ext cx="266" cy="299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Lucida Sans Unicode" panose="020B0602030504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Lucida Sans Unicode" panose="020B0602030504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Lucida Sans Unicode" panose="020B0602030504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Lucida Sans Unicode" panose="020B0602030504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Lucida Sans Unicode" panose="020B0602030504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Lucida Sans Unicode" panose="020B0602030504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Lucida Sans Unicode" panose="020B0602030504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Lucida Sans Unicode" panose="020B0602030504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Lucida Sans Unicode" panose="020B0602030504020204" pitchFamily="34" charset="0"/>
                </a:defRPr>
              </a:lvl9pPr>
            </a:lstStyle>
            <a:p>
              <a:pPr algn="ctr" eaLnBrk="1" hangingPunct="1"/>
              <a:endParaRPr kumimoji="1" lang="hi-IN" altLang="hi-IN" sz="2400">
                <a:latin typeface="Tahoma" panose="020B0604030504040204" pitchFamily="34" charset="0"/>
              </a:endParaRPr>
            </a:p>
          </p:txBody>
        </p:sp>
        <p:sp>
          <p:nvSpPr>
            <p:cNvPr id="81932" name="Rectangle 6"/>
            <p:cNvSpPr>
              <a:spLocks noChangeArrowheads="1"/>
            </p:cNvSpPr>
            <p:nvPr/>
          </p:nvSpPr>
          <p:spPr bwMode="ltGray">
            <a:xfrm>
              <a:off x="542" y="487"/>
              <a:ext cx="232" cy="299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Lucida Sans Unicode" panose="020B0602030504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Lucida Sans Unicode" panose="020B0602030504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Lucida Sans Unicode" panose="020B0602030504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Lucida Sans Unicode" panose="020B0602030504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Lucida Sans Unicode" panose="020B0602030504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Lucida Sans Unicode" panose="020B0602030504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Lucida Sans Unicode" panose="020B0602030504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Lucida Sans Unicode" panose="020B0602030504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Lucida Sans Unicode" panose="020B0602030504020204" pitchFamily="34" charset="0"/>
                </a:defRPr>
              </a:lvl9pPr>
            </a:lstStyle>
            <a:p>
              <a:pPr algn="ctr" eaLnBrk="1" hangingPunct="1"/>
              <a:endParaRPr kumimoji="1" lang="hi-IN" altLang="hi-IN" sz="2400">
                <a:latin typeface="Tahoma" panose="020B0604030504040204" pitchFamily="34" charset="0"/>
              </a:endParaRPr>
            </a:p>
          </p:txBody>
        </p:sp>
      </p:grpSp>
      <p:sp>
        <p:nvSpPr>
          <p:cNvPr id="81925" name="Rectangle 7"/>
          <p:cNvSpPr>
            <a:spLocks noChangeArrowheads="1"/>
          </p:cNvSpPr>
          <p:nvPr/>
        </p:nvSpPr>
        <p:spPr bwMode="ltGray">
          <a:xfrm>
            <a:off x="1600200" y="700089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pPr algn="ctr" eaLnBrk="1" hangingPunct="1"/>
            <a:endParaRPr kumimoji="1" lang="hi-IN" altLang="hi-IN" sz="2400">
              <a:latin typeface="Tahoma" panose="020B0604030504040204" pitchFamily="34" charset="0"/>
            </a:endParaRPr>
          </a:p>
        </p:txBody>
      </p:sp>
      <p:sp>
        <p:nvSpPr>
          <p:cNvPr id="81926" name="Rectangle 8"/>
          <p:cNvSpPr>
            <a:spLocks noChangeArrowheads="1"/>
          </p:cNvSpPr>
          <p:nvPr/>
        </p:nvSpPr>
        <p:spPr bwMode="gray">
          <a:xfrm>
            <a:off x="2235200" y="242888"/>
            <a:ext cx="31750" cy="1052512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pPr algn="ctr" eaLnBrk="1" hangingPunct="1"/>
            <a:endParaRPr kumimoji="1" lang="hi-IN" altLang="hi-IN" sz="2400">
              <a:latin typeface="Tahoma" panose="020B0604030504040204" pitchFamily="34" charset="0"/>
            </a:endParaRPr>
          </a:p>
        </p:txBody>
      </p:sp>
      <p:sp>
        <p:nvSpPr>
          <p:cNvPr id="81927" name="Rectangle 9"/>
          <p:cNvSpPr>
            <a:spLocks noChangeArrowheads="1"/>
          </p:cNvSpPr>
          <p:nvPr/>
        </p:nvSpPr>
        <p:spPr bwMode="gray">
          <a:xfrm>
            <a:off x="1966914" y="773113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pPr algn="ctr" eaLnBrk="1" hangingPunct="1"/>
            <a:endParaRPr kumimoji="1" lang="hi-IN" altLang="hi-IN" sz="2400">
              <a:latin typeface="Tahoma" panose="020B0604030504040204" pitchFamily="34" charset="0"/>
            </a:endParaRPr>
          </a:p>
        </p:txBody>
      </p:sp>
      <p:sp>
        <p:nvSpPr>
          <p:cNvPr id="81928" name="Rectangle 10"/>
          <p:cNvSpPr>
            <a:spLocks noChangeArrowheads="1"/>
          </p:cNvSpPr>
          <p:nvPr/>
        </p:nvSpPr>
        <p:spPr bwMode="auto">
          <a:xfrm>
            <a:off x="1676400" y="1447800"/>
            <a:ext cx="8839200" cy="381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endParaRPr lang="hi-IN" altLang="en-US" sz="2800" b="1" i="1" baseline="-18000">
              <a:latin typeface="Times New Roman" panose="02020603050405020304" pitchFamily="18" charset="0"/>
            </a:endParaRPr>
          </a:p>
        </p:txBody>
      </p:sp>
      <p:sp>
        <p:nvSpPr>
          <p:cNvPr id="81929" name="Rectangle 11"/>
          <p:cNvSpPr>
            <a:spLocks noChangeArrowheads="1"/>
          </p:cNvSpPr>
          <p:nvPr/>
        </p:nvSpPr>
        <p:spPr bwMode="auto">
          <a:xfrm>
            <a:off x="1752600" y="1447801"/>
            <a:ext cx="8534400" cy="2678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pPr algn="just"/>
            <a:r>
              <a:rPr lang="en-US" altLang="hi-IN" sz="2800" b="1" i="1">
                <a:latin typeface="Times New Roman" panose="02020603050405020304" pitchFamily="18" charset="0"/>
              </a:rPr>
              <a:t>A nonperiodic composite signal has a bandwidth of 200 kHz, with a middle frequency of 140 kHz and peak amplitude of 20 V. The two extreme frequencies have an amplitude of 0. Draw the frequency domain of the signal.</a:t>
            </a:r>
            <a:endParaRPr lang="en-US" altLang="hi-IN" sz="2800" b="1" i="1">
              <a:latin typeface="Times New Roman" panose="02020603050405020304" pitchFamily="18" charset="0"/>
            </a:endParaRPr>
          </a:p>
          <a:p>
            <a:pPr algn="just"/>
            <a:endParaRPr lang="en-US" altLang="hi-IN" sz="2800" b="1" i="1">
              <a:latin typeface="Times New Roman" panose="02020603050405020304" pitchFamily="18" charset="0"/>
            </a:endParaRPr>
          </a:p>
        </p:txBody>
      </p:sp>
      <p:sp>
        <p:nvSpPr>
          <p:cNvPr id="81930" name="Text Box 12"/>
          <p:cNvSpPr txBox="1">
            <a:spLocks noChangeArrowheads="1"/>
          </p:cNvSpPr>
          <p:nvPr/>
        </p:nvSpPr>
        <p:spPr bwMode="auto">
          <a:xfrm>
            <a:off x="2667000" y="935038"/>
            <a:ext cx="16891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r>
              <a:rPr lang="en-US" altLang="hi-IN" sz="3200" b="1" i="1">
                <a:solidFill>
                  <a:srgbClr val="FF0000"/>
                </a:solidFill>
                <a:latin typeface="Times New Roman" panose="02020603050405020304" pitchFamily="18" charset="0"/>
              </a:rPr>
              <a:t>Example</a:t>
            </a:r>
            <a:endParaRPr lang="en-US" altLang="hi-IN" sz="3200" b="1" i="1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2" name="Picture 4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3716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49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5600" y="88108"/>
            <a:ext cx="1563688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147255000"/>
    </mc:Choice>
    <mc:Fallback>
      <p:transition spd="slow" advClick="0" advTm="2147255000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2"/>
          <p:cNvSpPr>
            <a:spLocks noChangeArrowheads="1"/>
          </p:cNvSpPr>
          <p:nvPr/>
        </p:nvSpPr>
        <p:spPr bwMode="ltGray">
          <a:xfrm>
            <a:off x="1890713" y="350838"/>
            <a:ext cx="438150" cy="474662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pPr algn="ctr" eaLnBrk="1" hangingPunct="1"/>
            <a:endParaRPr kumimoji="1" lang="hi-IN" altLang="hi-IN" sz="2400">
              <a:latin typeface="Tahoma" panose="020B0604030504040204" pitchFamily="34" charset="0"/>
            </a:endParaRPr>
          </a:p>
        </p:txBody>
      </p:sp>
      <p:sp>
        <p:nvSpPr>
          <p:cNvPr id="83971" name="Rectangle 3"/>
          <p:cNvSpPr>
            <a:spLocks noChangeArrowheads="1"/>
          </p:cNvSpPr>
          <p:nvPr/>
        </p:nvSpPr>
        <p:spPr bwMode="ltGray">
          <a:xfrm>
            <a:off x="2273301" y="350838"/>
            <a:ext cx="328613" cy="474662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pPr algn="ctr" eaLnBrk="1" hangingPunct="1"/>
            <a:endParaRPr kumimoji="1" lang="hi-IN" altLang="hi-IN" sz="2400">
              <a:latin typeface="Tahoma" panose="020B0604030504040204" pitchFamily="34" charset="0"/>
            </a:endParaRPr>
          </a:p>
        </p:txBody>
      </p:sp>
      <p:grpSp>
        <p:nvGrpSpPr>
          <p:cNvPr id="83972" name="Group 4"/>
          <p:cNvGrpSpPr/>
          <p:nvPr/>
        </p:nvGrpSpPr>
        <p:grpSpPr bwMode="auto">
          <a:xfrm>
            <a:off x="2014539" y="773113"/>
            <a:ext cx="738187" cy="474662"/>
            <a:chOff x="309" y="487"/>
            <a:chExt cx="465" cy="299"/>
          </a:xfrm>
        </p:grpSpPr>
        <p:sp>
          <p:nvSpPr>
            <p:cNvPr id="83978" name="Rectangle 5"/>
            <p:cNvSpPr>
              <a:spLocks noChangeArrowheads="1"/>
            </p:cNvSpPr>
            <p:nvPr/>
          </p:nvSpPr>
          <p:spPr bwMode="ltGray">
            <a:xfrm>
              <a:off x="309" y="487"/>
              <a:ext cx="266" cy="299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Lucida Sans Unicode" panose="020B0602030504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Lucida Sans Unicode" panose="020B0602030504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Lucida Sans Unicode" panose="020B0602030504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Lucida Sans Unicode" panose="020B0602030504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Lucida Sans Unicode" panose="020B0602030504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Lucida Sans Unicode" panose="020B0602030504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Lucida Sans Unicode" panose="020B0602030504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Lucida Sans Unicode" panose="020B0602030504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Lucida Sans Unicode" panose="020B0602030504020204" pitchFamily="34" charset="0"/>
                </a:defRPr>
              </a:lvl9pPr>
            </a:lstStyle>
            <a:p>
              <a:pPr algn="ctr" eaLnBrk="1" hangingPunct="1"/>
              <a:endParaRPr kumimoji="1" lang="hi-IN" altLang="hi-IN" sz="2400">
                <a:latin typeface="Tahoma" panose="020B0604030504040204" pitchFamily="34" charset="0"/>
              </a:endParaRPr>
            </a:p>
          </p:txBody>
        </p:sp>
        <p:sp>
          <p:nvSpPr>
            <p:cNvPr id="83979" name="Rectangle 6"/>
            <p:cNvSpPr>
              <a:spLocks noChangeArrowheads="1"/>
            </p:cNvSpPr>
            <p:nvPr/>
          </p:nvSpPr>
          <p:spPr bwMode="ltGray">
            <a:xfrm>
              <a:off x="542" y="487"/>
              <a:ext cx="232" cy="299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Lucida Sans Unicode" panose="020B0602030504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Lucida Sans Unicode" panose="020B0602030504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Lucida Sans Unicode" panose="020B0602030504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Lucida Sans Unicode" panose="020B0602030504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Lucida Sans Unicode" panose="020B0602030504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Lucida Sans Unicode" panose="020B0602030504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Lucida Sans Unicode" panose="020B0602030504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Lucida Sans Unicode" panose="020B0602030504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Lucida Sans Unicode" panose="020B0602030504020204" pitchFamily="34" charset="0"/>
                </a:defRPr>
              </a:lvl9pPr>
            </a:lstStyle>
            <a:p>
              <a:pPr algn="ctr" eaLnBrk="1" hangingPunct="1"/>
              <a:endParaRPr kumimoji="1" lang="hi-IN" altLang="hi-IN" sz="2400">
                <a:latin typeface="Tahoma" panose="020B0604030504040204" pitchFamily="34" charset="0"/>
              </a:endParaRPr>
            </a:p>
          </p:txBody>
        </p:sp>
      </p:grpSp>
      <p:sp>
        <p:nvSpPr>
          <p:cNvPr id="83973" name="Rectangle 7"/>
          <p:cNvSpPr>
            <a:spLocks noChangeArrowheads="1"/>
          </p:cNvSpPr>
          <p:nvPr/>
        </p:nvSpPr>
        <p:spPr bwMode="ltGray">
          <a:xfrm>
            <a:off x="1600200" y="700089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pPr algn="ctr" eaLnBrk="1" hangingPunct="1"/>
            <a:endParaRPr kumimoji="1" lang="hi-IN" altLang="hi-IN" sz="2400">
              <a:latin typeface="Tahoma" panose="020B0604030504040204" pitchFamily="34" charset="0"/>
            </a:endParaRPr>
          </a:p>
        </p:txBody>
      </p:sp>
      <p:sp>
        <p:nvSpPr>
          <p:cNvPr id="83974" name="Rectangle 8"/>
          <p:cNvSpPr>
            <a:spLocks noChangeArrowheads="1"/>
          </p:cNvSpPr>
          <p:nvPr/>
        </p:nvSpPr>
        <p:spPr bwMode="gray">
          <a:xfrm>
            <a:off x="2235200" y="242888"/>
            <a:ext cx="31750" cy="1052512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pPr algn="ctr" eaLnBrk="1" hangingPunct="1"/>
            <a:endParaRPr kumimoji="1" lang="hi-IN" altLang="hi-IN" sz="2400">
              <a:latin typeface="Tahoma" panose="020B0604030504040204" pitchFamily="34" charset="0"/>
            </a:endParaRPr>
          </a:p>
        </p:txBody>
      </p:sp>
      <p:sp>
        <p:nvSpPr>
          <p:cNvPr id="83975" name="Rectangle 9"/>
          <p:cNvSpPr>
            <a:spLocks noChangeArrowheads="1"/>
          </p:cNvSpPr>
          <p:nvPr/>
        </p:nvSpPr>
        <p:spPr bwMode="gray">
          <a:xfrm>
            <a:off x="1966914" y="773113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pPr algn="ctr" eaLnBrk="1" hangingPunct="1"/>
            <a:endParaRPr kumimoji="1" lang="hi-IN" altLang="hi-IN" sz="2400">
              <a:latin typeface="Tahoma" panose="020B0604030504040204" pitchFamily="34" charset="0"/>
            </a:endParaRPr>
          </a:p>
        </p:txBody>
      </p:sp>
      <p:sp>
        <p:nvSpPr>
          <p:cNvPr id="83976" name="Rectangle 10"/>
          <p:cNvSpPr>
            <a:spLocks noChangeArrowheads="1"/>
          </p:cNvSpPr>
          <p:nvPr/>
        </p:nvSpPr>
        <p:spPr bwMode="auto">
          <a:xfrm>
            <a:off x="1676400" y="1447800"/>
            <a:ext cx="8839200" cy="381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endParaRPr lang="hi-IN" altLang="en-US" sz="2800" b="1" i="1" baseline="-18000">
              <a:latin typeface="Times New Roman" panose="02020603050405020304" pitchFamily="18" charset="0"/>
            </a:endParaRPr>
          </a:p>
        </p:txBody>
      </p:sp>
      <p:sp>
        <p:nvSpPr>
          <p:cNvPr id="83977" name="Rectangle 11"/>
          <p:cNvSpPr>
            <a:spLocks noChangeArrowheads="1"/>
          </p:cNvSpPr>
          <p:nvPr/>
        </p:nvSpPr>
        <p:spPr bwMode="auto">
          <a:xfrm>
            <a:off x="1752600" y="1447801"/>
            <a:ext cx="8534400" cy="2246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pPr algn="just"/>
            <a:endParaRPr lang="en-US" altLang="hi-IN" sz="2800" b="1" i="1">
              <a:latin typeface="Times New Roman" panose="02020603050405020304" pitchFamily="18" charset="0"/>
            </a:endParaRPr>
          </a:p>
          <a:p>
            <a:pPr algn="just"/>
            <a:r>
              <a:rPr lang="en-US" altLang="hi-IN" sz="2800" b="1" i="1">
                <a:solidFill>
                  <a:srgbClr val="FF0000"/>
                </a:solidFill>
                <a:latin typeface="Times New Roman" panose="02020603050405020304" pitchFamily="18" charset="0"/>
              </a:rPr>
              <a:t>Solution</a:t>
            </a:r>
            <a:endParaRPr lang="en-US" altLang="hi-IN" sz="2800" b="1" i="1">
              <a:solidFill>
                <a:srgbClr val="FF0000"/>
              </a:solidFill>
              <a:latin typeface="Times New Roman" panose="02020603050405020304" pitchFamily="18" charset="0"/>
            </a:endParaRPr>
          </a:p>
          <a:p>
            <a:pPr algn="just"/>
            <a:r>
              <a:rPr lang="en-US" altLang="hi-IN" sz="2800" b="1" i="1">
                <a:latin typeface="Times New Roman" panose="02020603050405020304" pitchFamily="18" charset="0"/>
              </a:rPr>
              <a:t>The lowest frequency must be at 40 kHz and the highest at 240 kHz. Figure shows the frequency domain and the bandwidth.</a:t>
            </a:r>
            <a:endParaRPr lang="en-US" altLang="hi-IN" sz="2800" b="1" i="1">
              <a:latin typeface="Times New Roman" panose="02020603050405020304" pitchFamily="18" charset="0"/>
            </a:endParaRPr>
          </a:p>
        </p:txBody>
      </p:sp>
      <p:pic>
        <p:nvPicPr>
          <p:cNvPr id="2" name="Picture 4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3716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49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5600" y="88108"/>
            <a:ext cx="1563688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147255000"/>
    </mc:Choice>
    <mc:Fallback>
      <p:transition spd="slow" advClick="0" advTm="2147255000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Line 2"/>
          <p:cNvSpPr>
            <a:spLocks noChangeShapeType="1"/>
          </p:cNvSpPr>
          <p:nvPr/>
        </p:nvSpPr>
        <p:spPr bwMode="auto">
          <a:xfrm>
            <a:off x="1676400" y="533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86019" name="Line 3"/>
          <p:cNvSpPr>
            <a:spLocks noChangeShapeType="1"/>
          </p:cNvSpPr>
          <p:nvPr/>
        </p:nvSpPr>
        <p:spPr bwMode="auto">
          <a:xfrm>
            <a:off x="1676400" y="1371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86020" name="Text Box 4"/>
          <p:cNvSpPr txBox="1">
            <a:spLocks noChangeArrowheads="1"/>
          </p:cNvSpPr>
          <p:nvPr/>
        </p:nvSpPr>
        <p:spPr bwMode="auto">
          <a:xfrm>
            <a:off x="1828800" y="762001"/>
            <a:ext cx="4249738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r>
              <a:rPr lang="en-US" altLang="hi-IN" sz="2400" b="1">
                <a:solidFill>
                  <a:srgbClr val="FF0000"/>
                </a:solidFill>
                <a:latin typeface="Times New Roman" panose="02020603050405020304" pitchFamily="18" charset="0"/>
              </a:rPr>
              <a:t>Figure </a:t>
            </a:r>
            <a:r>
              <a:rPr lang="en-US" altLang="hi-IN" sz="2400" b="1">
                <a:solidFill>
                  <a:schemeClr val="folHlink"/>
                </a:solidFill>
                <a:latin typeface="Times New Roman" panose="02020603050405020304" pitchFamily="18" charset="0"/>
              </a:rPr>
              <a:t>  </a:t>
            </a:r>
            <a:r>
              <a:rPr lang="en-US" altLang="hi-IN" sz="2000" b="1" i="1">
                <a:latin typeface="Times New Roman" panose="02020603050405020304" pitchFamily="18" charset="0"/>
              </a:rPr>
              <a:t>The bandwidth for Example</a:t>
            </a:r>
            <a:endParaRPr lang="en-US" altLang="hi-IN" sz="2000" b="1" i="1">
              <a:latin typeface="Times New Roman" panose="02020603050405020304" pitchFamily="18" charset="0"/>
            </a:endParaRPr>
          </a:p>
        </p:txBody>
      </p:sp>
      <p:sp>
        <p:nvSpPr>
          <p:cNvPr id="86021" name="Line 5"/>
          <p:cNvSpPr>
            <a:spLocks noChangeShapeType="1"/>
          </p:cNvSpPr>
          <p:nvPr/>
        </p:nvSpPr>
        <p:spPr bwMode="auto">
          <a:xfrm>
            <a:off x="1676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pic>
        <p:nvPicPr>
          <p:cNvPr id="86022" name="Picture 6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1200" y="2428876"/>
            <a:ext cx="8135938" cy="2219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3716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49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5600" y="88108"/>
            <a:ext cx="1563688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147255000"/>
    </mc:Choice>
    <mc:Fallback>
      <p:transition spd="slow" advClick="0" advTm="2147255000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0771" name="Text Box 3"/>
          <p:cNvSpPr txBox="1">
            <a:spLocks noChangeArrowheads="1"/>
          </p:cNvSpPr>
          <p:nvPr/>
        </p:nvSpPr>
        <p:spPr bwMode="auto">
          <a:xfrm>
            <a:off x="1965325" y="609600"/>
            <a:ext cx="3816350" cy="58420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hi-IN" sz="32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" panose="02020603050405020304" pitchFamily="18" charset="0"/>
              </a:rPr>
              <a:t>DIGITAL SIGNALS</a:t>
            </a:r>
            <a:endParaRPr lang="en-US" altLang="hi-IN" sz="3200" b="1" dirty="0">
              <a:solidFill>
                <a:srgbClr val="C000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" panose="02020603050405020304" pitchFamily="18" charset="0"/>
            </a:endParaRPr>
          </a:p>
        </p:txBody>
      </p:sp>
      <p:sp>
        <p:nvSpPr>
          <p:cNvPr id="88067" name="Text Box 4"/>
          <p:cNvSpPr txBox="1">
            <a:spLocks noChangeArrowheads="1"/>
          </p:cNvSpPr>
          <p:nvPr/>
        </p:nvSpPr>
        <p:spPr bwMode="auto">
          <a:xfrm>
            <a:off x="9753600" y="6400801"/>
            <a:ext cx="184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endParaRPr lang="hi-IN" altLang="hi-IN" b="1">
              <a:latin typeface="Times New Roman" panose="02020603050405020304" pitchFamily="18" charset="0"/>
            </a:endParaRPr>
          </a:p>
        </p:txBody>
      </p:sp>
      <p:sp>
        <p:nvSpPr>
          <p:cNvPr id="800773" name="Rectangle 5"/>
          <p:cNvSpPr>
            <a:spLocks noChangeArrowheads="1"/>
          </p:cNvSpPr>
          <p:nvPr/>
        </p:nvSpPr>
        <p:spPr bwMode="auto">
          <a:xfrm>
            <a:off x="1520825" y="1239267"/>
            <a:ext cx="8610600" cy="3785652"/>
          </a:xfrm>
          <a:prstGeom prst="rect">
            <a:avLst/>
          </a:prstGeom>
          <a:noFill/>
          <a:ln>
            <a:noFill/>
          </a:ln>
          <a:effectLst/>
        </p:spPr>
        <p:txBody>
          <a:bodyPr anchor="ctr">
            <a:spAutoFit/>
          </a:bodyPr>
          <a:lstStyle/>
          <a:p>
            <a:pPr marL="800100" lvl="1" indent="-342900" algn="just">
              <a:buFont typeface="Arial" panose="020B0604020202020204" pitchFamily="34" charset="0"/>
              <a:buChar char="•"/>
              <a:defRPr/>
            </a:pPr>
            <a:r>
              <a:rPr lang="en-US" altLang="hi-IN" sz="24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Information can also be represented by a </a:t>
            </a:r>
            <a:r>
              <a:rPr lang="en-US" altLang="hi-IN" sz="240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digital signal</a:t>
            </a:r>
            <a:r>
              <a:rPr lang="en-US" altLang="hi-IN" sz="24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. </a:t>
            </a:r>
            <a:endParaRPr lang="en-US" altLang="hi-IN" sz="2400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 marL="285750" indent="-285750" algn="just">
              <a:buFont typeface="Arial" panose="020B0604020202020204" pitchFamily="34" charset="0"/>
              <a:buChar char="•"/>
              <a:defRPr/>
            </a:pPr>
            <a:endParaRPr lang="en-US" altLang="hi-IN" sz="2400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 marL="285750" indent="-285750" algn="just">
              <a:buFont typeface="Arial" panose="020B0604020202020204" pitchFamily="34" charset="0"/>
              <a:buChar char="•"/>
              <a:defRPr/>
            </a:pPr>
            <a:endParaRPr lang="en-US" altLang="hi-IN" sz="2400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 marL="285750" indent="-285750" algn="just">
              <a:buFont typeface="Arial" panose="020B0604020202020204" pitchFamily="34" charset="0"/>
              <a:buChar char="•"/>
              <a:defRPr/>
            </a:pPr>
            <a:r>
              <a:rPr lang="en-US" altLang="hi-IN" sz="24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For example</a:t>
            </a:r>
            <a:endParaRPr lang="en-US" altLang="hi-IN" sz="2400" b="1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 algn="just">
              <a:defRPr/>
            </a:pPr>
            <a:r>
              <a:rPr lang="en-US" altLang="hi-IN" sz="24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		 1 can be encoded as a positive voltage and a 0 as 			zero voltage. </a:t>
            </a:r>
            <a:endParaRPr lang="en-US" altLang="hi-IN" sz="2400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 marL="285750" indent="-285750" algn="just">
              <a:buFont typeface="Arial" panose="020B0604020202020204" pitchFamily="34" charset="0"/>
              <a:buChar char="•"/>
              <a:defRPr/>
            </a:pPr>
            <a:endParaRPr lang="en-US" altLang="hi-IN" sz="2400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 marL="285750" indent="-285750" algn="just">
              <a:buFont typeface="Arial" panose="020B0604020202020204" pitchFamily="34" charset="0"/>
              <a:buChar char="•"/>
              <a:defRPr/>
            </a:pPr>
            <a:r>
              <a:rPr lang="en-US" altLang="hi-IN" sz="24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A digital signal can have more than two levels. </a:t>
            </a:r>
            <a:endParaRPr lang="en-US" altLang="hi-IN" sz="2400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 marL="285750" indent="-285750" algn="just">
              <a:buFont typeface="Arial" panose="020B0604020202020204" pitchFamily="34" charset="0"/>
              <a:buChar char="•"/>
              <a:defRPr/>
            </a:pPr>
            <a:endParaRPr lang="en-US" altLang="hi-IN" sz="2400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 marL="285750" indent="-285750" algn="just">
              <a:buFont typeface="Arial" panose="020B0604020202020204" pitchFamily="34" charset="0"/>
              <a:buChar char="•"/>
              <a:defRPr/>
            </a:pPr>
            <a:r>
              <a:rPr lang="en-US" altLang="hi-IN" sz="24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In this case, we can send more than 1 bit for each level.</a:t>
            </a:r>
            <a:endParaRPr lang="en-US" altLang="hi-IN" sz="2400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pic>
        <p:nvPicPr>
          <p:cNvPr id="2" name="Picture 4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3716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49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5600" y="88108"/>
            <a:ext cx="1563688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147255000"/>
    </mc:Choice>
    <mc:Fallback>
      <p:transition spd="slow" advClick="0" advTm="2147255000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Line 2"/>
          <p:cNvSpPr>
            <a:spLocks noChangeShapeType="1"/>
          </p:cNvSpPr>
          <p:nvPr/>
        </p:nvSpPr>
        <p:spPr bwMode="auto">
          <a:xfrm>
            <a:off x="1676400" y="152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90115" name="Line 3"/>
          <p:cNvSpPr>
            <a:spLocks noChangeShapeType="1"/>
          </p:cNvSpPr>
          <p:nvPr/>
        </p:nvSpPr>
        <p:spPr bwMode="auto">
          <a:xfrm>
            <a:off x="1676400" y="990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90116" name="Text Box 4"/>
          <p:cNvSpPr txBox="1">
            <a:spLocks noChangeArrowheads="1"/>
          </p:cNvSpPr>
          <p:nvPr/>
        </p:nvSpPr>
        <p:spPr bwMode="auto">
          <a:xfrm>
            <a:off x="1676401" y="649289"/>
            <a:ext cx="7726363" cy="769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r>
              <a:rPr lang="en-US" altLang="hi-IN" sz="2400" b="1">
                <a:solidFill>
                  <a:srgbClr val="FF0000"/>
                </a:solidFill>
                <a:latin typeface="Times New Roman" panose="02020603050405020304" pitchFamily="18" charset="0"/>
              </a:rPr>
              <a:t>Figure</a:t>
            </a:r>
            <a:r>
              <a:rPr lang="en-US" altLang="hi-IN" sz="2400" b="1">
                <a:solidFill>
                  <a:schemeClr val="folHlink"/>
                </a:solidFill>
                <a:latin typeface="Times New Roman" panose="02020603050405020304" pitchFamily="18" charset="0"/>
              </a:rPr>
              <a:t>   </a:t>
            </a:r>
            <a:r>
              <a:rPr lang="en-US" altLang="hi-IN" sz="2000" b="1" i="1">
                <a:latin typeface="Times New Roman" panose="02020603050405020304" pitchFamily="18" charset="0"/>
              </a:rPr>
              <a:t>Two digital signals: one with two signal levels and the other</a:t>
            </a:r>
            <a:br>
              <a:rPr lang="en-US" altLang="hi-IN" sz="2000" b="1" i="1">
                <a:latin typeface="Times New Roman" panose="02020603050405020304" pitchFamily="18" charset="0"/>
              </a:rPr>
            </a:br>
            <a:r>
              <a:rPr lang="en-US" altLang="hi-IN" sz="2000" b="1" i="1">
                <a:latin typeface="Times New Roman" panose="02020603050405020304" pitchFamily="18" charset="0"/>
              </a:rPr>
              <a:t>                          with four signal levels</a:t>
            </a:r>
            <a:endParaRPr lang="en-US" altLang="hi-IN" sz="2000" b="1" i="1">
              <a:latin typeface="Times New Roman" panose="02020603050405020304" pitchFamily="18" charset="0"/>
            </a:endParaRPr>
          </a:p>
        </p:txBody>
      </p:sp>
      <p:sp>
        <p:nvSpPr>
          <p:cNvPr id="90117" name="Line 5"/>
          <p:cNvSpPr>
            <a:spLocks noChangeShapeType="1"/>
          </p:cNvSpPr>
          <p:nvPr/>
        </p:nvSpPr>
        <p:spPr bwMode="auto">
          <a:xfrm>
            <a:off x="1676400" y="63246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pic>
        <p:nvPicPr>
          <p:cNvPr id="90118" name="Picture 7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0" y="1487489"/>
            <a:ext cx="5703888" cy="5064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3716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49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5600" y="88108"/>
            <a:ext cx="1563688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147255000"/>
    </mc:Choice>
    <mc:Fallback>
      <p:transition spd="slow" advClick="0" advTm="2147255000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2"/>
          <p:cNvSpPr>
            <a:spLocks noChangeArrowheads="1"/>
          </p:cNvSpPr>
          <p:nvPr/>
        </p:nvSpPr>
        <p:spPr bwMode="ltGray">
          <a:xfrm>
            <a:off x="1890713" y="350838"/>
            <a:ext cx="438150" cy="474662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pPr algn="ctr" eaLnBrk="1" hangingPunct="1"/>
            <a:endParaRPr kumimoji="1" lang="hi-IN" altLang="hi-IN" sz="2400">
              <a:latin typeface="Tahoma" panose="020B0604030504040204" pitchFamily="34" charset="0"/>
            </a:endParaRPr>
          </a:p>
        </p:txBody>
      </p:sp>
      <p:sp>
        <p:nvSpPr>
          <p:cNvPr id="92163" name="Rectangle 3"/>
          <p:cNvSpPr>
            <a:spLocks noChangeArrowheads="1"/>
          </p:cNvSpPr>
          <p:nvPr/>
        </p:nvSpPr>
        <p:spPr bwMode="ltGray">
          <a:xfrm>
            <a:off x="2273301" y="350838"/>
            <a:ext cx="328613" cy="474662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pPr algn="ctr" eaLnBrk="1" hangingPunct="1"/>
            <a:endParaRPr kumimoji="1" lang="hi-IN" altLang="hi-IN" sz="2400">
              <a:latin typeface="Tahoma" panose="020B0604030504040204" pitchFamily="34" charset="0"/>
            </a:endParaRPr>
          </a:p>
        </p:txBody>
      </p:sp>
      <p:grpSp>
        <p:nvGrpSpPr>
          <p:cNvPr id="92164" name="Group 4"/>
          <p:cNvGrpSpPr/>
          <p:nvPr/>
        </p:nvGrpSpPr>
        <p:grpSpPr bwMode="auto">
          <a:xfrm>
            <a:off x="2014539" y="773113"/>
            <a:ext cx="738187" cy="474662"/>
            <a:chOff x="309" y="487"/>
            <a:chExt cx="465" cy="299"/>
          </a:xfrm>
        </p:grpSpPr>
        <p:sp>
          <p:nvSpPr>
            <p:cNvPr id="92170" name="Rectangle 5"/>
            <p:cNvSpPr>
              <a:spLocks noChangeArrowheads="1"/>
            </p:cNvSpPr>
            <p:nvPr/>
          </p:nvSpPr>
          <p:spPr bwMode="ltGray">
            <a:xfrm>
              <a:off x="309" y="487"/>
              <a:ext cx="266" cy="299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Lucida Sans Unicode" panose="020B0602030504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Lucida Sans Unicode" panose="020B0602030504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Lucida Sans Unicode" panose="020B0602030504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Lucida Sans Unicode" panose="020B0602030504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Lucida Sans Unicode" panose="020B0602030504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Lucida Sans Unicode" panose="020B0602030504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Lucida Sans Unicode" panose="020B0602030504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Lucida Sans Unicode" panose="020B0602030504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Lucida Sans Unicode" panose="020B0602030504020204" pitchFamily="34" charset="0"/>
                </a:defRPr>
              </a:lvl9pPr>
            </a:lstStyle>
            <a:p>
              <a:pPr algn="ctr" eaLnBrk="1" hangingPunct="1"/>
              <a:endParaRPr kumimoji="1" lang="hi-IN" altLang="hi-IN" sz="2400">
                <a:latin typeface="Tahoma" panose="020B0604030504040204" pitchFamily="34" charset="0"/>
              </a:endParaRPr>
            </a:p>
          </p:txBody>
        </p:sp>
        <p:sp>
          <p:nvSpPr>
            <p:cNvPr id="92171" name="Rectangle 6"/>
            <p:cNvSpPr>
              <a:spLocks noChangeArrowheads="1"/>
            </p:cNvSpPr>
            <p:nvPr/>
          </p:nvSpPr>
          <p:spPr bwMode="ltGray">
            <a:xfrm>
              <a:off x="542" y="487"/>
              <a:ext cx="232" cy="299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Lucida Sans Unicode" panose="020B0602030504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Lucida Sans Unicode" panose="020B0602030504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Lucida Sans Unicode" panose="020B0602030504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Lucida Sans Unicode" panose="020B0602030504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Lucida Sans Unicode" panose="020B0602030504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Lucida Sans Unicode" panose="020B0602030504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Lucida Sans Unicode" panose="020B0602030504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Lucida Sans Unicode" panose="020B0602030504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Lucida Sans Unicode" panose="020B0602030504020204" pitchFamily="34" charset="0"/>
                </a:defRPr>
              </a:lvl9pPr>
            </a:lstStyle>
            <a:p>
              <a:pPr algn="ctr" eaLnBrk="1" hangingPunct="1"/>
              <a:endParaRPr kumimoji="1" lang="hi-IN" altLang="hi-IN" sz="2400">
                <a:latin typeface="Tahoma" panose="020B0604030504040204" pitchFamily="34" charset="0"/>
              </a:endParaRPr>
            </a:p>
          </p:txBody>
        </p:sp>
      </p:grpSp>
      <p:sp>
        <p:nvSpPr>
          <p:cNvPr id="92165" name="Rectangle 7"/>
          <p:cNvSpPr>
            <a:spLocks noChangeArrowheads="1"/>
          </p:cNvSpPr>
          <p:nvPr/>
        </p:nvSpPr>
        <p:spPr bwMode="ltGray">
          <a:xfrm>
            <a:off x="1600200" y="700089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pPr algn="ctr" eaLnBrk="1" hangingPunct="1"/>
            <a:endParaRPr kumimoji="1" lang="hi-IN" altLang="hi-IN" sz="2400">
              <a:latin typeface="Tahoma" panose="020B0604030504040204" pitchFamily="34" charset="0"/>
            </a:endParaRPr>
          </a:p>
        </p:txBody>
      </p:sp>
      <p:sp>
        <p:nvSpPr>
          <p:cNvPr id="92166" name="Rectangle 8"/>
          <p:cNvSpPr>
            <a:spLocks noChangeArrowheads="1"/>
          </p:cNvSpPr>
          <p:nvPr/>
        </p:nvSpPr>
        <p:spPr bwMode="gray">
          <a:xfrm>
            <a:off x="2235200" y="242888"/>
            <a:ext cx="31750" cy="1052512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pPr algn="ctr" eaLnBrk="1" hangingPunct="1"/>
            <a:endParaRPr kumimoji="1" lang="hi-IN" altLang="hi-IN" sz="2400">
              <a:latin typeface="Tahoma" panose="020B0604030504040204" pitchFamily="34" charset="0"/>
            </a:endParaRPr>
          </a:p>
        </p:txBody>
      </p:sp>
      <p:sp>
        <p:nvSpPr>
          <p:cNvPr id="92167" name="Rectangle 9"/>
          <p:cNvSpPr>
            <a:spLocks noChangeArrowheads="1"/>
          </p:cNvSpPr>
          <p:nvPr/>
        </p:nvSpPr>
        <p:spPr bwMode="gray">
          <a:xfrm>
            <a:off x="1966914" y="773113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pPr algn="ctr" eaLnBrk="1" hangingPunct="1"/>
            <a:endParaRPr kumimoji="1" lang="hi-IN" altLang="hi-IN" sz="2400">
              <a:latin typeface="Tahoma" panose="020B0604030504040204" pitchFamily="34" charset="0"/>
            </a:endParaRPr>
          </a:p>
        </p:txBody>
      </p:sp>
      <p:sp>
        <p:nvSpPr>
          <p:cNvPr id="92168" name="Rectangle 10"/>
          <p:cNvSpPr>
            <a:spLocks noChangeArrowheads="1"/>
          </p:cNvSpPr>
          <p:nvPr/>
        </p:nvSpPr>
        <p:spPr bwMode="auto">
          <a:xfrm>
            <a:off x="1676400" y="1447800"/>
            <a:ext cx="8839200" cy="381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endParaRPr lang="hi-IN" altLang="en-US" sz="2800" b="1" i="1" baseline="-18000">
              <a:latin typeface="Times New Roman" panose="02020603050405020304" pitchFamily="18" charset="0"/>
            </a:endParaRPr>
          </a:p>
        </p:txBody>
      </p:sp>
      <p:sp>
        <p:nvSpPr>
          <p:cNvPr id="202761" name="Rectangle 11"/>
          <p:cNvSpPr>
            <a:spLocks noChangeArrowheads="1"/>
          </p:cNvSpPr>
          <p:nvPr/>
        </p:nvSpPr>
        <p:spPr bwMode="auto">
          <a:xfrm>
            <a:off x="1752600" y="1447801"/>
            <a:ext cx="8534400" cy="3108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pPr marL="457200" indent="-457200" algn="just">
              <a:buFont typeface="Arial" panose="020B0604020202020204" pitchFamily="34" charset="0"/>
              <a:buChar char="•"/>
              <a:defRPr/>
            </a:pPr>
            <a:r>
              <a:rPr lang="en-US" altLang="hi-IN" sz="2800" b="1" i="1" dirty="0">
                <a:latin typeface="Times New Roman" panose="02020603050405020304" pitchFamily="18" charset="0"/>
              </a:rPr>
              <a:t>A digital signal has eight levels. </a:t>
            </a:r>
            <a:endParaRPr lang="en-US" altLang="hi-IN" sz="2800" b="1" i="1" dirty="0">
              <a:latin typeface="Times New Roman" panose="02020603050405020304" pitchFamily="18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  <a:defRPr/>
            </a:pPr>
            <a:r>
              <a:rPr lang="en-US" altLang="hi-IN" sz="2800" b="1" i="1" dirty="0">
                <a:latin typeface="Times New Roman" panose="02020603050405020304" pitchFamily="18" charset="0"/>
              </a:rPr>
              <a:t>How many bits are needed per level? </a:t>
            </a:r>
            <a:endParaRPr lang="en-US" altLang="hi-IN" sz="2800" b="1" i="1" dirty="0">
              <a:latin typeface="Times New Roman" panose="02020603050405020304" pitchFamily="18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  <a:defRPr/>
            </a:pPr>
            <a:endParaRPr lang="en-US" altLang="hi-IN" sz="2800" b="1" i="1" dirty="0">
              <a:latin typeface="Times New Roman" panose="02020603050405020304" pitchFamily="18" charset="0"/>
            </a:endParaRPr>
          </a:p>
          <a:p>
            <a:pPr marL="514350" indent="-514350" algn="just">
              <a:buFontTx/>
              <a:buAutoNum type="alphaLcParenR"/>
              <a:defRPr/>
            </a:pPr>
            <a:r>
              <a:rPr lang="en-US" altLang="hi-IN" sz="2800" b="1" i="1" dirty="0">
                <a:latin typeface="Times New Roman" panose="02020603050405020304" pitchFamily="18" charset="0"/>
              </a:rPr>
              <a:t>16</a:t>
            </a:r>
            <a:endParaRPr lang="en-US" altLang="hi-IN" sz="2800" b="1" i="1" dirty="0">
              <a:latin typeface="Times New Roman" panose="02020603050405020304" pitchFamily="18" charset="0"/>
            </a:endParaRPr>
          </a:p>
          <a:p>
            <a:pPr marL="514350" indent="-514350" algn="just">
              <a:buFontTx/>
              <a:buAutoNum type="alphaLcParenR"/>
              <a:defRPr/>
            </a:pPr>
            <a:r>
              <a:rPr lang="en-US" altLang="hi-IN" sz="2800" b="1" i="1" dirty="0">
                <a:latin typeface="Times New Roman" panose="02020603050405020304" pitchFamily="18" charset="0"/>
              </a:rPr>
              <a:t>3</a:t>
            </a:r>
            <a:endParaRPr lang="en-US" altLang="hi-IN" sz="2800" b="1" i="1" dirty="0">
              <a:latin typeface="Times New Roman" panose="02020603050405020304" pitchFamily="18" charset="0"/>
            </a:endParaRPr>
          </a:p>
          <a:p>
            <a:pPr marL="514350" indent="-514350" algn="just">
              <a:buFontTx/>
              <a:buAutoNum type="alphaLcParenR"/>
              <a:defRPr/>
            </a:pPr>
            <a:r>
              <a:rPr lang="en-US" altLang="hi-IN" sz="2800" b="1" i="1" dirty="0">
                <a:latin typeface="Times New Roman" panose="02020603050405020304" pitchFamily="18" charset="0"/>
              </a:rPr>
              <a:t>8</a:t>
            </a:r>
            <a:endParaRPr lang="en-US" altLang="hi-IN" sz="2800" b="1" i="1" dirty="0">
              <a:latin typeface="Times New Roman" panose="02020603050405020304" pitchFamily="18" charset="0"/>
            </a:endParaRPr>
          </a:p>
          <a:p>
            <a:pPr marL="514350" indent="-514350" algn="just">
              <a:buFontTx/>
              <a:buAutoNum type="alphaLcParenR"/>
              <a:defRPr/>
            </a:pPr>
            <a:r>
              <a:rPr lang="en-US" altLang="hi-IN" sz="2800" b="1" i="1" dirty="0">
                <a:latin typeface="Times New Roman" panose="02020603050405020304" pitchFamily="18" charset="0"/>
              </a:rPr>
              <a:t>0</a:t>
            </a:r>
            <a:endParaRPr lang="en-US" altLang="hi-IN" sz="2800" b="1" i="1" dirty="0">
              <a:latin typeface="Times New Roman" panose="02020603050405020304" pitchFamily="18" charset="0"/>
            </a:endParaRPr>
          </a:p>
        </p:txBody>
      </p:sp>
      <p:pic>
        <p:nvPicPr>
          <p:cNvPr id="2" name="Picture 4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3716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49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5600" y="88108"/>
            <a:ext cx="1563688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147255000"/>
    </mc:Choice>
    <mc:Fallback>
      <p:transition spd="slow" advClick="0" advTm="2147255000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1" name="Content Placeholder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Ans B</a:t>
            </a:r>
            <a:endParaRPr lang="en-US" altLang="en-US"/>
          </a:p>
        </p:txBody>
      </p:sp>
      <p:pic>
        <p:nvPicPr>
          <p:cNvPr id="2" name="Picture 4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3716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49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5600" y="88108"/>
            <a:ext cx="1563688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147255000"/>
    </mc:Choice>
    <mc:Fallback>
      <p:transition spd="slow" advClick="0" advTm="2147255000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Title 1"/>
          <p:cNvSpPr>
            <a:spLocks noGrp="1"/>
          </p:cNvSpPr>
          <p:nvPr>
            <p:ph type="title"/>
          </p:nvPr>
        </p:nvSpPr>
        <p:spPr>
          <a:xfrm>
            <a:off x="1981201" y="552450"/>
            <a:ext cx="8105775" cy="1022350"/>
          </a:xfrm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altLang="en-US">
                <a:solidFill>
                  <a:srgbClr val="FF0000"/>
                </a:solidFill>
              </a:rPr>
              <a:t>Bit Rate</a:t>
            </a:r>
            <a:endParaRPr lang="en-US" altLang="en-US">
              <a:solidFill>
                <a:srgbClr val="FF0000"/>
              </a:solidFill>
            </a:endParaRPr>
          </a:p>
        </p:txBody>
      </p:sp>
      <p:sp>
        <p:nvSpPr>
          <p:cNvPr id="97283" name="Content Placeholder 2"/>
          <p:cNvSpPr>
            <a:spLocks noGrp="1"/>
          </p:cNvSpPr>
          <p:nvPr>
            <p:ph idx="1"/>
          </p:nvPr>
        </p:nvSpPr>
        <p:spPr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>
            <a:normAutofit/>
          </a:bodyPr>
          <a:lstStyle/>
          <a:p>
            <a:pPr algn="just"/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 Digital Signals are non-periodic. 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Therefore, period and frequency are not appropriate characteristics. 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Bit rate is used.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Bit rate is number of bits sent in 1s. Expressed in </a:t>
            </a: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bps.</a:t>
            </a:r>
            <a:endParaRPr lang="en-US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4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3716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49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5600" y="88108"/>
            <a:ext cx="1563688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147255000"/>
    </mc:Choice>
    <mc:Fallback>
      <p:transition spd="slow" advClick="0" advTm="2147255000"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2"/>
          <p:cNvSpPr>
            <a:spLocks noChangeArrowheads="1"/>
          </p:cNvSpPr>
          <p:nvPr/>
        </p:nvSpPr>
        <p:spPr bwMode="ltGray">
          <a:xfrm>
            <a:off x="1890713" y="350838"/>
            <a:ext cx="438150" cy="474662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pPr algn="ctr" eaLnBrk="1" hangingPunct="1"/>
            <a:endParaRPr kumimoji="1" lang="hi-IN" altLang="hi-IN" sz="2400">
              <a:latin typeface="Tahoma" panose="020B0604030504040204" pitchFamily="34" charset="0"/>
            </a:endParaRPr>
          </a:p>
        </p:txBody>
      </p:sp>
      <p:sp>
        <p:nvSpPr>
          <p:cNvPr id="98307" name="Rectangle 3"/>
          <p:cNvSpPr>
            <a:spLocks noChangeArrowheads="1"/>
          </p:cNvSpPr>
          <p:nvPr/>
        </p:nvSpPr>
        <p:spPr bwMode="ltGray">
          <a:xfrm>
            <a:off x="2273301" y="350838"/>
            <a:ext cx="328613" cy="474662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pPr algn="ctr" eaLnBrk="1" hangingPunct="1"/>
            <a:endParaRPr kumimoji="1" lang="hi-IN" altLang="hi-IN" sz="2400">
              <a:latin typeface="Tahoma" panose="020B0604030504040204" pitchFamily="34" charset="0"/>
            </a:endParaRPr>
          </a:p>
        </p:txBody>
      </p:sp>
      <p:grpSp>
        <p:nvGrpSpPr>
          <p:cNvPr id="98308" name="Group 4"/>
          <p:cNvGrpSpPr/>
          <p:nvPr/>
        </p:nvGrpSpPr>
        <p:grpSpPr bwMode="auto">
          <a:xfrm>
            <a:off x="2014539" y="773113"/>
            <a:ext cx="738187" cy="474662"/>
            <a:chOff x="309" y="487"/>
            <a:chExt cx="465" cy="299"/>
          </a:xfrm>
        </p:grpSpPr>
        <p:sp>
          <p:nvSpPr>
            <p:cNvPr id="98314" name="Rectangle 5"/>
            <p:cNvSpPr>
              <a:spLocks noChangeArrowheads="1"/>
            </p:cNvSpPr>
            <p:nvPr/>
          </p:nvSpPr>
          <p:spPr bwMode="ltGray">
            <a:xfrm>
              <a:off x="309" y="487"/>
              <a:ext cx="266" cy="299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Lucida Sans Unicode" panose="020B0602030504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Lucida Sans Unicode" panose="020B0602030504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Lucida Sans Unicode" panose="020B0602030504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Lucida Sans Unicode" panose="020B0602030504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Lucida Sans Unicode" panose="020B0602030504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Lucida Sans Unicode" panose="020B0602030504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Lucida Sans Unicode" panose="020B0602030504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Lucida Sans Unicode" panose="020B0602030504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Lucida Sans Unicode" panose="020B0602030504020204" pitchFamily="34" charset="0"/>
                </a:defRPr>
              </a:lvl9pPr>
            </a:lstStyle>
            <a:p>
              <a:pPr algn="ctr" eaLnBrk="1" hangingPunct="1"/>
              <a:endParaRPr kumimoji="1" lang="hi-IN" altLang="hi-IN" sz="2400">
                <a:latin typeface="Tahoma" panose="020B0604030504040204" pitchFamily="34" charset="0"/>
              </a:endParaRPr>
            </a:p>
          </p:txBody>
        </p:sp>
        <p:sp>
          <p:nvSpPr>
            <p:cNvPr id="98315" name="Rectangle 6"/>
            <p:cNvSpPr>
              <a:spLocks noChangeArrowheads="1"/>
            </p:cNvSpPr>
            <p:nvPr/>
          </p:nvSpPr>
          <p:spPr bwMode="ltGray">
            <a:xfrm>
              <a:off x="542" y="487"/>
              <a:ext cx="232" cy="299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Lucida Sans Unicode" panose="020B0602030504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Lucida Sans Unicode" panose="020B0602030504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Lucida Sans Unicode" panose="020B0602030504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Lucida Sans Unicode" panose="020B0602030504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Lucida Sans Unicode" panose="020B0602030504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Lucida Sans Unicode" panose="020B0602030504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Lucida Sans Unicode" panose="020B0602030504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Lucida Sans Unicode" panose="020B0602030504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Lucida Sans Unicode" panose="020B0602030504020204" pitchFamily="34" charset="0"/>
                </a:defRPr>
              </a:lvl9pPr>
            </a:lstStyle>
            <a:p>
              <a:pPr algn="ctr" eaLnBrk="1" hangingPunct="1"/>
              <a:endParaRPr kumimoji="1" lang="hi-IN" altLang="hi-IN" sz="2400">
                <a:latin typeface="Tahoma" panose="020B0604030504040204" pitchFamily="34" charset="0"/>
              </a:endParaRPr>
            </a:p>
          </p:txBody>
        </p:sp>
      </p:grpSp>
      <p:sp>
        <p:nvSpPr>
          <p:cNvPr id="98309" name="Rectangle 7"/>
          <p:cNvSpPr>
            <a:spLocks noChangeArrowheads="1"/>
          </p:cNvSpPr>
          <p:nvPr/>
        </p:nvSpPr>
        <p:spPr bwMode="ltGray">
          <a:xfrm>
            <a:off x="1600200" y="700089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pPr algn="ctr" eaLnBrk="1" hangingPunct="1"/>
            <a:endParaRPr kumimoji="1" lang="hi-IN" altLang="hi-IN" sz="2400">
              <a:latin typeface="Tahoma" panose="020B0604030504040204" pitchFamily="34" charset="0"/>
            </a:endParaRPr>
          </a:p>
        </p:txBody>
      </p:sp>
      <p:sp>
        <p:nvSpPr>
          <p:cNvPr id="98310" name="Rectangle 8"/>
          <p:cNvSpPr>
            <a:spLocks noChangeArrowheads="1"/>
          </p:cNvSpPr>
          <p:nvPr/>
        </p:nvSpPr>
        <p:spPr bwMode="gray">
          <a:xfrm>
            <a:off x="2235200" y="242888"/>
            <a:ext cx="31750" cy="1052512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pPr algn="ctr" eaLnBrk="1" hangingPunct="1"/>
            <a:endParaRPr kumimoji="1" lang="hi-IN" altLang="hi-IN" sz="2400">
              <a:latin typeface="Tahoma" panose="020B0604030504040204" pitchFamily="34" charset="0"/>
            </a:endParaRPr>
          </a:p>
        </p:txBody>
      </p:sp>
      <p:sp>
        <p:nvSpPr>
          <p:cNvPr id="98311" name="Rectangle 9"/>
          <p:cNvSpPr>
            <a:spLocks noChangeArrowheads="1"/>
          </p:cNvSpPr>
          <p:nvPr/>
        </p:nvSpPr>
        <p:spPr bwMode="gray">
          <a:xfrm>
            <a:off x="1966914" y="773113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pPr algn="ctr" eaLnBrk="1" hangingPunct="1"/>
            <a:endParaRPr kumimoji="1" lang="hi-IN" altLang="hi-IN" sz="2400">
              <a:latin typeface="Tahoma" panose="020B0604030504040204" pitchFamily="34" charset="0"/>
            </a:endParaRPr>
          </a:p>
        </p:txBody>
      </p:sp>
      <p:sp>
        <p:nvSpPr>
          <p:cNvPr id="98312" name="Rectangle 10"/>
          <p:cNvSpPr>
            <a:spLocks noChangeArrowheads="1"/>
          </p:cNvSpPr>
          <p:nvPr/>
        </p:nvSpPr>
        <p:spPr bwMode="auto">
          <a:xfrm>
            <a:off x="1676400" y="1447800"/>
            <a:ext cx="8839200" cy="381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endParaRPr lang="hi-IN" altLang="en-US" sz="2800" b="1" i="1" baseline="-18000">
              <a:latin typeface="Times New Roman" panose="02020603050405020304" pitchFamily="18" charset="0"/>
            </a:endParaRPr>
          </a:p>
        </p:txBody>
      </p:sp>
      <p:sp>
        <p:nvSpPr>
          <p:cNvPr id="215049" name="Rectangle 11"/>
          <p:cNvSpPr>
            <a:spLocks noChangeArrowheads="1"/>
          </p:cNvSpPr>
          <p:nvPr/>
        </p:nvSpPr>
        <p:spPr bwMode="auto">
          <a:xfrm>
            <a:off x="1752600" y="1292225"/>
            <a:ext cx="8534400" cy="3786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pPr marL="457200" indent="-457200" algn="just">
              <a:buFont typeface="Arial" panose="020B0604020202020204" pitchFamily="34" charset="0"/>
              <a:buChar char="•"/>
              <a:defRPr/>
            </a:pPr>
            <a:r>
              <a:rPr lang="en-US" altLang="hi-IN" sz="2000" dirty="0">
                <a:latin typeface="Times New Roman" panose="02020603050405020304" pitchFamily="18" charset="0"/>
              </a:rPr>
              <a:t>A digitized voice channel is made by digitizing a 4-kHz bandwidth analog voice signal. </a:t>
            </a:r>
            <a:endParaRPr lang="en-US" altLang="hi-IN" sz="2000" dirty="0">
              <a:latin typeface="Times New Roman" panose="02020603050405020304" pitchFamily="18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  <a:defRPr/>
            </a:pPr>
            <a:r>
              <a:rPr lang="en-US" altLang="hi-IN" sz="2000" dirty="0">
                <a:latin typeface="Times New Roman" panose="02020603050405020304" pitchFamily="18" charset="0"/>
              </a:rPr>
              <a:t>We need to sample the signal at twice the highest frequency (two samples per hertz). </a:t>
            </a:r>
            <a:endParaRPr lang="en-US" altLang="hi-IN" sz="2000" dirty="0">
              <a:latin typeface="Times New Roman" panose="02020603050405020304" pitchFamily="18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  <a:defRPr/>
            </a:pPr>
            <a:r>
              <a:rPr lang="en-US" altLang="hi-IN" sz="2000" dirty="0">
                <a:latin typeface="Times New Roman" panose="02020603050405020304" pitchFamily="18" charset="0"/>
              </a:rPr>
              <a:t>We assume that each sample requires 8 bits. What is the required bit rate?</a:t>
            </a:r>
            <a:endParaRPr lang="en-US" altLang="hi-IN" sz="2000" dirty="0">
              <a:latin typeface="Times New Roman" panose="02020603050405020304" pitchFamily="18" charset="0"/>
            </a:endParaRPr>
          </a:p>
          <a:p>
            <a:pPr>
              <a:defRPr/>
            </a:pPr>
            <a:endParaRPr lang="en-US" altLang="hi-IN" sz="2800" b="1" i="1" dirty="0">
              <a:latin typeface="Times New Roman" panose="02020603050405020304" pitchFamily="18" charset="0"/>
            </a:endParaRPr>
          </a:p>
          <a:p>
            <a:pPr marL="514350" indent="-514350">
              <a:buFontTx/>
              <a:buAutoNum type="alphaLcParenR"/>
              <a:defRPr/>
            </a:pPr>
            <a:r>
              <a:rPr lang="en-US" altLang="hi-IN" sz="2800" b="1" i="1" dirty="0">
                <a:latin typeface="Times New Roman" panose="02020603050405020304" pitchFamily="18" charset="0"/>
              </a:rPr>
              <a:t>64 kbps</a:t>
            </a:r>
            <a:endParaRPr lang="en-US" altLang="hi-IN" sz="2800" b="1" i="1" dirty="0">
              <a:latin typeface="Times New Roman" panose="02020603050405020304" pitchFamily="18" charset="0"/>
            </a:endParaRPr>
          </a:p>
          <a:p>
            <a:pPr marL="514350" indent="-514350">
              <a:buFontTx/>
              <a:buAutoNum type="alphaLcParenR"/>
              <a:defRPr/>
            </a:pPr>
            <a:r>
              <a:rPr lang="en-US" altLang="hi-IN" sz="2800" b="1" i="1" dirty="0">
                <a:latin typeface="Times New Roman" panose="02020603050405020304" pitchFamily="18" charset="0"/>
              </a:rPr>
              <a:t>12 kbps</a:t>
            </a:r>
            <a:endParaRPr lang="en-US" altLang="hi-IN" sz="2800" b="1" i="1" dirty="0">
              <a:latin typeface="Times New Roman" panose="02020603050405020304" pitchFamily="18" charset="0"/>
            </a:endParaRPr>
          </a:p>
          <a:p>
            <a:pPr marL="514350" indent="-514350">
              <a:buFontTx/>
              <a:buAutoNum type="alphaLcParenR"/>
              <a:defRPr/>
            </a:pPr>
            <a:r>
              <a:rPr lang="en-US" altLang="hi-IN" sz="2800" b="1" i="1" dirty="0">
                <a:latin typeface="Times New Roman" panose="02020603050405020304" pitchFamily="18" charset="0"/>
              </a:rPr>
              <a:t>32 kbps</a:t>
            </a:r>
            <a:br>
              <a:rPr lang="en-US" altLang="hi-IN" sz="2800" b="1" i="1" dirty="0">
                <a:latin typeface="Times New Roman" panose="02020603050405020304" pitchFamily="18" charset="0"/>
              </a:rPr>
            </a:br>
            <a:endParaRPr lang="en-US" altLang="hi-IN" sz="2800" b="1" i="1" dirty="0">
              <a:latin typeface="Times New Roman" panose="02020603050405020304" pitchFamily="18" charset="0"/>
            </a:endParaRPr>
          </a:p>
        </p:txBody>
      </p:sp>
      <p:pic>
        <p:nvPicPr>
          <p:cNvPr id="2" name="Picture 4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3716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49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5600" y="88108"/>
            <a:ext cx="1563688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2"/>
          <p:cNvSpPr>
            <a:spLocks noChangeArrowheads="1"/>
          </p:cNvSpPr>
          <p:nvPr/>
        </p:nvSpPr>
        <p:spPr bwMode="ltGray">
          <a:xfrm>
            <a:off x="1890713" y="350838"/>
            <a:ext cx="438150" cy="474662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pPr algn="ctr" eaLnBrk="1" hangingPunct="1"/>
            <a:endParaRPr kumimoji="1" lang="hi-IN" altLang="hi-IN" sz="2400">
              <a:latin typeface="Tahoma" panose="020B0604030504040204" pitchFamily="34" charset="0"/>
            </a:endParaRPr>
          </a:p>
        </p:txBody>
      </p:sp>
      <p:sp>
        <p:nvSpPr>
          <p:cNvPr id="100355" name="Rectangle 3"/>
          <p:cNvSpPr>
            <a:spLocks noChangeArrowheads="1"/>
          </p:cNvSpPr>
          <p:nvPr/>
        </p:nvSpPr>
        <p:spPr bwMode="ltGray">
          <a:xfrm>
            <a:off x="2273301" y="350838"/>
            <a:ext cx="328613" cy="474662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pPr algn="ctr" eaLnBrk="1" hangingPunct="1"/>
            <a:endParaRPr kumimoji="1" lang="hi-IN" altLang="hi-IN" sz="2400">
              <a:latin typeface="Tahoma" panose="020B0604030504040204" pitchFamily="34" charset="0"/>
            </a:endParaRPr>
          </a:p>
        </p:txBody>
      </p:sp>
      <p:grpSp>
        <p:nvGrpSpPr>
          <p:cNvPr id="100356" name="Group 4"/>
          <p:cNvGrpSpPr/>
          <p:nvPr/>
        </p:nvGrpSpPr>
        <p:grpSpPr bwMode="auto">
          <a:xfrm>
            <a:off x="2014539" y="773113"/>
            <a:ext cx="738187" cy="474662"/>
            <a:chOff x="309" y="487"/>
            <a:chExt cx="465" cy="299"/>
          </a:xfrm>
        </p:grpSpPr>
        <p:sp>
          <p:nvSpPr>
            <p:cNvPr id="100363" name="Rectangle 5"/>
            <p:cNvSpPr>
              <a:spLocks noChangeArrowheads="1"/>
            </p:cNvSpPr>
            <p:nvPr/>
          </p:nvSpPr>
          <p:spPr bwMode="ltGray">
            <a:xfrm>
              <a:off x="309" y="487"/>
              <a:ext cx="266" cy="299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Lucida Sans Unicode" panose="020B0602030504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Lucida Sans Unicode" panose="020B0602030504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Lucida Sans Unicode" panose="020B0602030504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Lucida Sans Unicode" panose="020B0602030504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Lucida Sans Unicode" panose="020B0602030504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Lucida Sans Unicode" panose="020B0602030504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Lucida Sans Unicode" panose="020B0602030504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Lucida Sans Unicode" panose="020B0602030504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Lucida Sans Unicode" panose="020B0602030504020204" pitchFamily="34" charset="0"/>
                </a:defRPr>
              </a:lvl9pPr>
            </a:lstStyle>
            <a:p>
              <a:pPr algn="ctr" eaLnBrk="1" hangingPunct="1"/>
              <a:endParaRPr kumimoji="1" lang="hi-IN" altLang="hi-IN" sz="2400">
                <a:latin typeface="Tahoma" panose="020B0604030504040204" pitchFamily="34" charset="0"/>
              </a:endParaRPr>
            </a:p>
          </p:txBody>
        </p:sp>
        <p:sp>
          <p:nvSpPr>
            <p:cNvPr id="100364" name="Rectangle 6"/>
            <p:cNvSpPr>
              <a:spLocks noChangeArrowheads="1"/>
            </p:cNvSpPr>
            <p:nvPr/>
          </p:nvSpPr>
          <p:spPr bwMode="ltGray">
            <a:xfrm>
              <a:off x="542" y="487"/>
              <a:ext cx="232" cy="299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Lucida Sans Unicode" panose="020B0602030504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Lucida Sans Unicode" panose="020B0602030504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Lucida Sans Unicode" panose="020B0602030504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Lucida Sans Unicode" panose="020B0602030504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Lucida Sans Unicode" panose="020B0602030504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Lucida Sans Unicode" panose="020B0602030504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Lucida Sans Unicode" panose="020B0602030504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Lucida Sans Unicode" panose="020B0602030504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Lucida Sans Unicode" panose="020B0602030504020204" pitchFamily="34" charset="0"/>
                </a:defRPr>
              </a:lvl9pPr>
            </a:lstStyle>
            <a:p>
              <a:pPr algn="ctr" eaLnBrk="1" hangingPunct="1"/>
              <a:endParaRPr kumimoji="1" lang="hi-IN" altLang="hi-IN" sz="2400">
                <a:latin typeface="Tahoma" panose="020B0604030504040204" pitchFamily="34" charset="0"/>
              </a:endParaRPr>
            </a:p>
          </p:txBody>
        </p:sp>
      </p:grpSp>
      <p:sp>
        <p:nvSpPr>
          <p:cNvPr id="100357" name="Rectangle 7"/>
          <p:cNvSpPr>
            <a:spLocks noChangeArrowheads="1"/>
          </p:cNvSpPr>
          <p:nvPr/>
        </p:nvSpPr>
        <p:spPr bwMode="ltGray">
          <a:xfrm>
            <a:off x="1600200" y="700089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pPr algn="ctr" eaLnBrk="1" hangingPunct="1"/>
            <a:endParaRPr kumimoji="1" lang="hi-IN" altLang="hi-IN" sz="2400">
              <a:latin typeface="Tahoma" panose="020B0604030504040204" pitchFamily="34" charset="0"/>
            </a:endParaRPr>
          </a:p>
        </p:txBody>
      </p:sp>
      <p:sp>
        <p:nvSpPr>
          <p:cNvPr id="100358" name="Rectangle 8"/>
          <p:cNvSpPr>
            <a:spLocks noChangeArrowheads="1"/>
          </p:cNvSpPr>
          <p:nvPr/>
        </p:nvSpPr>
        <p:spPr bwMode="gray">
          <a:xfrm>
            <a:off x="2235200" y="242888"/>
            <a:ext cx="31750" cy="1052512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pPr algn="ctr" eaLnBrk="1" hangingPunct="1"/>
            <a:endParaRPr kumimoji="1" lang="hi-IN" altLang="hi-IN" sz="2400">
              <a:latin typeface="Tahoma" panose="020B0604030504040204" pitchFamily="34" charset="0"/>
            </a:endParaRPr>
          </a:p>
        </p:txBody>
      </p:sp>
      <p:sp>
        <p:nvSpPr>
          <p:cNvPr id="100359" name="Rectangle 9"/>
          <p:cNvSpPr>
            <a:spLocks noChangeArrowheads="1"/>
          </p:cNvSpPr>
          <p:nvPr/>
        </p:nvSpPr>
        <p:spPr bwMode="gray">
          <a:xfrm>
            <a:off x="1966914" y="773113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pPr algn="ctr" eaLnBrk="1" hangingPunct="1"/>
            <a:endParaRPr kumimoji="1" lang="hi-IN" altLang="hi-IN" sz="2400">
              <a:latin typeface="Tahoma" panose="020B0604030504040204" pitchFamily="34" charset="0"/>
            </a:endParaRPr>
          </a:p>
        </p:txBody>
      </p:sp>
      <p:sp>
        <p:nvSpPr>
          <p:cNvPr id="100360" name="Rectangle 10"/>
          <p:cNvSpPr>
            <a:spLocks noChangeArrowheads="1"/>
          </p:cNvSpPr>
          <p:nvPr/>
        </p:nvSpPr>
        <p:spPr bwMode="auto">
          <a:xfrm>
            <a:off x="1676400" y="1447800"/>
            <a:ext cx="8839200" cy="381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endParaRPr lang="hi-IN" altLang="en-US" sz="2800" b="1" i="1" baseline="-18000">
              <a:latin typeface="Times New Roman" panose="02020603050405020304" pitchFamily="18" charset="0"/>
            </a:endParaRPr>
          </a:p>
        </p:txBody>
      </p:sp>
      <p:sp>
        <p:nvSpPr>
          <p:cNvPr id="100361" name="Rectangle 11"/>
          <p:cNvSpPr>
            <a:spLocks noChangeArrowheads="1"/>
          </p:cNvSpPr>
          <p:nvPr/>
        </p:nvSpPr>
        <p:spPr bwMode="auto">
          <a:xfrm>
            <a:off x="1752600" y="1292226"/>
            <a:ext cx="85344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pPr algn="just"/>
            <a:r>
              <a:rPr lang="en-US" altLang="hi-IN" sz="2800" b="1" i="1">
                <a:latin typeface="Times New Roman" panose="02020603050405020304" pitchFamily="18" charset="0"/>
              </a:rPr>
              <a:t>The bit rate can be calculated as</a:t>
            </a:r>
            <a:endParaRPr lang="en-US" altLang="hi-IN" sz="2800" b="1" i="1">
              <a:latin typeface="Times New Roman" panose="02020603050405020304" pitchFamily="18" charset="0"/>
            </a:endParaRPr>
          </a:p>
        </p:txBody>
      </p:sp>
      <p:pic>
        <p:nvPicPr>
          <p:cNvPr id="100362" name="Picture 14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57600" y="2590800"/>
            <a:ext cx="4167188" cy="350838"/>
          </a:xfrm>
          <a:prstGeom prst="rect">
            <a:avLst/>
          </a:prstGeom>
          <a:noFill/>
          <a:ln w="57150" cmpd="thickThin">
            <a:solidFill>
              <a:schemeClr val="folHlink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3716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49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5600" y="88108"/>
            <a:ext cx="1563688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Title 1"/>
          <p:cNvSpPr>
            <a:spLocks noGrp="1"/>
          </p:cNvSpPr>
          <p:nvPr>
            <p:ph type="title"/>
          </p:nvPr>
        </p:nvSpPr>
        <p:spPr>
          <a:xfrm>
            <a:off x="1966914" y="582613"/>
            <a:ext cx="8105775" cy="1022350"/>
          </a:xfrm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altLang="en-US"/>
              <a:t>Bit Length</a:t>
            </a:r>
            <a:endParaRPr lang="en-US" altLang="en-US"/>
          </a:p>
        </p:txBody>
      </p:sp>
      <p:sp>
        <p:nvSpPr>
          <p:cNvPr id="102403" name="Content Placeholder 2"/>
          <p:cNvSpPr>
            <a:spLocks noGrp="1"/>
          </p:cNvSpPr>
          <p:nvPr>
            <p:ph idx="1"/>
          </p:nvPr>
        </p:nvSpPr>
        <p:spPr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>
            <a:normAutofit/>
          </a:bodyPr>
          <a:lstStyle/>
          <a:p>
            <a:pPr algn="just"/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Bit length:</a:t>
            </a:r>
            <a:endParaRPr lang="en-US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Distance one bit occupies on transmission medium. 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Bit length=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propagation speed* bit duration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4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3716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49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5600" y="88108"/>
            <a:ext cx="1563688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147255000"/>
    </mc:Choice>
    <mc:Fallback>
      <p:transition spd="slow" advClick="0" advTm="2147255000"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Line 2"/>
          <p:cNvSpPr>
            <a:spLocks noChangeShapeType="1"/>
          </p:cNvSpPr>
          <p:nvPr/>
        </p:nvSpPr>
        <p:spPr bwMode="auto">
          <a:xfrm>
            <a:off x="1676400" y="152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03427" name="Line 3"/>
          <p:cNvSpPr>
            <a:spLocks noChangeShapeType="1"/>
          </p:cNvSpPr>
          <p:nvPr/>
        </p:nvSpPr>
        <p:spPr bwMode="auto">
          <a:xfrm>
            <a:off x="1676400" y="990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03428" name="Text Box 4"/>
          <p:cNvSpPr txBox="1">
            <a:spLocks noChangeArrowheads="1"/>
          </p:cNvSpPr>
          <p:nvPr/>
        </p:nvSpPr>
        <p:spPr bwMode="auto">
          <a:xfrm>
            <a:off x="1828800" y="381001"/>
            <a:ext cx="37338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r>
              <a:rPr lang="en-US" altLang="hi-IN" sz="2400" b="1">
                <a:solidFill>
                  <a:srgbClr val="FF0000"/>
                </a:solidFill>
                <a:latin typeface="Times New Roman" panose="02020603050405020304" pitchFamily="18" charset="0"/>
              </a:rPr>
              <a:t>Figure </a:t>
            </a:r>
            <a:r>
              <a:rPr lang="en-US" altLang="hi-IN" sz="2400" b="1">
                <a:solidFill>
                  <a:schemeClr val="folHlink"/>
                </a:solidFill>
                <a:latin typeface="Times New Roman" panose="02020603050405020304" pitchFamily="18" charset="0"/>
              </a:rPr>
              <a:t>  </a:t>
            </a:r>
            <a:r>
              <a:rPr lang="en-US" altLang="hi-IN" sz="2000" b="1" i="1">
                <a:latin typeface="Times New Roman" panose="02020603050405020304" pitchFamily="18" charset="0"/>
              </a:rPr>
              <a:t>Baseband transmission</a:t>
            </a:r>
            <a:endParaRPr lang="en-US" altLang="hi-IN" sz="2000" b="1" i="1">
              <a:latin typeface="Times New Roman" panose="02020603050405020304" pitchFamily="18" charset="0"/>
            </a:endParaRPr>
          </a:p>
        </p:txBody>
      </p:sp>
      <p:sp>
        <p:nvSpPr>
          <p:cNvPr id="103429" name="Line 5"/>
          <p:cNvSpPr>
            <a:spLocks noChangeShapeType="1"/>
          </p:cNvSpPr>
          <p:nvPr/>
        </p:nvSpPr>
        <p:spPr bwMode="auto">
          <a:xfrm>
            <a:off x="1676400" y="63246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pic>
        <p:nvPicPr>
          <p:cNvPr id="103430" name="Picture 6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14614" y="2719388"/>
            <a:ext cx="6681787" cy="1700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3716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49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5600" y="88108"/>
            <a:ext cx="1563688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147255000"/>
    </mc:Choice>
    <mc:Fallback>
      <p:transition spd="slow" advClick="0" advTm="2147255000"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2"/>
          <p:cNvSpPr>
            <a:spLocks noChangeArrowheads="1"/>
          </p:cNvSpPr>
          <p:nvPr/>
        </p:nvSpPr>
        <p:spPr bwMode="ltGray">
          <a:xfrm>
            <a:off x="1890713" y="107951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pPr algn="ctr" eaLnBrk="1" hangingPunct="1"/>
            <a:endParaRPr kumimoji="1" lang="hi-IN" altLang="hi-IN" sz="2400">
              <a:latin typeface="Tahoma" panose="020B0604030504040204" pitchFamily="34" charset="0"/>
            </a:endParaRPr>
          </a:p>
        </p:txBody>
      </p:sp>
      <p:sp>
        <p:nvSpPr>
          <p:cNvPr id="105475" name="Rectangle 3"/>
          <p:cNvSpPr>
            <a:spLocks noChangeArrowheads="1"/>
          </p:cNvSpPr>
          <p:nvPr/>
        </p:nvSpPr>
        <p:spPr bwMode="ltGray">
          <a:xfrm>
            <a:off x="2273301" y="107951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pPr algn="ctr" eaLnBrk="1" hangingPunct="1"/>
            <a:endParaRPr kumimoji="1" lang="hi-IN" altLang="hi-IN" sz="2400">
              <a:latin typeface="Tahoma" panose="020B0604030504040204" pitchFamily="34" charset="0"/>
            </a:endParaRPr>
          </a:p>
        </p:txBody>
      </p:sp>
      <p:sp>
        <p:nvSpPr>
          <p:cNvPr id="105476" name="Rectangle 4"/>
          <p:cNvSpPr>
            <a:spLocks noChangeArrowheads="1"/>
          </p:cNvSpPr>
          <p:nvPr/>
        </p:nvSpPr>
        <p:spPr bwMode="ltGray">
          <a:xfrm>
            <a:off x="2014539" y="530226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pPr algn="ctr" eaLnBrk="1" hangingPunct="1"/>
            <a:endParaRPr kumimoji="1" lang="hi-IN" altLang="hi-IN" sz="2400">
              <a:latin typeface="Tahoma" panose="020B0604030504040204" pitchFamily="34" charset="0"/>
            </a:endParaRPr>
          </a:p>
        </p:txBody>
      </p:sp>
      <p:sp>
        <p:nvSpPr>
          <p:cNvPr id="105477" name="Rectangle 5"/>
          <p:cNvSpPr>
            <a:spLocks noChangeArrowheads="1"/>
          </p:cNvSpPr>
          <p:nvPr/>
        </p:nvSpPr>
        <p:spPr bwMode="ltGray">
          <a:xfrm>
            <a:off x="2384425" y="530226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pPr algn="ctr" eaLnBrk="1" hangingPunct="1"/>
            <a:endParaRPr kumimoji="1" lang="hi-IN" altLang="hi-IN" sz="2400">
              <a:latin typeface="Tahoma" panose="020B0604030504040204" pitchFamily="34" charset="0"/>
            </a:endParaRPr>
          </a:p>
        </p:txBody>
      </p:sp>
      <p:sp>
        <p:nvSpPr>
          <p:cNvPr id="105478" name="Rectangle 6"/>
          <p:cNvSpPr>
            <a:spLocks noChangeArrowheads="1"/>
          </p:cNvSpPr>
          <p:nvPr/>
        </p:nvSpPr>
        <p:spPr bwMode="ltGray">
          <a:xfrm>
            <a:off x="1600200" y="457201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pPr algn="ctr" eaLnBrk="1" hangingPunct="1"/>
            <a:endParaRPr kumimoji="1" lang="hi-IN" altLang="hi-IN" sz="2400">
              <a:latin typeface="Tahoma" panose="020B0604030504040204" pitchFamily="34" charset="0"/>
            </a:endParaRPr>
          </a:p>
        </p:txBody>
      </p:sp>
      <p:sp>
        <p:nvSpPr>
          <p:cNvPr id="105479" name="Rectangle 7"/>
          <p:cNvSpPr>
            <a:spLocks noChangeArrowheads="1"/>
          </p:cNvSpPr>
          <p:nvPr/>
        </p:nvSpPr>
        <p:spPr bwMode="gray">
          <a:xfrm>
            <a:off x="2235200" y="1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pPr algn="ctr" eaLnBrk="1" hangingPunct="1"/>
            <a:endParaRPr kumimoji="1" lang="hi-IN" altLang="hi-IN" sz="2400">
              <a:latin typeface="Tahoma" panose="020B0604030504040204" pitchFamily="34" charset="0"/>
            </a:endParaRPr>
          </a:p>
        </p:txBody>
      </p:sp>
      <p:sp>
        <p:nvSpPr>
          <p:cNvPr id="105480" name="Rectangle 8"/>
          <p:cNvSpPr>
            <a:spLocks noChangeArrowheads="1"/>
          </p:cNvSpPr>
          <p:nvPr/>
        </p:nvSpPr>
        <p:spPr bwMode="gray">
          <a:xfrm>
            <a:off x="1966914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pPr algn="ctr" eaLnBrk="1" hangingPunct="1"/>
            <a:endParaRPr kumimoji="1" lang="hi-IN" altLang="hi-IN" sz="2400">
              <a:latin typeface="Tahoma" panose="020B0604030504040204" pitchFamily="34" charset="0"/>
            </a:endParaRPr>
          </a:p>
        </p:txBody>
      </p:sp>
      <p:sp>
        <p:nvSpPr>
          <p:cNvPr id="105481" name="Line 9"/>
          <p:cNvSpPr>
            <a:spLocks noChangeShapeType="1"/>
          </p:cNvSpPr>
          <p:nvPr/>
        </p:nvSpPr>
        <p:spPr bwMode="auto">
          <a:xfrm>
            <a:off x="1981200" y="29718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05482" name="Line 10"/>
          <p:cNvSpPr>
            <a:spLocks noChangeShapeType="1"/>
          </p:cNvSpPr>
          <p:nvPr/>
        </p:nvSpPr>
        <p:spPr bwMode="auto">
          <a:xfrm>
            <a:off x="1982788" y="42672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05483" name="Rectangle 11"/>
          <p:cNvSpPr>
            <a:spLocks noChangeArrowheads="1"/>
          </p:cNvSpPr>
          <p:nvPr/>
        </p:nvSpPr>
        <p:spPr bwMode="auto">
          <a:xfrm>
            <a:off x="2019300" y="3063875"/>
            <a:ext cx="8077200" cy="1569660"/>
          </a:xfrm>
          <a:prstGeom prst="rect">
            <a:avLst/>
          </a:prstGeom>
          <a:solidFill>
            <a:srgbClr val="99FF33"/>
          </a:solidFill>
          <a:ln>
            <a:noFill/>
          </a:ln>
          <a:extLst>
            <a:ext uri="{91240B29-F687-4F45-9708-019B960494DF}">
              <a14:hiddenLine xmlns:a14="http://schemas.microsoft.com/office/drawing/2010/main" w="762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pPr algn="ctr"/>
            <a:r>
              <a:rPr lang="en-US" altLang="hi-IN" sz="3200" b="1" dirty="0"/>
              <a:t>A digital signal is a composite analog signal with:</a:t>
            </a:r>
            <a:endParaRPr lang="en-US" altLang="hi-IN" sz="3200" b="1" dirty="0"/>
          </a:p>
          <a:p>
            <a:pPr algn="ctr"/>
            <a:r>
              <a:rPr lang="en-US" altLang="hi-IN" sz="3200" dirty="0"/>
              <a:t>An infinite bandwidth.</a:t>
            </a:r>
            <a:endParaRPr lang="en-US" altLang="hi-IN" sz="3200" dirty="0"/>
          </a:p>
        </p:txBody>
      </p:sp>
      <p:grpSp>
        <p:nvGrpSpPr>
          <p:cNvPr id="105484" name="Group 12"/>
          <p:cNvGrpSpPr/>
          <p:nvPr/>
        </p:nvGrpSpPr>
        <p:grpSpPr bwMode="auto">
          <a:xfrm>
            <a:off x="1981200" y="2362200"/>
            <a:ext cx="1143000" cy="566738"/>
            <a:chOff x="1200" y="1248"/>
            <a:chExt cx="720" cy="357"/>
          </a:xfrm>
        </p:grpSpPr>
        <p:pic>
          <p:nvPicPr>
            <p:cNvPr id="105485" name="Picture 13"/>
            <p:cNvPicPr>
              <a:picLocks noChangeAspect="1" noChangeArrowheads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00" y="1248"/>
              <a:ext cx="720" cy="3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5486" name="Text Box 14"/>
            <p:cNvSpPr txBox="1">
              <a:spLocks noChangeArrowheads="1"/>
            </p:cNvSpPr>
            <p:nvPr/>
          </p:nvSpPr>
          <p:spPr bwMode="auto">
            <a:xfrm>
              <a:off x="1284" y="1248"/>
              <a:ext cx="551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Lucida Sans Unicode" panose="020B0602030504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Lucida Sans Unicode" panose="020B0602030504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Lucida Sans Unicode" panose="020B0602030504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Lucida Sans Unicode" panose="020B0602030504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Lucida Sans Unicode" panose="020B0602030504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Lucida Sans Unicode" panose="020B0602030504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Lucida Sans Unicode" panose="020B0602030504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Lucida Sans Unicode" panose="020B0602030504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Lucida Sans Unicode" panose="020B0602030504020204" pitchFamily="34" charset="0"/>
                </a:defRPr>
              </a:lvl9pPr>
            </a:lstStyle>
            <a:p>
              <a:r>
                <a:rPr lang="en-US" altLang="hi-IN" sz="2800" b="1" i="1">
                  <a:solidFill>
                    <a:schemeClr val="hlink"/>
                  </a:solidFill>
                  <a:latin typeface="Times New Roman" panose="02020603050405020304" pitchFamily="18" charset="0"/>
                </a:rPr>
                <a:t>Note</a:t>
              </a:r>
              <a:endParaRPr lang="en-US" altLang="hi-IN" sz="2800" b="1" i="1">
                <a:solidFill>
                  <a:schemeClr val="hlink"/>
                </a:solidFill>
                <a:latin typeface="Times New Roman" panose="02020603050405020304" pitchFamily="18" charset="0"/>
              </a:endParaRPr>
            </a:p>
          </p:txBody>
        </p:sp>
      </p:grpSp>
      <p:pic>
        <p:nvPicPr>
          <p:cNvPr id="2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3716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49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5600" y="88108"/>
            <a:ext cx="1563688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147255000"/>
    </mc:Choice>
    <mc:Fallback>
      <p:transition spd="slow" advClick="0" advTm="2147255000"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Line 2"/>
          <p:cNvSpPr>
            <a:spLocks noChangeShapeType="1"/>
          </p:cNvSpPr>
          <p:nvPr/>
        </p:nvSpPr>
        <p:spPr bwMode="auto">
          <a:xfrm>
            <a:off x="1676400" y="152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07523" name="Line 3"/>
          <p:cNvSpPr>
            <a:spLocks noChangeShapeType="1"/>
          </p:cNvSpPr>
          <p:nvPr/>
        </p:nvSpPr>
        <p:spPr bwMode="auto">
          <a:xfrm>
            <a:off x="1676400" y="990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07524" name="Text Box 4"/>
          <p:cNvSpPr txBox="1">
            <a:spLocks noChangeArrowheads="1"/>
          </p:cNvSpPr>
          <p:nvPr/>
        </p:nvSpPr>
        <p:spPr bwMode="auto">
          <a:xfrm>
            <a:off x="1766888" y="531813"/>
            <a:ext cx="523875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r>
              <a:rPr lang="en-US" altLang="hi-IN" sz="2400" b="1">
                <a:solidFill>
                  <a:srgbClr val="FF0000"/>
                </a:solidFill>
                <a:latin typeface="Times New Roman" panose="02020603050405020304" pitchFamily="18" charset="0"/>
              </a:rPr>
              <a:t>Figure </a:t>
            </a:r>
            <a:r>
              <a:rPr lang="en-US" altLang="hi-IN" sz="2400" b="1">
                <a:solidFill>
                  <a:schemeClr val="folHlink"/>
                </a:solidFill>
                <a:latin typeface="Times New Roman" panose="02020603050405020304" pitchFamily="18" charset="0"/>
              </a:rPr>
              <a:t>  </a:t>
            </a:r>
            <a:r>
              <a:rPr lang="en-US" altLang="hi-IN" sz="2000" b="1" i="1">
                <a:latin typeface="Times New Roman" panose="02020603050405020304" pitchFamily="18" charset="0"/>
              </a:rPr>
              <a:t>Bandwidths of two low-pass channels</a:t>
            </a:r>
            <a:endParaRPr lang="en-US" altLang="hi-IN" sz="2000" b="1" i="1">
              <a:latin typeface="Times New Roman" panose="02020603050405020304" pitchFamily="18" charset="0"/>
            </a:endParaRPr>
          </a:p>
        </p:txBody>
      </p:sp>
      <p:sp>
        <p:nvSpPr>
          <p:cNvPr id="107525" name="Line 5"/>
          <p:cNvSpPr>
            <a:spLocks noChangeShapeType="1"/>
          </p:cNvSpPr>
          <p:nvPr/>
        </p:nvSpPr>
        <p:spPr bwMode="auto">
          <a:xfrm>
            <a:off x="1676400" y="63246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pic>
        <p:nvPicPr>
          <p:cNvPr id="107526" name="Picture 6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2600" y="1371600"/>
            <a:ext cx="8739188" cy="445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3716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49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5600" y="88108"/>
            <a:ext cx="1563688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147255000"/>
    </mc:Choice>
    <mc:Fallback>
      <p:transition spd="slow" advClick="0" advTm="2147255000"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1" name="Content Placeholder 2"/>
          <p:cNvSpPr>
            <a:spLocks noGrp="1" noChangeArrowheads="1"/>
          </p:cNvSpPr>
          <p:nvPr>
            <p:ph idx="1"/>
          </p:nvPr>
        </p:nvSpPr>
        <p:spPr>
          <a:xfrm>
            <a:off x="838200" y="1846173"/>
            <a:ext cx="10515600" cy="4351338"/>
          </a:xfrm>
        </p:spPr>
        <p:txBody>
          <a:bodyPr/>
          <a:lstStyle/>
          <a:p>
            <a:pPr algn="just"/>
            <a:r>
              <a:rPr lang="en-US" altLang="hi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Baseband transmission of a digital signal that:</a:t>
            </a:r>
            <a:endParaRPr lang="en-US" altLang="hi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altLang="hi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	Preserves the shape of the digital signal </a:t>
            </a:r>
            <a:endParaRPr lang="en-US" altLang="hi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altLang="hi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altLang="hi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is possible only if :</a:t>
            </a:r>
            <a:endParaRPr lang="en-US" altLang="hi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altLang="hi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Have a low-pass channel with an infinite </a:t>
            </a:r>
            <a:endParaRPr lang="en-US" altLang="hi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altLang="hi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			or </a:t>
            </a:r>
            <a:endParaRPr lang="en-US" altLang="hi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altLang="hi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		very wide bandwidth.</a:t>
            </a:r>
            <a:endParaRPr lang="en-US" altLang="hi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alt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4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3716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49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5600" y="88108"/>
            <a:ext cx="1563688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147255000"/>
    </mc:Choice>
    <mc:Fallback>
      <p:transition spd="slow" advClick="0" advTm="2147255000"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42740"/>
            <a:ext cx="10515600" cy="4351338"/>
          </a:xfrm>
        </p:spPr>
        <p:txBody>
          <a:bodyPr/>
          <a:lstStyle/>
          <a:p>
            <a:pPr marL="457200" indent="-457200" algn="just">
              <a:defRPr/>
            </a:pPr>
            <a:r>
              <a:rPr lang="en-US" altLang="hi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baseband transmission:</a:t>
            </a:r>
            <a:endParaRPr lang="en-US" altLang="hi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  <a:defRPr/>
            </a:pPr>
            <a:r>
              <a:rPr lang="en-US" altLang="hi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Required bandwidth is proportional to the bit rate</a:t>
            </a:r>
            <a:endParaRPr lang="en-US" altLang="hi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defRPr/>
            </a:pPr>
            <a:endParaRPr lang="en-US" altLang="hi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defRPr/>
            </a:pPr>
            <a:r>
              <a:rPr lang="en-US" altLang="hi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need to send bits faster, need more bandwidth. </a:t>
            </a:r>
            <a:endParaRPr lang="en-US" altLang="hi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defRPr/>
            </a:pPr>
            <a:endParaRPr lang="en-US" altLang="hi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defRPr/>
            </a:pPr>
            <a:r>
              <a:rPr lang="en-US" altLang="hi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Bit rate is twice the bandwidth required. </a:t>
            </a:r>
            <a:endParaRPr lang="en-US" altLang="hi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defRPr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4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3716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49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5600" y="88108"/>
            <a:ext cx="1563688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147255000"/>
    </mc:Choice>
    <mc:Fallback>
      <p:transition spd="slow" advClick="0" advTm="2147255000"/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Rectangle 2"/>
          <p:cNvSpPr>
            <a:spLocks noChangeArrowheads="1"/>
          </p:cNvSpPr>
          <p:nvPr/>
        </p:nvSpPr>
        <p:spPr bwMode="ltGray">
          <a:xfrm>
            <a:off x="1890713" y="350838"/>
            <a:ext cx="438150" cy="474662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pPr algn="ctr" eaLnBrk="1" hangingPunct="1"/>
            <a:endParaRPr kumimoji="1" lang="hi-IN" altLang="hi-IN" sz="2400">
              <a:latin typeface="Tahoma" panose="020B0604030504040204" pitchFamily="34" charset="0"/>
            </a:endParaRPr>
          </a:p>
        </p:txBody>
      </p:sp>
      <p:sp>
        <p:nvSpPr>
          <p:cNvPr id="111619" name="Rectangle 3"/>
          <p:cNvSpPr>
            <a:spLocks noChangeArrowheads="1"/>
          </p:cNvSpPr>
          <p:nvPr/>
        </p:nvSpPr>
        <p:spPr bwMode="ltGray">
          <a:xfrm>
            <a:off x="2273301" y="350838"/>
            <a:ext cx="328613" cy="474662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pPr algn="ctr" eaLnBrk="1" hangingPunct="1"/>
            <a:endParaRPr kumimoji="1" lang="hi-IN" altLang="hi-IN" sz="2400">
              <a:latin typeface="Tahoma" panose="020B0604030504040204" pitchFamily="34" charset="0"/>
            </a:endParaRPr>
          </a:p>
        </p:txBody>
      </p:sp>
      <p:grpSp>
        <p:nvGrpSpPr>
          <p:cNvPr id="111620" name="Group 4"/>
          <p:cNvGrpSpPr/>
          <p:nvPr/>
        </p:nvGrpSpPr>
        <p:grpSpPr bwMode="auto">
          <a:xfrm>
            <a:off x="2014539" y="773113"/>
            <a:ext cx="738187" cy="474662"/>
            <a:chOff x="309" y="487"/>
            <a:chExt cx="465" cy="299"/>
          </a:xfrm>
        </p:grpSpPr>
        <p:sp>
          <p:nvSpPr>
            <p:cNvPr id="111627" name="Rectangle 5"/>
            <p:cNvSpPr>
              <a:spLocks noChangeArrowheads="1"/>
            </p:cNvSpPr>
            <p:nvPr/>
          </p:nvSpPr>
          <p:spPr bwMode="ltGray">
            <a:xfrm>
              <a:off x="309" y="487"/>
              <a:ext cx="266" cy="299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Lucida Sans Unicode" panose="020B0602030504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Lucida Sans Unicode" panose="020B0602030504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Lucida Sans Unicode" panose="020B0602030504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Lucida Sans Unicode" panose="020B0602030504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Lucida Sans Unicode" panose="020B0602030504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Lucida Sans Unicode" panose="020B0602030504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Lucida Sans Unicode" panose="020B0602030504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Lucida Sans Unicode" panose="020B0602030504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Lucida Sans Unicode" panose="020B0602030504020204" pitchFamily="34" charset="0"/>
                </a:defRPr>
              </a:lvl9pPr>
            </a:lstStyle>
            <a:p>
              <a:pPr algn="ctr" eaLnBrk="1" hangingPunct="1"/>
              <a:endParaRPr kumimoji="1" lang="hi-IN" altLang="hi-IN" sz="2400">
                <a:latin typeface="Tahoma" panose="020B0604030504040204" pitchFamily="34" charset="0"/>
              </a:endParaRPr>
            </a:p>
          </p:txBody>
        </p:sp>
        <p:sp>
          <p:nvSpPr>
            <p:cNvPr id="111628" name="Rectangle 6"/>
            <p:cNvSpPr>
              <a:spLocks noChangeArrowheads="1"/>
            </p:cNvSpPr>
            <p:nvPr/>
          </p:nvSpPr>
          <p:spPr bwMode="ltGray">
            <a:xfrm>
              <a:off x="542" y="487"/>
              <a:ext cx="232" cy="299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Lucida Sans Unicode" panose="020B0602030504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Lucida Sans Unicode" panose="020B0602030504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Lucida Sans Unicode" panose="020B0602030504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Lucida Sans Unicode" panose="020B0602030504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Lucida Sans Unicode" panose="020B0602030504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Lucida Sans Unicode" panose="020B0602030504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Lucida Sans Unicode" panose="020B0602030504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Lucida Sans Unicode" panose="020B0602030504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Lucida Sans Unicode" panose="020B0602030504020204" pitchFamily="34" charset="0"/>
                </a:defRPr>
              </a:lvl9pPr>
            </a:lstStyle>
            <a:p>
              <a:pPr algn="ctr" eaLnBrk="1" hangingPunct="1"/>
              <a:endParaRPr kumimoji="1" lang="hi-IN" altLang="hi-IN" sz="2400">
                <a:latin typeface="Tahoma" panose="020B0604030504040204" pitchFamily="34" charset="0"/>
              </a:endParaRPr>
            </a:p>
          </p:txBody>
        </p:sp>
      </p:grpSp>
      <p:sp>
        <p:nvSpPr>
          <p:cNvPr id="111621" name="Rectangle 7"/>
          <p:cNvSpPr>
            <a:spLocks noChangeArrowheads="1"/>
          </p:cNvSpPr>
          <p:nvPr/>
        </p:nvSpPr>
        <p:spPr bwMode="ltGray">
          <a:xfrm>
            <a:off x="1600200" y="700089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pPr algn="ctr" eaLnBrk="1" hangingPunct="1"/>
            <a:endParaRPr kumimoji="1" lang="hi-IN" altLang="hi-IN" sz="2400">
              <a:latin typeface="Tahoma" panose="020B0604030504040204" pitchFamily="34" charset="0"/>
            </a:endParaRPr>
          </a:p>
        </p:txBody>
      </p:sp>
      <p:sp>
        <p:nvSpPr>
          <p:cNvPr id="111622" name="Rectangle 8"/>
          <p:cNvSpPr>
            <a:spLocks noChangeArrowheads="1"/>
          </p:cNvSpPr>
          <p:nvPr/>
        </p:nvSpPr>
        <p:spPr bwMode="gray">
          <a:xfrm>
            <a:off x="2235200" y="242888"/>
            <a:ext cx="31750" cy="1052512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pPr algn="ctr" eaLnBrk="1" hangingPunct="1"/>
            <a:endParaRPr kumimoji="1" lang="hi-IN" altLang="hi-IN" sz="2400">
              <a:latin typeface="Tahoma" panose="020B0604030504040204" pitchFamily="34" charset="0"/>
            </a:endParaRPr>
          </a:p>
        </p:txBody>
      </p:sp>
      <p:sp>
        <p:nvSpPr>
          <p:cNvPr id="111623" name="Rectangle 9"/>
          <p:cNvSpPr>
            <a:spLocks noChangeArrowheads="1"/>
          </p:cNvSpPr>
          <p:nvPr/>
        </p:nvSpPr>
        <p:spPr bwMode="gray">
          <a:xfrm>
            <a:off x="1966914" y="773113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pPr algn="ctr" eaLnBrk="1" hangingPunct="1"/>
            <a:endParaRPr kumimoji="1" lang="hi-IN" altLang="hi-IN" sz="2400">
              <a:latin typeface="Tahoma" panose="020B0604030504040204" pitchFamily="34" charset="0"/>
            </a:endParaRPr>
          </a:p>
        </p:txBody>
      </p:sp>
      <p:sp>
        <p:nvSpPr>
          <p:cNvPr id="111624" name="Rectangle 10"/>
          <p:cNvSpPr>
            <a:spLocks noChangeArrowheads="1"/>
          </p:cNvSpPr>
          <p:nvPr/>
        </p:nvSpPr>
        <p:spPr bwMode="auto">
          <a:xfrm>
            <a:off x="1676400" y="1447800"/>
            <a:ext cx="8839200" cy="381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endParaRPr lang="hi-IN" altLang="en-US" sz="2800" b="1" i="1" baseline="-18000">
              <a:latin typeface="Times New Roman" panose="02020603050405020304" pitchFamily="18" charset="0"/>
            </a:endParaRPr>
          </a:p>
        </p:txBody>
      </p:sp>
      <p:sp>
        <p:nvSpPr>
          <p:cNvPr id="124937" name="Rectangle 11"/>
          <p:cNvSpPr>
            <a:spLocks noChangeArrowheads="1"/>
          </p:cNvSpPr>
          <p:nvPr/>
        </p:nvSpPr>
        <p:spPr bwMode="auto">
          <a:xfrm>
            <a:off x="1752600" y="1544638"/>
            <a:ext cx="8763000" cy="2616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pPr marL="457200" indent="-457200" algn="just">
              <a:buFont typeface="Arial" panose="020B0604020202020204" pitchFamily="34" charset="0"/>
              <a:buChar char="•"/>
              <a:defRPr/>
            </a:pPr>
            <a:r>
              <a:rPr lang="en-US" altLang="hi-IN" sz="2800" b="1" i="1" dirty="0">
                <a:latin typeface="Times New Roman" panose="02020603050405020304" pitchFamily="18" charset="0"/>
              </a:rPr>
              <a:t>What is the required bandwidth of a low-pass channel?</a:t>
            </a:r>
            <a:endParaRPr lang="en-US" altLang="hi-IN" sz="2800" b="1" i="1" dirty="0">
              <a:latin typeface="Times New Roman" panose="02020603050405020304" pitchFamily="18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  <a:defRPr/>
            </a:pPr>
            <a:endParaRPr lang="en-US" altLang="hi-IN" sz="2800" b="1" i="1" dirty="0">
              <a:latin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  <a:defRPr/>
            </a:pPr>
            <a:r>
              <a:rPr lang="en-US" altLang="hi-IN" sz="2800" b="1" i="1" dirty="0">
                <a:latin typeface="Times New Roman" panose="02020603050405020304" pitchFamily="18" charset="0"/>
              </a:rPr>
              <a:t>If we need to send 1 Mbps by using baseband transmission?</a:t>
            </a:r>
            <a:br>
              <a:rPr lang="en-US" altLang="hi-IN" sz="2800" b="1" i="1" dirty="0">
                <a:latin typeface="Times New Roman" panose="02020603050405020304" pitchFamily="18" charset="0"/>
              </a:rPr>
            </a:br>
            <a:endParaRPr lang="en-US" altLang="hi-IN" sz="2800" b="1" i="1" dirty="0">
              <a:latin typeface="Times New Roman" panose="02020603050405020304" pitchFamily="18" charset="0"/>
            </a:endParaRPr>
          </a:p>
          <a:p>
            <a:pPr>
              <a:defRPr/>
            </a:pPr>
            <a:endParaRPr lang="en-US" altLang="hi-IN" sz="2400" b="1" i="1" dirty="0">
              <a:latin typeface="Times New Roman" panose="02020603050405020304" pitchFamily="18" charset="0"/>
            </a:endParaRPr>
          </a:p>
        </p:txBody>
      </p:sp>
      <p:sp>
        <p:nvSpPr>
          <p:cNvPr id="111626" name="Text Box 12"/>
          <p:cNvSpPr txBox="1">
            <a:spLocks noChangeArrowheads="1"/>
          </p:cNvSpPr>
          <p:nvPr/>
        </p:nvSpPr>
        <p:spPr bwMode="auto">
          <a:xfrm>
            <a:off x="2687638" y="687388"/>
            <a:ext cx="16891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r>
              <a:rPr lang="en-US" altLang="hi-IN" sz="3200" b="1" i="1">
                <a:solidFill>
                  <a:srgbClr val="FF0000"/>
                </a:solidFill>
                <a:latin typeface="Times New Roman" panose="02020603050405020304" pitchFamily="18" charset="0"/>
              </a:rPr>
              <a:t>Example</a:t>
            </a:r>
            <a:endParaRPr lang="en-US" altLang="hi-IN" sz="3200" b="1" i="1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2" name="Picture 4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3716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49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5600" y="88108"/>
            <a:ext cx="1563688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2"/>
          <p:cNvSpPr>
            <a:spLocks noChangeArrowheads="1"/>
          </p:cNvSpPr>
          <p:nvPr/>
        </p:nvSpPr>
        <p:spPr bwMode="ltGray">
          <a:xfrm>
            <a:off x="1890713" y="350838"/>
            <a:ext cx="438150" cy="474662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pPr algn="ctr" eaLnBrk="1" hangingPunct="1"/>
            <a:endParaRPr kumimoji="1" lang="hi-IN" altLang="hi-IN" sz="2400">
              <a:latin typeface="Tahoma" panose="020B0604030504040204" pitchFamily="34" charset="0"/>
            </a:endParaRPr>
          </a:p>
        </p:txBody>
      </p:sp>
      <p:sp>
        <p:nvSpPr>
          <p:cNvPr id="113667" name="Rectangle 3"/>
          <p:cNvSpPr>
            <a:spLocks noChangeArrowheads="1"/>
          </p:cNvSpPr>
          <p:nvPr/>
        </p:nvSpPr>
        <p:spPr bwMode="ltGray">
          <a:xfrm>
            <a:off x="2273301" y="350838"/>
            <a:ext cx="328613" cy="474662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pPr algn="ctr" eaLnBrk="1" hangingPunct="1"/>
            <a:endParaRPr kumimoji="1" lang="hi-IN" altLang="hi-IN" sz="2400">
              <a:latin typeface="Tahoma" panose="020B0604030504040204" pitchFamily="34" charset="0"/>
            </a:endParaRPr>
          </a:p>
        </p:txBody>
      </p:sp>
      <p:grpSp>
        <p:nvGrpSpPr>
          <p:cNvPr id="113668" name="Group 4"/>
          <p:cNvGrpSpPr/>
          <p:nvPr/>
        </p:nvGrpSpPr>
        <p:grpSpPr bwMode="auto">
          <a:xfrm>
            <a:off x="2014539" y="773113"/>
            <a:ext cx="738187" cy="474662"/>
            <a:chOff x="309" y="487"/>
            <a:chExt cx="465" cy="299"/>
          </a:xfrm>
        </p:grpSpPr>
        <p:sp>
          <p:nvSpPr>
            <p:cNvPr id="113675" name="Rectangle 5"/>
            <p:cNvSpPr>
              <a:spLocks noChangeArrowheads="1"/>
            </p:cNvSpPr>
            <p:nvPr/>
          </p:nvSpPr>
          <p:spPr bwMode="ltGray">
            <a:xfrm>
              <a:off x="309" y="487"/>
              <a:ext cx="266" cy="299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Lucida Sans Unicode" panose="020B0602030504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Lucida Sans Unicode" panose="020B0602030504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Lucida Sans Unicode" panose="020B0602030504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Lucida Sans Unicode" panose="020B0602030504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Lucida Sans Unicode" panose="020B0602030504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Lucida Sans Unicode" panose="020B0602030504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Lucida Sans Unicode" panose="020B0602030504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Lucida Sans Unicode" panose="020B0602030504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Lucida Sans Unicode" panose="020B0602030504020204" pitchFamily="34" charset="0"/>
                </a:defRPr>
              </a:lvl9pPr>
            </a:lstStyle>
            <a:p>
              <a:pPr algn="ctr" eaLnBrk="1" hangingPunct="1"/>
              <a:endParaRPr kumimoji="1" lang="hi-IN" altLang="hi-IN" sz="2400">
                <a:latin typeface="Tahoma" panose="020B0604030504040204" pitchFamily="34" charset="0"/>
              </a:endParaRPr>
            </a:p>
          </p:txBody>
        </p:sp>
        <p:sp>
          <p:nvSpPr>
            <p:cNvPr id="113676" name="Rectangle 6"/>
            <p:cNvSpPr>
              <a:spLocks noChangeArrowheads="1"/>
            </p:cNvSpPr>
            <p:nvPr/>
          </p:nvSpPr>
          <p:spPr bwMode="ltGray">
            <a:xfrm>
              <a:off x="542" y="487"/>
              <a:ext cx="232" cy="299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Lucida Sans Unicode" panose="020B0602030504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Lucida Sans Unicode" panose="020B0602030504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Lucida Sans Unicode" panose="020B0602030504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Lucida Sans Unicode" panose="020B0602030504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Lucida Sans Unicode" panose="020B0602030504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Lucida Sans Unicode" panose="020B0602030504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Lucida Sans Unicode" panose="020B0602030504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Lucida Sans Unicode" panose="020B0602030504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Lucida Sans Unicode" panose="020B0602030504020204" pitchFamily="34" charset="0"/>
                </a:defRPr>
              </a:lvl9pPr>
            </a:lstStyle>
            <a:p>
              <a:pPr algn="ctr" eaLnBrk="1" hangingPunct="1"/>
              <a:endParaRPr kumimoji="1" lang="hi-IN" altLang="hi-IN" sz="2400">
                <a:latin typeface="Tahoma" panose="020B0604030504040204" pitchFamily="34" charset="0"/>
              </a:endParaRPr>
            </a:p>
          </p:txBody>
        </p:sp>
      </p:grpSp>
      <p:sp>
        <p:nvSpPr>
          <p:cNvPr id="113669" name="Rectangle 7"/>
          <p:cNvSpPr>
            <a:spLocks noChangeArrowheads="1"/>
          </p:cNvSpPr>
          <p:nvPr/>
        </p:nvSpPr>
        <p:spPr bwMode="ltGray">
          <a:xfrm>
            <a:off x="1600200" y="700089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pPr algn="ctr" eaLnBrk="1" hangingPunct="1"/>
            <a:endParaRPr kumimoji="1" lang="hi-IN" altLang="hi-IN" sz="2400">
              <a:latin typeface="Tahoma" panose="020B0604030504040204" pitchFamily="34" charset="0"/>
            </a:endParaRPr>
          </a:p>
        </p:txBody>
      </p:sp>
      <p:sp>
        <p:nvSpPr>
          <p:cNvPr id="113670" name="Rectangle 8"/>
          <p:cNvSpPr>
            <a:spLocks noChangeArrowheads="1"/>
          </p:cNvSpPr>
          <p:nvPr/>
        </p:nvSpPr>
        <p:spPr bwMode="gray">
          <a:xfrm>
            <a:off x="2235200" y="242888"/>
            <a:ext cx="31750" cy="1052512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pPr algn="ctr" eaLnBrk="1" hangingPunct="1"/>
            <a:endParaRPr kumimoji="1" lang="hi-IN" altLang="hi-IN" sz="2400">
              <a:latin typeface="Tahoma" panose="020B0604030504040204" pitchFamily="34" charset="0"/>
            </a:endParaRPr>
          </a:p>
        </p:txBody>
      </p:sp>
      <p:sp>
        <p:nvSpPr>
          <p:cNvPr id="113671" name="Rectangle 9"/>
          <p:cNvSpPr>
            <a:spLocks noChangeArrowheads="1"/>
          </p:cNvSpPr>
          <p:nvPr/>
        </p:nvSpPr>
        <p:spPr bwMode="gray">
          <a:xfrm>
            <a:off x="1966914" y="773113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pPr algn="ctr" eaLnBrk="1" hangingPunct="1"/>
            <a:endParaRPr kumimoji="1" lang="hi-IN" altLang="hi-IN" sz="2400">
              <a:latin typeface="Tahoma" panose="020B0604030504040204" pitchFamily="34" charset="0"/>
            </a:endParaRPr>
          </a:p>
        </p:txBody>
      </p:sp>
      <p:sp>
        <p:nvSpPr>
          <p:cNvPr id="113672" name="Rectangle 10"/>
          <p:cNvSpPr>
            <a:spLocks noChangeArrowheads="1"/>
          </p:cNvSpPr>
          <p:nvPr/>
        </p:nvSpPr>
        <p:spPr bwMode="auto">
          <a:xfrm>
            <a:off x="1676400" y="1447800"/>
            <a:ext cx="8839200" cy="381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endParaRPr lang="hi-IN" altLang="en-US" sz="2800" b="1" i="1" baseline="-18000">
              <a:latin typeface="Times New Roman" panose="02020603050405020304" pitchFamily="18" charset="0"/>
            </a:endParaRPr>
          </a:p>
        </p:txBody>
      </p:sp>
      <p:sp>
        <p:nvSpPr>
          <p:cNvPr id="113673" name="Rectangle 11"/>
          <p:cNvSpPr>
            <a:spLocks noChangeArrowheads="1"/>
          </p:cNvSpPr>
          <p:nvPr/>
        </p:nvSpPr>
        <p:spPr bwMode="auto">
          <a:xfrm>
            <a:off x="1752600" y="1295401"/>
            <a:ext cx="8763000" cy="3046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pPr algn="just"/>
            <a:r>
              <a:rPr lang="en-US" altLang="hi-IN" sz="2800" b="1" i="1">
                <a:latin typeface="Times New Roman" panose="02020603050405020304" pitchFamily="18" charset="0"/>
              </a:rPr>
              <a:t>What is the required bandwidth of a low-pass channel if we need to send 1 Mbps by using baseband transmission?</a:t>
            </a:r>
            <a:br>
              <a:rPr lang="en-US" altLang="hi-IN" sz="2800" b="1" i="1">
                <a:latin typeface="Times New Roman" panose="02020603050405020304" pitchFamily="18" charset="0"/>
              </a:rPr>
            </a:br>
            <a:endParaRPr lang="en-US" altLang="hi-IN" sz="2800" b="1" i="1">
              <a:latin typeface="Times New Roman" panose="02020603050405020304" pitchFamily="18" charset="0"/>
            </a:endParaRPr>
          </a:p>
          <a:p>
            <a:pPr algn="just"/>
            <a:r>
              <a:rPr lang="en-US" altLang="hi-IN" sz="2800" b="1" i="1">
                <a:solidFill>
                  <a:schemeClr val="hlink"/>
                </a:solidFill>
                <a:latin typeface="Times New Roman" panose="02020603050405020304" pitchFamily="18" charset="0"/>
              </a:rPr>
              <a:t>Solution</a:t>
            </a:r>
            <a:endParaRPr lang="en-US" altLang="hi-IN" sz="2800" b="1" i="1">
              <a:solidFill>
                <a:schemeClr val="hlink"/>
              </a:solidFill>
              <a:latin typeface="Times New Roman" panose="02020603050405020304" pitchFamily="18" charset="0"/>
            </a:endParaRPr>
          </a:p>
          <a:p>
            <a:r>
              <a:rPr lang="en-US" altLang="hi-IN" sz="2800" b="1" i="1">
                <a:latin typeface="Times New Roman" panose="02020603050405020304" pitchFamily="18" charset="0"/>
              </a:rPr>
              <a:t>The minimum bandwidth, is B = bit rate /2, or 500 kHz.</a:t>
            </a:r>
            <a:br>
              <a:rPr lang="en-US" altLang="hi-IN" sz="2800" b="1" i="1">
                <a:latin typeface="Times New Roman" panose="02020603050405020304" pitchFamily="18" charset="0"/>
              </a:rPr>
            </a:br>
            <a:r>
              <a:rPr lang="en-US" altLang="hi-IN" sz="2800" b="1" i="1">
                <a:latin typeface="Times New Roman" panose="02020603050405020304" pitchFamily="18" charset="0"/>
              </a:rPr>
              <a:t> </a:t>
            </a:r>
            <a:endParaRPr lang="en-US" altLang="hi-IN" sz="2800" b="1" i="1">
              <a:latin typeface="Times New Roman" panose="02020603050405020304" pitchFamily="18" charset="0"/>
            </a:endParaRPr>
          </a:p>
          <a:p>
            <a:endParaRPr lang="en-US" altLang="hi-IN" sz="2400" b="1" i="1">
              <a:latin typeface="Times New Roman" panose="02020603050405020304" pitchFamily="18" charset="0"/>
            </a:endParaRPr>
          </a:p>
        </p:txBody>
      </p:sp>
      <p:sp>
        <p:nvSpPr>
          <p:cNvPr id="113674" name="Text Box 12"/>
          <p:cNvSpPr txBox="1">
            <a:spLocks noChangeArrowheads="1"/>
          </p:cNvSpPr>
          <p:nvPr/>
        </p:nvSpPr>
        <p:spPr bwMode="auto">
          <a:xfrm>
            <a:off x="2687638" y="687388"/>
            <a:ext cx="16891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r>
              <a:rPr lang="en-US" altLang="hi-IN" sz="3200" b="1" i="1">
                <a:solidFill>
                  <a:srgbClr val="FF0000"/>
                </a:solidFill>
                <a:latin typeface="Times New Roman" panose="02020603050405020304" pitchFamily="18" charset="0"/>
              </a:rPr>
              <a:t>Example</a:t>
            </a:r>
            <a:endParaRPr lang="en-US" altLang="hi-IN" sz="3200" b="1" i="1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2" name="Picture 4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3716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49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5600" y="88108"/>
            <a:ext cx="1563688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Rectangle 2"/>
          <p:cNvSpPr>
            <a:spLocks noChangeArrowheads="1"/>
          </p:cNvSpPr>
          <p:nvPr/>
        </p:nvSpPr>
        <p:spPr bwMode="ltGray">
          <a:xfrm>
            <a:off x="1890713" y="350838"/>
            <a:ext cx="438150" cy="474662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pPr algn="ctr" eaLnBrk="1" hangingPunct="1"/>
            <a:endParaRPr kumimoji="1" lang="hi-IN" altLang="hi-IN" sz="2400">
              <a:latin typeface="Tahoma" panose="020B0604030504040204" pitchFamily="34" charset="0"/>
            </a:endParaRPr>
          </a:p>
        </p:txBody>
      </p:sp>
      <p:sp>
        <p:nvSpPr>
          <p:cNvPr id="115715" name="Rectangle 3"/>
          <p:cNvSpPr>
            <a:spLocks noChangeArrowheads="1"/>
          </p:cNvSpPr>
          <p:nvPr/>
        </p:nvSpPr>
        <p:spPr bwMode="ltGray">
          <a:xfrm>
            <a:off x="2273301" y="350838"/>
            <a:ext cx="328613" cy="474662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pPr algn="ctr" eaLnBrk="1" hangingPunct="1"/>
            <a:endParaRPr kumimoji="1" lang="hi-IN" altLang="hi-IN" sz="2400">
              <a:latin typeface="Tahoma" panose="020B0604030504040204" pitchFamily="34" charset="0"/>
            </a:endParaRPr>
          </a:p>
        </p:txBody>
      </p:sp>
      <p:grpSp>
        <p:nvGrpSpPr>
          <p:cNvPr id="115716" name="Group 4"/>
          <p:cNvGrpSpPr/>
          <p:nvPr/>
        </p:nvGrpSpPr>
        <p:grpSpPr bwMode="auto">
          <a:xfrm>
            <a:off x="2014539" y="773113"/>
            <a:ext cx="738187" cy="474662"/>
            <a:chOff x="309" y="487"/>
            <a:chExt cx="465" cy="299"/>
          </a:xfrm>
        </p:grpSpPr>
        <p:sp>
          <p:nvSpPr>
            <p:cNvPr id="115723" name="Rectangle 5"/>
            <p:cNvSpPr>
              <a:spLocks noChangeArrowheads="1"/>
            </p:cNvSpPr>
            <p:nvPr/>
          </p:nvSpPr>
          <p:spPr bwMode="ltGray">
            <a:xfrm>
              <a:off x="309" y="487"/>
              <a:ext cx="266" cy="299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Lucida Sans Unicode" panose="020B0602030504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Lucida Sans Unicode" panose="020B0602030504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Lucida Sans Unicode" panose="020B0602030504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Lucida Sans Unicode" panose="020B0602030504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Lucida Sans Unicode" panose="020B0602030504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Lucida Sans Unicode" panose="020B0602030504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Lucida Sans Unicode" panose="020B0602030504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Lucida Sans Unicode" panose="020B0602030504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Lucida Sans Unicode" panose="020B0602030504020204" pitchFamily="34" charset="0"/>
                </a:defRPr>
              </a:lvl9pPr>
            </a:lstStyle>
            <a:p>
              <a:pPr algn="ctr" eaLnBrk="1" hangingPunct="1"/>
              <a:endParaRPr kumimoji="1" lang="hi-IN" altLang="hi-IN" sz="2400">
                <a:latin typeface="Tahoma" panose="020B0604030504040204" pitchFamily="34" charset="0"/>
              </a:endParaRPr>
            </a:p>
          </p:txBody>
        </p:sp>
        <p:sp>
          <p:nvSpPr>
            <p:cNvPr id="115724" name="Rectangle 6"/>
            <p:cNvSpPr>
              <a:spLocks noChangeArrowheads="1"/>
            </p:cNvSpPr>
            <p:nvPr/>
          </p:nvSpPr>
          <p:spPr bwMode="ltGray">
            <a:xfrm>
              <a:off x="542" y="487"/>
              <a:ext cx="232" cy="299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Lucida Sans Unicode" panose="020B0602030504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Lucida Sans Unicode" panose="020B0602030504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Lucida Sans Unicode" panose="020B0602030504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Lucida Sans Unicode" panose="020B0602030504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Lucida Sans Unicode" panose="020B0602030504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Lucida Sans Unicode" panose="020B0602030504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Lucida Sans Unicode" panose="020B0602030504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Lucida Sans Unicode" panose="020B0602030504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Lucida Sans Unicode" panose="020B0602030504020204" pitchFamily="34" charset="0"/>
                </a:defRPr>
              </a:lvl9pPr>
            </a:lstStyle>
            <a:p>
              <a:pPr algn="ctr" eaLnBrk="1" hangingPunct="1"/>
              <a:endParaRPr kumimoji="1" lang="hi-IN" altLang="hi-IN" sz="2400">
                <a:latin typeface="Tahoma" panose="020B0604030504040204" pitchFamily="34" charset="0"/>
              </a:endParaRPr>
            </a:p>
          </p:txBody>
        </p:sp>
      </p:grpSp>
      <p:sp>
        <p:nvSpPr>
          <p:cNvPr id="115717" name="Rectangle 7"/>
          <p:cNvSpPr>
            <a:spLocks noChangeArrowheads="1"/>
          </p:cNvSpPr>
          <p:nvPr/>
        </p:nvSpPr>
        <p:spPr bwMode="ltGray">
          <a:xfrm>
            <a:off x="1600200" y="700089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pPr algn="ctr" eaLnBrk="1" hangingPunct="1"/>
            <a:endParaRPr kumimoji="1" lang="hi-IN" altLang="hi-IN" sz="2400">
              <a:latin typeface="Tahoma" panose="020B0604030504040204" pitchFamily="34" charset="0"/>
            </a:endParaRPr>
          </a:p>
        </p:txBody>
      </p:sp>
      <p:sp>
        <p:nvSpPr>
          <p:cNvPr id="115718" name="Rectangle 8"/>
          <p:cNvSpPr>
            <a:spLocks noChangeArrowheads="1"/>
          </p:cNvSpPr>
          <p:nvPr/>
        </p:nvSpPr>
        <p:spPr bwMode="gray">
          <a:xfrm>
            <a:off x="2235200" y="242888"/>
            <a:ext cx="31750" cy="1052512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pPr algn="ctr" eaLnBrk="1" hangingPunct="1"/>
            <a:endParaRPr kumimoji="1" lang="hi-IN" altLang="hi-IN" sz="2400">
              <a:latin typeface="Tahoma" panose="020B0604030504040204" pitchFamily="34" charset="0"/>
            </a:endParaRPr>
          </a:p>
        </p:txBody>
      </p:sp>
      <p:sp>
        <p:nvSpPr>
          <p:cNvPr id="115719" name="Rectangle 9"/>
          <p:cNvSpPr>
            <a:spLocks noChangeArrowheads="1"/>
          </p:cNvSpPr>
          <p:nvPr/>
        </p:nvSpPr>
        <p:spPr bwMode="gray">
          <a:xfrm>
            <a:off x="1966914" y="773113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pPr algn="ctr" eaLnBrk="1" hangingPunct="1"/>
            <a:endParaRPr kumimoji="1" lang="hi-IN" altLang="hi-IN" sz="2400">
              <a:latin typeface="Tahoma" panose="020B0604030504040204" pitchFamily="34" charset="0"/>
            </a:endParaRPr>
          </a:p>
        </p:txBody>
      </p:sp>
      <p:sp>
        <p:nvSpPr>
          <p:cNvPr id="115720" name="Rectangle 10"/>
          <p:cNvSpPr>
            <a:spLocks noChangeArrowheads="1"/>
          </p:cNvSpPr>
          <p:nvPr/>
        </p:nvSpPr>
        <p:spPr bwMode="auto">
          <a:xfrm>
            <a:off x="1676400" y="1447800"/>
            <a:ext cx="8839200" cy="381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endParaRPr lang="hi-IN" altLang="en-US" sz="2800" b="1" i="1" baseline="-18000">
              <a:latin typeface="Times New Roman" panose="02020603050405020304" pitchFamily="18" charset="0"/>
            </a:endParaRPr>
          </a:p>
        </p:txBody>
      </p:sp>
      <p:sp>
        <p:nvSpPr>
          <p:cNvPr id="234505" name="Rectangle 11"/>
          <p:cNvSpPr>
            <a:spLocks noChangeArrowheads="1"/>
          </p:cNvSpPr>
          <p:nvPr/>
        </p:nvSpPr>
        <p:spPr bwMode="auto">
          <a:xfrm>
            <a:off x="1905000" y="1214439"/>
            <a:ext cx="8763000" cy="3108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pPr marL="457200" indent="-457200" algn="just">
              <a:buFont typeface="Arial" panose="020B0604020202020204" pitchFamily="34" charset="0"/>
              <a:buChar char="•"/>
              <a:defRPr/>
            </a:pPr>
            <a:r>
              <a:rPr lang="en-US" altLang="hi-IN" sz="2800" b="1" i="1" dirty="0">
                <a:latin typeface="Times New Roman" panose="02020603050405020304" pitchFamily="18" charset="0"/>
              </a:rPr>
              <a:t>We have a low-pass channel with bandwidth 100 kHz.</a:t>
            </a:r>
            <a:endParaRPr lang="en-US" altLang="hi-IN" sz="2800" b="1" i="1" dirty="0">
              <a:latin typeface="Times New Roman" panose="02020603050405020304" pitchFamily="18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  <a:defRPr/>
            </a:pPr>
            <a:endParaRPr lang="en-US" altLang="hi-IN" sz="2800" b="1" i="1" dirty="0">
              <a:latin typeface="Times New Roman" panose="02020603050405020304" pitchFamily="18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  <a:defRPr/>
            </a:pPr>
            <a:r>
              <a:rPr lang="en-US" altLang="hi-IN" sz="2800" b="1" i="1" dirty="0">
                <a:latin typeface="Times New Roman" panose="02020603050405020304" pitchFamily="18" charset="0"/>
              </a:rPr>
              <a:t>What is the maximum bit rate of this channel?</a:t>
            </a:r>
            <a:br>
              <a:rPr lang="en-US" altLang="hi-IN" sz="2800" b="1" i="1" dirty="0">
                <a:latin typeface="Times New Roman" panose="02020603050405020304" pitchFamily="18" charset="0"/>
              </a:rPr>
            </a:br>
            <a:endParaRPr lang="en-US" altLang="hi-IN" sz="2800" b="1" i="1" dirty="0">
              <a:latin typeface="Times New Roman" panose="02020603050405020304" pitchFamily="18" charset="0"/>
            </a:endParaRPr>
          </a:p>
          <a:p>
            <a:pPr marL="514350" indent="-514350" algn="just">
              <a:buFontTx/>
              <a:buAutoNum type="alphaLcParenR"/>
              <a:defRPr/>
            </a:pPr>
            <a:r>
              <a:rPr lang="en-US" altLang="hi-IN" sz="2800" b="1" i="1" dirty="0">
                <a:latin typeface="Times New Roman" panose="02020603050405020304" pitchFamily="18" charset="0"/>
              </a:rPr>
              <a:t>100 kbps</a:t>
            </a:r>
            <a:endParaRPr lang="en-US" altLang="hi-IN" sz="2800" b="1" i="1" dirty="0">
              <a:latin typeface="Times New Roman" panose="02020603050405020304" pitchFamily="18" charset="0"/>
            </a:endParaRPr>
          </a:p>
          <a:p>
            <a:pPr marL="514350" indent="-514350" algn="just">
              <a:buFontTx/>
              <a:buAutoNum type="alphaLcParenR"/>
              <a:defRPr/>
            </a:pPr>
            <a:r>
              <a:rPr lang="en-US" altLang="hi-IN" sz="2800" b="1" i="1" dirty="0">
                <a:latin typeface="Times New Roman" panose="02020603050405020304" pitchFamily="18" charset="0"/>
              </a:rPr>
              <a:t>200 kbps</a:t>
            </a:r>
            <a:endParaRPr lang="en-US" altLang="hi-IN" sz="2800" b="1" i="1" dirty="0">
              <a:latin typeface="Times New Roman" panose="02020603050405020304" pitchFamily="18" charset="0"/>
            </a:endParaRPr>
          </a:p>
          <a:p>
            <a:pPr marL="514350" indent="-514350" algn="just">
              <a:buFontTx/>
              <a:buAutoNum type="alphaLcParenR"/>
              <a:defRPr/>
            </a:pPr>
            <a:r>
              <a:rPr lang="en-US" altLang="hi-IN" sz="2800" b="1" i="1" dirty="0">
                <a:latin typeface="Times New Roman" panose="02020603050405020304" pitchFamily="18" charset="0"/>
              </a:rPr>
              <a:t>400 kbps</a:t>
            </a:r>
            <a:endParaRPr lang="en-US" altLang="hi-IN" sz="2800" b="1" i="1" dirty="0">
              <a:latin typeface="Times New Roman" panose="02020603050405020304" pitchFamily="18" charset="0"/>
            </a:endParaRPr>
          </a:p>
        </p:txBody>
      </p:sp>
      <p:sp>
        <p:nvSpPr>
          <p:cNvPr id="115722" name="Text Box 12"/>
          <p:cNvSpPr txBox="1">
            <a:spLocks noChangeArrowheads="1"/>
          </p:cNvSpPr>
          <p:nvPr/>
        </p:nvSpPr>
        <p:spPr bwMode="auto">
          <a:xfrm>
            <a:off x="2743200" y="744538"/>
            <a:ext cx="16891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r>
              <a:rPr lang="en-US" altLang="hi-IN" sz="3200" b="1" i="1">
                <a:solidFill>
                  <a:srgbClr val="FF0000"/>
                </a:solidFill>
                <a:latin typeface="Times New Roman" panose="02020603050405020304" pitchFamily="18" charset="0"/>
              </a:rPr>
              <a:t>Example</a:t>
            </a:r>
            <a:endParaRPr lang="en-US" altLang="hi-IN" sz="3200" b="1" i="1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2" name="Picture 4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3716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49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5600" y="88108"/>
            <a:ext cx="1563688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Line 2"/>
          <p:cNvSpPr>
            <a:spLocks noChangeShapeType="1"/>
          </p:cNvSpPr>
          <p:nvPr/>
        </p:nvSpPr>
        <p:spPr bwMode="auto">
          <a:xfrm>
            <a:off x="1676400" y="152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17763" name="Line 3"/>
          <p:cNvSpPr>
            <a:spLocks noChangeShapeType="1"/>
          </p:cNvSpPr>
          <p:nvPr/>
        </p:nvSpPr>
        <p:spPr bwMode="auto">
          <a:xfrm>
            <a:off x="1676400" y="990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17764" name="Text Box 4"/>
          <p:cNvSpPr txBox="1">
            <a:spLocks noChangeArrowheads="1"/>
          </p:cNvSpPr>
          <p:nvPr/>
        </p:nvSpPr>
        <p:spPr bwMode="auto">
          <a:xfrm>
            <a:off x="1828800" y="873126"/>
            <a:ext cx="72644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r>
              <a:rPr lang="en-US" altLang="hi-IN" sz="2400" b="1">
                <a:solidFill>
                  <a:srgbClr val="FF0000"/>
                </a:solidFill>
                <a:latin typeface="Times New Roman" panose="02020603050405020304" pitchFamily="18" charset="0"/>
              </a:rPr>
              <a:t>Broadband Transmission</a:t>
            </a:r>
            <a:r>
              <a:rPr lang="en-US" altLang="hi-IN" sz="2400" b="1">
                <a:solidFill>
                  <a:schemeClr val="folHlink"/>
                </a:solidFill>
                <a:latin typeface="Times New Roman" panose="02020603050405020304" pitchFamily="18" charset="0"/>
              </a:rPr>
              <a:t>: </a:t>
            </a:r>
            <a:r>
              <a:rPr lang="en-US" altLang="hi-IN" sz="2000" b="1" i="1">
                <a:latin typeface="Times New Roman" panose="02020603050405020304" pitchFamily="18" charset="0"/>
              </a:rPr>
              <a:t>Bandwidth of a bandpass channel</a:t>
            </a:r>
            <a:endParaRPr lang="en-US" altLang="hi-IN" sz="2000" b="1" i="1">
              <a:latin typeface="Times New Roman" panose="02020603050405020304" pitchFamily="18" charset="0"/>
            </a:endParaRPr>
          </a:p>
        </p:txBody>
      </p:sp>
      <p:sp>
        <p:nvSpPr>
          <p:cNvPr id="117765" name="Line 5"/>
          <p:cNvSpPr>
            <a:spLocks noChangeShapeType="1"/>
          </p:cNvSpPr>
          <p:nvPr/>
        </p:nvSpPr>
        <p:spPr bwMode="auto">
          <a:xfrm>
            <a:off x="1676400" y="63246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pic>
        <p:nvPicPr>
          <p:cNvPr id="117766" name="Picture 6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3601" y="2590801"/>
            <a:ext cx="7897813" cy="1839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3716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49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5600" y="88108"/>
            <a:ext cx="1563688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147255000"/>
    </mc:Choice>
    <mc:Fallback>
      <p:transition spd="slow" advClick="0" advTm="2147255000"/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1" name="Content Placeholder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altLang="hi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the available channel is a bandpass channel:</a:t>
            </a:r>
            <a:endParaRPr lang="en-US" altLang="hi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 algn="just">
              <a:buNone/>
            </a:pPr>
            <a:r>
              <a:rPr lang="en-US" altLang="hi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Cannot send the digital signal directly to the channel</a:t>
            </a:r>
            <a:endParaRPr lang="en-US" altLang="hi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altLang="hi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altLang="hi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Need to convert:</a:t>
            </a:r>
            <a:endParaRPr lang="en-US" altLang="hi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altLang="hi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Digital signal to an analog signal before transmission.</a:t>
            </a:r>
            <a:endParaRPr lang="en-US" altLang="hi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4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3716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49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5600" y="88108"/>
            <a:ext cx="1563688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147255000"/>
    </mc:Choice>
    <mc:Fallback>
      <p:transition spd="slow" advClick="0" advTm="2147255000"/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Line 2"/>
          <p:cNvSpPr>
            <a:spLocks noChangeShapeType="1"/>
          </p:cNvSpPr>
          <p:nvPr/>
        </p:nvSpPr>
        <p:spPr bwMode="auto">
          <a:xfrm>
            <a:off x="1676400" y="152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20835" name="Line 3"/>
          <p:cNvSpPr>
            <a:spLocks noChangeShapeType="1"/>
          </p:cNvSpPr>
          <p:nvPr/>
        </p:nvSpPr>
        <p:spPr bwMode="auto">
          <a:xfrm>
            <a:off x="1676400" y="990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20836" name="Text Box 4"/>
          <p:cNvSpPr txBox="1">
            <a:spLocks noChangeArrowheads="1"/>
          </p:cNvSpPr>
          <p:nvPr/>
        </p:nvSpPr>
        <p:spPr bwMode="auto">
          <a:xfrm>
            <a:off x="1828801" y="152400"/>
            <a:ext cx="7851775" cy="769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r>
              <a:rPr lang="en-US" altLang="hi-IN" sz="2400" b="1">
                <a:solidFill>
                  <a:schemeClr val="folHlink"/>
                </a:solidFill>
                <a:latin typeface="Times New Roman" panose="02020603050405020304" pitchFamily="18" charset="0"/>
              </a:rPr>
              <a:t>Figure   </a:t>
            </a:r>
            <a:r>
              <a:rPr lang="en-US" altLang="hi-IN" sz="2000" b="1" i="1">
                <a:latin typeface="Times New Roman" panose="02020603050405020304" pitchFamily="18" charset="0"/>
              </a:rPr>
              <a:t>Modulation of a digital signal for transmission on a bandpass </a:t>
            </a:r>
            <a:br>
              <a:rPr lang="en-US" altLang="hi-IN" sz="2000" b="1" i="1">
                <a:latin typeface="Times New Roman" panose="02020603050405020304" pitchFamily="18" charset="0"/>
              </a:rPr>
            </a:br>
            <a:r>
              <a:rPr lang="en-US" altLang="hi-IN" sz="2000" b="1" i="1">
                <a:latin typeface="Times New Roman" panose="02020603050405020304" pitchFamily="18" charset="0"/>
              </a:rPr>
              <a:t>                          channel</a:t>
            </a:r>
            <a:endParaRPr lang="en-US" altLang="hi-IN" sz="2000" b="1" i="1">
              <a:latin typeface="Times New Roman" panose="02020603050405020304" pitchFamily="18" charset="0"/>
            </a:endParaRPr>
          </a:p>
        </p:txBody>
      </p:sp>
      <p:sp>
        <p:nvSpPr>
          <p:cNvPr id="120837" name="Line 5"/>
          <p:cNvSpPr>
            <a:spLocks noChangeShapeType="1"/>
          </p:cNvSpPr>
          <p:nvPr/>
        </p:nvSpPr>
        <p:spPr bwMode="auto">
          <a:xfrm>
            <a:off x="1676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pic>
        <p:nvPicPr>
          <p:cNvPr id="120838" name="Picture 6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5776" y="1633538"/>
            <a:ext cx="8683625" cy="4310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3716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49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5600" y="88108"/>
            <a:ext cx="1563688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147255000"/>
    </mc:Choice>
    <mc:Fallback>
      <p:transition spd="slow" advClick="0" advTm="2147255000"/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Rectangle 2"/>
          <p:cNvSpPr>
            <a:spLocks noChangeArrowheads="1"/>
          </p:cNvSpPr>
          <p:nvPr/>
        </p:nvSpPr>
        <p:spPr bwMode="ltGray">
          <a:xfrm>
            <a:off x="1890713" y="350838"/>
            <a:ext cx="438150" cy="474662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pPr algn="ctr" eaLnBrk="1" hangingPunct="1"/>
            <a:endParaRPr kumimoji="1" lang="hi-IN" altLang="hi-IN" sz="2400">
              <a:latin typeface="Tahoma" panose="020B0604030504040204" pitchFamily="34" charset="0"/>
            </a:endParaRPr>
          </a:p>
        </p:txBody>
      </p:sp>
      <p:sp>
        <p:nvSpPr>
          <p:cNvPr id="122883" name="Rectangle 3"/>
          <p:cNvSpPr>
            <a:spLocks noChangeArrowheads="1"/>
          </p:cNvSpPr>
          <p:nvPr/>
        </p:nvSpPr>
        <p:spPr bwMode="ltGray">
          <a:xfrm>
            <a:off x="2273301" y="350838"/>
            <a:ext cx="328613" cy="474662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pPr algn="ctr" eaLnBrk="1" hangingPunct="1"/>
            <a:endParaRPr kumimoji="1" lang="hi-IN" altLang="hi-IN" sz="2400">
              <a:latin typeface="Tahoma" panose="020B0604030504040204" pitchFamily="34" charset="0"/>
            </a:endParaRPr>
          </a:p>
        </p:txBody>
      </p:sp>
      <p:grpSp>
        <p:nvGrpSpPr>
          <p:cNvPr id="122884" name="Group 4"/>
          <p:cNvGrpSpPr/>
          <p:nvPr/>
        </p:nvGrpSpPr>
        <p:grpSpPr bwMode="auto">
          <a:xfrm>
            <a:off x="2014539" y="773113"/>
            <a:ext cx="738187" cy="474662"/>
            <a:chOff x="309" y="487"/>
            <a:chExt cx="465" cy="299"/>
          </a:xfrm>
        </p:grpSpPr>
        <p:sp>
          <p:nvSpPr>
            <p:cNvPr id="122891" name="Rectangle 5"/>
            <p:cNvSpPr>
              <a:spLocks noChangeArrowheads="1"/>
            </p:cNvSpPr>
            <p:nvPr/>
          </p:nvSpPr>
          <p:spPr bwMode="ltGray">
            <a:xfrm>
              <a:off x="309" y="487"/>
              <a:ext cx="266" cy="299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Lucida Sans Unicode" panose="020B0602030504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Lucida Sans Unicode" panose="020B0602030504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Lucida Sans Unicode" panose="020B0602030504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Lucida Sans Unicode" panose="020B0602030504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Lucida Sans Unicode" panose="020B0602030504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Lucida Sans Unicode" panose="020B0602030504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Lucida Sans Unicode" panose="020B0602030504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Lucida Sans Unicode" panose="020B0602030504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Lucida Sans Unicode" panose="020B0602030504020204" pitchFamily="34" charset="0"/>
                </a:defRPr>
              </a:lvl9pPr>
            </a:lstStyle>
            <a:p>
              <a:pPr algn="ctr" eaLnBrk="1" hangingPunct="1"/>
              <a:endParaRPr kumimoji="1" lang="hi-IN" altLang="hi-IN" sz="2400">
                <a:latin typeface="Tahoma" panose="020B0604030504040204" pitchFamily="34" charset="0"/>
              </a:endParaRPr>
            </a:p>
          </p:txBody>
        </p:sp>
        <p:sp>
          <p:nvSpPr>
            <p:cNvPr id="122892" name="Rectangle 6"/>
            <p:cNvSpPr>
              <a:spLocks noChangeArrowheads="1"/>
            </p:cNvSpPr>
            <p:nvPr/>
          </p:nvSpPr>
          <p:spPr bwMode="ltGray">
            <a:xfrm>
              <a:off x="542" y="487"/>
              <a:ext cx="232" cy="299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Lucida Sans Unicode" panose="020B0602030504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Lucida Sans Unicode" panose="020B0602030504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Lucida Sans Unicode" panose="020B0602030504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Lucida Sans Unicode" panose="020B0602030504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Lucida Sans Unicode" panose="020B0602030504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Lucida Sans Unicode" panose="020B0602030504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Lucida Sans Unicode" panose="020B0602030504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Lucida Sans Unicode" panose="020B0602030504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Lucida Sans Unicode" panose="020B0602030504020204" pitchFamily="34" charset="0"/>
                </a:defRPr>
              </a:lvl9pPr>
            </a:lstStyle>
            <a:p>
              <a:pPr algn="ctr" eaLnBrk="1" hangingPunct="1"/>
              <a:endParaRPr kumimoji="1" lang="hi-IN" altLang="hi-IN" sz="2400">
                <a:latin typeface="Tahoma" panose="020B0604030504040204" pitchFamily="34" charset="0"/>
              </a:endParaRPr>
            </a:p>
          </p:txBody>
        </p:sp>
      </p:grpSp>
      <p:sp>
        <p:nvSpPr>
          <p:cNvPr id="122885" name="Rectangle 7"/>
          <p:cNvSpPr>
            <a:spLocks noChangeArrowheads="1"/>
          </p:cNvSpPr>
          <p:nvPr/>
        </p:nvSpPr>
        <p:spPr bwMode="ltGray">
          <a:xfrm>
            <a:off x="1600200" y="700089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pPr algn="ctr" eaLnBrk="1" hangingPunct="1"/>
            <a:endParaRPr kumimoji="1" lang="hi-IN" altLang="hi-IN" sz="2400">
              <a:latin typeface="Tahoma" panose="020B0604030504040204" pitchFamily="34" charset="0"/>
            </a:endParaRPr>
          </a:p>
        </p:txBody>
      </p:sp>
      <p:sp>
        <p:nvSpPr>
          <p:cNvPr id="122886" name="Rectangle 8"/>
          <p:cNvSpPr>
            <a:spLocks noChangeArrowheads="1"/>
          </p:cNvSpPr>
          <p:nvPr/>
        </p:nvSpPr>
        <p:spPr bwMode="gray">
          <a:xfrm>
            <a:off x="2235200" y="242888"/>
            <a:ext cx="31750" cy="1052512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pPr algn="ctr" eaLnBrk="1" hangingPunct="1"/>
            <a:endParaRPr kumimoji="1" lang="hi-IN" altLang="hi-IN" sz="2400">
              <a:latin typeface="Tahoma" panose="020B0604030504040204" pitchFamily="34" charset="0"/>
            </a:endParaRPr>
          </a:p>
        </p:txBody>
      </p:sp>
      <p:sp>
        <p:nvSpPr>
          <p:cNvPr id="122887" name="Rectangle 9"/>
          <p:cNvSpPr>
            <a:spLocks noChangeArrowheads="1"/>
          </p:cNvSpPr>
          <p:nvPr/>
        </p:nvSpPr>
        <p:spPr bwMode="gray">
          <a:xfrm>
            <a:off x="1966914" y="773113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pPr algn="ctr" eaLnBrk="1" hangingPunct="1"/>
            <a:endParaRPr kumimoji="1" lang="hi-IN" altLang="hi-IN" sz="2400">
              <a:latin typeface="Tahoma" panose="020B0604030504040204" pitchFamily="34" charset="0"/>
            </a:endParaRPr>
          </a:p>
        </p:txBody>
      </p:sp>
      <p:sp>
        <p:nvSpPr>
          <p:cNvPr id="122888" name="Rectangle 10"/>
          <p:cNvSpPr>
            <a:spLocks noChangeArrowheads="1"/>
          </p:cNvSpPr>
          <p:nvPr/>
        </p:nvSpPr>
        <p:spPr bwMode="auto">
          <a:xfrm>
            <a:off x="1676400" y="1447800"/>
            <a:ext cx="8839200" cy="381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endParaRPr lang="hi-IN" altLang="en-US" sz="2800" b="1" i="1" baseline="-18000">
              <a:latin typeface="Times New Roman" panose="02020603050405020304" pitchFamily="18" charset="0"/>
            </a:endParaRPr>
          </a:p>
        </p:txBody>
      </p:sp>
      <p:sp>
        <p:nvSpPr>
          <p:cNvPr id="139273" name="Rectangle 11"/>
          <p:cNvSpPr>
            <a:spLocks noChangeArrowheads="1"/>
          </p:cNvSpPr>
          <p:nvPr/>
        </p:nvSpPr>
        <p:spPr bwMode="auto">
          <a:xfrm>
            <a:off x="1724025" y="1670050"/>
            <a:ext cx="8534400" cy="1570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pPr marL="457200" indent="-457200" algn="just">
              <a:buFont typeface="Arial" panose="020B0604020202020204" pitchFamily="34" charset="0"/>
              <a:buChar char="•"/>
              <a:defRPr/>
            </a:pPr>
            <a:r>
              <a:rPr lang="en-US" altLang="hi-IN" sz="2400" b="1" i="1" dirty="0">
                <a:latin typeface="Times New Roman" panose="02020603050405020304" pitchFamily="18" charset="0"/>
              </a:rPr>
              <a:t>An example of broadband transmission using modulation is </a:t>
            </a:r>
            <a:endParaRPr lang="en-US" altLang="hi-IN" sz="2400" b="1" i="1" dirty="0">
              <a:latin typeface="Times New Roman" panose="02020603050405020304" pitchFamily="18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  <a:defRPr/>
            </a:pPr>
            <a:endParaRPr lang="en-US" altLang="hi-IN" sz="2400" b="1" i="1" dirty="0">
              <a:latin typeface="Times New Roman" panose="02020603050405020304" pitchFamily="18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  <a:defRPr/>
            </a:pPr>
            <a:r>
              <a:rPr lang="en-US" altLang="hi-IN" sz="2400" b="1" i="1" dirty="0">
                <a:latin typeface="Times New Roman" panose="02020603050405020304" pitchFamily="18" charset="0"/>
              </a:rPr>
              <a:t>Sending of computer data through a telephone subscriber line</a:t>
            </a:r>
            <a:endParaRPr lang="en-US" altLang="hi-IN" sz="2400" b="1" i="1" dirty="0">
              <a:latin typeface="Times New Roman" panose="02020603050405020304" pitchFamily="18" charset="0"/>
            </a:endParaRPr>
          </a:p>
          <a:p>
            <a:pPr algn="just">
              <a:defRPr/>
            </a:pPr>
            <a:endParaRPr lang="en-US" altLang="hi-IN" sz="2400" b="1" i="1" dirty="0">
              <a:latin typeface="Times New Roman" panose="02020603050405020304" pitchFamily="18" charset="0"/>
            </a:endParaRPr>
          </a:p>
        </p:txBody>
      </p:sp>
      <p:sp>
        <p:nvSpPr>
          <p:cNvPr id="122890" name="Text Box 12"/>
          <p:cNvSpPr txBox="1">
            <a:spLocks noChangeArrowheads="1"/>
          </p:cNvSpPr>
          <p:nvPr/>
        </p:nvSpPr>
        <p:spPr bwMode="auto">
          <a:xfrm>
            <a:off x="2719388" y="769938"/>
            <a:ext cx="16891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r>
              <a:rPr lang="en-US" altLang="hi-IN" sz="3200" b="1" i="1">
                <a:solidFill>
                  <a:srgbClr val="C00000"/>
                </a:solidFill>
                <a:latin typeface="Times New Roman" panose="02020603050405020304" pitchFamily="18" charset="0"/>
              </a:rPr>
              <a:t>Example</a:t>
            </a:r>
            <a:endParaRPr lang="en-US" altLang="hi-IN" sz="3200" b="1" i="1">
              <a:solidFill>
                <a:srgbClr val="C00000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2" name="Picture 4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3716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49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5600" y="88108"/>
            <a:ext cx="1563688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147255000"/>
    </mc:Choice>
    <mc:Fallback>
      <p:transition spd="slow" advClick="0" advTm="2147255000"/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255521" y="875841"/>
            <a:ext cx="7479933" cy="15696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🌊 Oh no! To cross this river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(and save your data from leaking 💦), 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match the tech-terms with their true powers!</a:t>
            </a:r>
            <a:endParaRPr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145352" y="3429000"/>
            <a:ext cx="1646605" cy="1477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🔹 Column A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- Bit rate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- Bit length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- Digital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- Baseband BW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096000" y="3429000"/>
            <a:ext cx="4365298" cy="1477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🔹 Column B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- Speed of bits in 1s 🕐💨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- Space each bit takes 🛏️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- Goes on forever like bedtime stories 📖♾️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- Grows with bit speed 🚀📶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4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3716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49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5600" y="88108"/>
            <a:ext cx="1563688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425688" y="1056199"/>
            <a:ext cx="5705061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🚣‍♂️ Another river! 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time it's filled with sine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waves and spikes. 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Match the terms to stay dry!</a:t>
            </a:r>
            <a:endParaRPr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346961" y="3429000"/>
            <a:ext cx="1888659" cy="19389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dirty="0"/>
              <a:t>🔹 Column A</a:t>
            </a:r>
            <a:endParaRPr sz="2400" dirty="0"/>
          </a:p>
          <a:p>
            <a:r>
              <a:rPr sz="2400" dirty="0"/>
              <a:t>- Fourier</a:t>
            </a:r>
            <a:endParaRPr sz="2400" dirty="0"/>
          </a:p>
          <a:p>
            <a:r>
              <a:rPr sz="2400" dirty="0"/>
              <a:t>- Composite</a:t>
            </a:r>
            <a:endParaRPr sz="2400" dirty="0"/>
          </a:p>
          <a:p>
            <a:r>
              <a:rPr sz="2400" dirty="0"/>
              <a:t>- Freq. Dom</a:t>
            </a:r>
            <a:endParaRPr sz="2400" dirty="0"/>
          </a:p>
          <a:p>
            <a:r>
              <a:rPr sz="2400" dirty="0"/>
              <a:t>- Bandwidth</a:t>
            </a:r>
            <a:endParaRPr sz="2400" dirty="0"/>
          </a:p>
        </p:txBody>
      </p:sp>
      <p:sp>
        <p:nvSpPr>
          <p:cNvPr id="5" name="TextBox 4"/>
          <p:cNvSpPr txBox="1"/>
          <p:nvPr/>
        </p:nvSpPr>
        <p:spPr>
          <a:xfrm>
            <a:off x="6083092" y="3438939"/>
            <a:ext cx="4584909" cy="19389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dirty="0"/>
              <a:t>🔹 Column B</a:t>
            </a:r>
            <a:endParaRPr sz="2400" dirty="0"/>
          </a:p>
          <a:p>
            <a:r>
              <a:rPr sz="2400" dirty="0"/>
              <a:t>- Turns waves into tiny beats 🎧</a:t>
            </a:r>
            <a:endParaRPr sz="2400" dirty="0"/>
          </a:p>
          <a:p>
            <a:r>
              <a:rPr sz="2400" dirty="0"/>
              <a:t>- Group of wave friends 🎊</a:t>
            </a:r>
            <a:endParaRPr sz="2400" dirty="0"/>
          </a:p>
          <a:p>
            <a:r>
              <a:rPr sz="2400" dirty="0"/>
              <a:t>- Spiky signal spectrum 🌊📊</a:t>
            </a:r>
            <a:endParaRPr sz="2400" dirty="0"/>
          </a:p>
          <a:p>
            <a:r>
              <a:rPr sz="2400" dirty="0"/>
              <a:t>- Highest minus lowest note 🎼📏</a:t>
            </a:r>
            <a:endParaRPr sz="2400" dirty="0"/>
          </a:p>
        </p:txBody>
      </p:sp>
      <p:pic>
        <p:nvPicPr>
          <p:cNvPr id="2" name="Picture 4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3716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49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5600" y="88108"/>
            <a:ext cx="1563688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5111</Words>
  <Application>WPS Presentation</Application>
  <PresentationFormat>Widescreen</PresentationFormat>
  <Paragraphs>235</Paragraphs>
  <Slides>42</Slides>
  <Notes>32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42</vt:i4>
      </vt:variant>
    </vt:vector>
  </HeadingPairs>
  <TitlesOfParts>
    <vt:vector size="57" baseType="lpstr">
      <vt:lpstr>Arial</vt:lpstr>
      <vt:lpstr>SimSun</vt:lpstr>
      <vt:lpstr>Wingdings</vt:lpstr>
      <vt:lpstr>Lucida Sans Unicode</vt:lpstr>
      <vt:lpstr>Times New Roman</vt:lpstr>
      <vt:lpstr>Mangal</vt:lpstr>
      <vt:lpstr>Tahoma</vt:lpstr>
      <vt:lpstr>Calibri</vt:lpstr>
      <vt:lpstr>Microsoft YaHei</vt:lpstr>
      <vt:lpstr>Nirmala UI</vt:lpstr>
      <vt:lpstr>Arial Unicode MS</vt:lpstr>
      <vt:lpstr>Calibri Light</vt:lpstr>
      <vt:lpstr>Times</vt:lpstr>
      <vt:lpstr>Segoe Print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Bit Rate</vt:lpstr>
      <vt:lpstr>PowerPoint 演示文稿</vt:lpstr>
      <vt:lpstr>PowerPoint 演示文稿</vt:lpstr>
      <vt:lpstr>Bit Length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monu bhatia</dc:creator>
  <cp:lastModifiedBy>DELL</cp:lastModifiedBy>
  <cp:revision>31</cp:revision>
  <dcterms:created xsi:type="dcterms:W3CDTF">2025-07-02T05:38:00Z</dcterms:created>
  <dcterms:modified xsi:type="dcterms:W3CDTF">2025-09-08T06:22:22Z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35E5F23DD66C4386AB89FCA9C7CF5983_12</vt:lpwstr>
  </property>
  <property fmtid="{D5CDD505-2E9C-101B-9397-08002B2CF9AE}" pid="3" name="KSOProductBuildVer">
    <vt:lpwstr>1033-12.2.0.21931</vt:lpwstr>
  </property>
</Properties>
</file>