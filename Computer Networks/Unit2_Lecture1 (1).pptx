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26" r:id="rId3"/>
    <p:sldId id="327" r:id="rId4"/>
    <p:sldId id="328" r:id="rId6"/>
    <p:sldId id="409" r:id="rId7"/>
    <p:sldId id="331" r:id="rId8"/>
    <p:sldId id="332" r:id="rId9"/>
    <p:sldId id="410" r:id="rId10"/>
    <p:sldId id="333" r:id="rId11"/>
    <p:sldId id="334" r:id="rId12"/>
    <p:sldId id="335" r:id="rId13"/>
    <p:sldId id="336" r:id="rId14"/>
    <p:sldId id="337" r:id="rId15"/>
    <p:sldId id="338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8" r:id="rId24"/>
    <p:sldId id="347" r:id="rId25"/>
    <p:sldId id="412" r:id="rId26"/>
    <p:sldId id="349" r:id="rId27"/>
    <p:sldId id="350" r:id="rId28"/>
    <p:sldId id="351" r:id="rId29"/>
    <p:sldId id="353" r:id="rId30"/>
    <p:sldId id="352" r:id="rId31"/>
    <p:sldId id="25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690" autoAdjust="0"/>
  </p:normalViewPr>
  <p:slideViewPr>
    <p:cSldViewPr snapToGrid="0">
      <p:cViewPr>
        <p:scale>
          <a:sx n="92" d="100"/>
          <a:sy n="92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E03C5-7619-4A26-97A3-6708159E365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A29ED-308E-430D-B17E-8DA1297F955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46A936F6-AA8F-4BBE-8093-71CE92C30079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29F5804-92E0-43A6-8DB3-0E170984ACB7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hi-IN">
                <a:ea typeface="Mangal" panose="02040503050203030202" pitchFamily="18" charset="0"/>
              </a:rPr>
              <a:t>analog: clock, human voice (</a:t>
            </a:r>
            <a:r>
              <a:rPr lang="en-US" altLang="en-US">
                <a:ea typeface="Mangal" panose="02040503050203030202" pitchFamily="18" charset="0"/>
              </a:rPr>
              <a:t>When someone speaks, an analog wave is created in the air.)</a:t>
            </a:r>
            <a:endParaRPr lang="en-US" altLang="en-US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68EE97A9-A739-4AAE-846F-6D465343DA36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8C603E2-9499-473A-A8B0-53A4222FE4B1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en-US">
                <a:ea typeface="Mangal" panose="02040503050203030202" pitchFamily="18" charset="0"/>
              </a:rPr>
              <a:t>periodic analog signals (because they need less bandwidth,</a:t>
            </a:r>
            <a:br>
              <a:rPr lang="en-US" altLang="en-US">
                <a:ea typeface="Mangal" panose="02040503050203030202" pitchFamily="18" charset="0"/>
              </a:rPr>
            </a:br>
            <a:r>
              <a:rPr lang="en-US" altLang="en-US">
                <a:ea typeface="Mangal" panose="02040503050203030202" pitchFamily="18" charset="0"/>
              </a:rPr>
              <a:t>nonperiodic digital signals (because they can represent variation in data,</a:t>
            </a:r>
            <a:endParaRPr lang="en-US" altLang="en-US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A4BBB227-224F-458D-B1E2-4102D1CE28A2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C283AB9-AA4B-4F89-975E-C25B24ED34CF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power in house is in sine wave form can be measure </a:t>
            </a:r>
            <a:r>
              <a:rPr lang="en-US" altLang="en-US"/>
              <a:t>with a peak amplitude of 155 to 170 V.</a:t>
            </a: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D27B79D-916A-4BC5-A9D1-5F629D60A1A1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500CDAFB-5BE0-462D-93F2-34DB9A7BDCFC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E46FF0FB-9FC4-4E5A-8834-52F316E22D18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8D45A24F-ACCA-4232-BCFA-024FA0E15D87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7F77535-E934-43F9-A42A-3B430FA48300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3CC348B0-759D-4B30-8618-7FADE9893786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0A3F416-A71A-4E4F-9330-44F3569DF3F3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EA58F5D9-89B0-4B41-9D15-A6A0D5462A2B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2C91F59B-D033-4B9D-807A-EDFB173AF49C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02CAF406-C5A0-4BC5-8195-1E25A85A4264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6AFC966-4850-49A0-8E74-2EF9E801F284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8136C50-969E-47C9-ACE5-D26BE270016F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97471D4-00DE-413E-8C8F-807CB9B2199C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Answer: Frequency, Period, Phase, Wavelength</a:t>
            </a:r>
          </a:p>
          <a:p/>
          <a:p>
            <a:r>
              <a:t>Justification:</a:t>
            </a:r>
          </a:p>
          <a:p>
            <a:r>
              <a:t>- 'Beat in every wave' and 'cycles' relate to frequency.</a:t>
            </a:r>
          </a:p>
          <a:p>
            <a:r>
              <a:t>- 'High = fast change' and 'low = slow change' refer to frequency levels.</a:t>
            </a:r>
          </a:p>
          <a:p>
            <a:r>
              <a:t>- 'How long I take' points to period.</a:t>
            </a:r>
          </a:p>
          <a:p>
            <a:r>
              <a:t>- 'How far I make' indicates wavelength.</a:t>
            </a:r>
          </a:p>
          <a:p>
            <a:r>
              <a:t>- Together they define wave characteristics.</a:t>
            </a:r>
          </a:p>
          <a:p>
            <a:r>
              <a:t>- Phase is implied in the synchronization and timing among waves.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hi-IN"/>
              <a:t>3.</a:t>
            </a:r>
            <a:fld id="{4BD73ED1-66ED-4376-BB24-AEC160851330}" type="slidenum">
              <a:rPr lang="en-US" altLang="hi-IN"/>
            </a:fld>
            <a:endParaRPr lang="en-US" altLang="hi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FE2FF-BF66-491E-A01D-810464C678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0CF78-E971-4660-BD03-ABAC4D735D9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1"/>
          <p:cNvSpPr>
            <a:spLocks noGrp="1"/>
          </p:cNvSpPr>
          <p:nvPr>
            <p:ph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ctr">
              <a:buFont typeface="Wingdings" panose="05000000000000000000" pitchFamily="2" charset="2"/>
              <a:buNone/>
            </a:pPr>
            <a:endParaRPr lang="en-US" altLang="en-US" sz="4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sz="4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sz="4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4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AND SIGNALS</a:t>
            </a:r>
            <a:endParaRPr lang="en-US" altLang="en-US" sz="4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320" y="71437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1981200" y="3048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1982788" y="4267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2019300" y="31242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3200" b="1"/>
              <a:t>To be transmitted, data must be transformed to electromagnetic signals.</a:t>
            </a:r>
            <a:endParaRPr lang="en-US" altLang="hi-IN" sz="3200" b="1"/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0" y="107951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/>
          <p:cNvSpPr txBox="1">
            <a:spLocks noChangeArrowheads="1"/>
          </p:cNvSpPr>
          <p:nvPr/>
        </p:nvSpPr>
        <p:spPr bwMode="auto">
          <a:xfrm>
            <a:off x="3573464" y="676275"/>
            <a:ext cx="4808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AND DIGITAL</a:t>
            </a:r>
            <a:endParaRPr lang="en-US" altLang="hi-IN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hi-IN" b="1">
              <a:latin typeface="Times New Roman" panose="02020603050405020304" pitchFamily="18" charset="0"/>
            </a:endParaRP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1558925" y="1831975"/>
            <a:ext cx="8420100" cy="440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Data can be analog or digital. 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Analog data refers to information that is continuous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Analog data take on continuous values.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Digital data refers to information that has: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marL="0" indent="0" algn="just" eaLnBrk="1" hangingPunct="1"/>
            <a:r>
              <a:rPr lang="en-US" altLang="hi-IN" sz="2800" dirty="0">
                <a:latin typeface="Times New Roman" panose="02020603050405020304" pitchFamily="18" charset="0"/>
              </a:rPr>
              <a:t>						Discrete states. 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Digital data take on discrete values.</a:t>
            </a:r>
            <a:endParaRPr lang="en-US" altLang="hi-IN" sz="2800" dirty="0">
              <a:latin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760" y="66675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hi-IN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hi-IN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hi-IN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AND DIGITAL</a:t>
            </a:r>
            <a:br>
              <a:rPr lang="en-US" altLang="hi-IN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/>
          </a:p>
        </p:txBody>
      </p:sp>
      <p:sp>
        <p:nvSpPr>
          <p:cNvPr id="102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" panose="02020603050405020304" pitchFamily="18" charset="0"/>
              </a:rPr>
              <a:t>Signals can be analog or digital.</a:t>
            </a:r>
            <a:endParaRPr lang="en-US" altLang="en-US" dirty="0">
              <a:latin typeface="Times" panose="02020603050405020304" pitchFamily="18" charset="0"/>
            </a:endParaRPr>
          </a:p>
          <a:p>
            <a:endParaRPr lang="en-US" altLang="en-US" dirty="0">
              <a:latin typeface="Times" panose="02020603050405020304" pitchFamily="18" charset="0"/>
            </a:endParaRPr>
          </a:p>
          <a:p>
            <a:pPr algn="just"/>
            <a:r>
              <a:rPr lang="en-US" altLang="en-US" dirty="0">
                <a:latin typeface="Times" panose="02020603050405020304" pitchFamily="18" charset="0"/>
              </a:rPr>
              <a:t>Analog signals can have an infinite number of values in a range</a:t>
            </a:r>
            <a:endParaRPr lang="en-US" altLang="en-US" dirty="0">
              <a:latin typeface="Times" panose="02020603050405020304" pitchFamily="18" charset="0"/>
            </a:endParaRPr>
          </a:p>
          <a:p>
            <a:endParaRPr lang="en-US" altLang="en-US" dirty="0">
              <a:latin typeface="Times" panose="02020603050405020304" pitchFamily="18" charset="0"/>
            </a:endParaRPr>
          </a:p>
          <a:p>
            <a:pPr algn="just"/>
            <a:r>
              <a:rPr lang="en-US" altLang="en-US" dirty="0">
                <a:latin typeface="Times" panose="02020603050405020304" pitchFamily="18" charset="0"/>
              </a:rPr>
              <a:t>Digital signals can have only:</a:t>
            </a:r>
            <a:endParaRPr lang="en-US" altLang="en-US" dirty="0">
              <a:latin typeface="Times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dirty="0">
                <a:latin typeface="Times" panose="02020603050405020304" pitchFamily="18" charset="0"/>
              </a:rPr>
              <a:t>					Limited number of values.</a:t>
            </a:r>
            <a:endParaRPr lang="en-US" altLang="en-US" dirty="0">
              <a:latin typeface="Times" panose="02020603050405020304" pitchFamily="18" charset="0"/>
            </a:endParaRPr>
          </a:p>
          <a:p>
            <a:endParaRPr lang="en-US" altLang="en-US" dirty="0">
              <a:latin typeface="Times" panose="02020603050405020304" pitchFamily="18" charset="0"/>
            </a:endParaRPr>
          </a:p>
          <a:p>
            <a:endParaRPr lang="en-US" altLang="en-US" dirty="0">
              <a:latin typeface="Times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71437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895601" y="685800"/>
            <a:ext cx="673576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000" b="1" i="1">
                <a:solidFill>
                  <a:srgbClr val="C00000"/>
                </a:solidFill>
                <a:latin typeface="Times New Roman" panose="02020603050405020304" pitchFamily="18" charset="0"/>
              </a:rPr>
              <a:t>Comparison of analog and digital signals</a:t>
            </a:r>
            <a:endParaRPr lang="en-US" altLang="hi-IN" sz="3000" b="1" i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0" y="2389188"/>
            <a:ext cx="8528050" cy="286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981201" y="568325"/>
            <a:ext cx="8105775" cy="1022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3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and Non Periodic</a:t>
            </a:r>
            <a:endParaRPr lang="en-US" altLang="en-US" sz="3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periodic signal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completes a pattern within: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time frame, called a  period.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that pattern over subsequent identical periods.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one full pattern is called as  a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cycle.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976" y="71437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981201" y="568325"/>
            <a:ext cx="8105775" cy="1022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3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and Non Periodic</a:t>
            </a:r>
            <a:endParaRPr lang="en-US" altLang="en-US" sz="3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just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Non-periodic signal: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without exhibiting a pattern or a cycle.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Cycle: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completion of one full pattern. 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non-periodic signal 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Changes without exhibiting a pattern or a cycle.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3645" y="71437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1981200" y="2438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1982788" y="4191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2019300" y="2530475"/>
            <a:ext cx="8077200" cy="30469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dirty="0"/>
              <a:t>In data communications, we commonly use:</a:t>
            </a:r>
            <a:endParaRPr lang="en-US" altLang="hi-IN" sz="3200" b="1" dirty="0"/>
          </a:p>
          <a:p>
            <a:endParaRPr lang="en-US" altLang="hi-IN" sz="3200" b="1" dirty="0"/>
          </a:p>
          <a:p>
            <a:endParaRPr lang="en-US" altLang="hi-IN" sz="3200" b="1" dirty="0"/>
          </a:p>
          <a:p>
            <a:r>
              <a:rPr lang="en-US" altLang="hi-IN" sz="3200" dirty="0"/>
              <a:t>Periodic analog signals and nonperiodic digital signals.</a:t>
            </a:r>
            <a:endParaRPr lang="en-US" altLang="hi-IN" sz="3200" dirty="0"/>
          </a:p>
        </p:txBody>
      </p:sp>
      <p:grpSp>
        <p:nvGrpSpPr>
          <p:cNvPr id="14348" name="Group 12"/>
          <p:cNvGrpSpPr/>
          <p:nvPr/>
        </p:nvGrpSpPr>
        <p:grpSpPr bwMode="auto">
          <a:xfrm>
            <a:off x="1981200" y="1828800"/>
            <a:ext cx="1143000" cy="566738"/>
            <a:chOff x="1200" y="1248"/>
            <a:chExt cx="720" cy="357"/>
          </a:xfrm>
        </p:grpSpPr>
        <p:pic>
          <p:nvPicPr>
            <p:cNvPr id="14349" name="Picture 1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0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r>
                <a:rPr lang="en-US" altLang="hi-IN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  <a:endPara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1" y="149516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2514601" y="1074738"/>
            <a:ext cx="6024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ANALOG SIGNALS</a:t>
            </a:r>
            <a:endParaRPr lang="en-US" altLang="hi-IN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hi-IN" b="1">
              <a:latin typeface="Times New Roman" panose="02020603050405020304" pitchFamily="18" charset="0"/>
            </a:endParaRPr>
          </a:p>
        </p:txBody>
      </p:sp>
      <p:sp>
        <p:nvSpPr>
          <p:cNvPr id="799749" name="Rectangle 5"/>
          <p:cNvSpPr>
            <a:spLocks noChangeArrowheads="1"/>
          </p:cNvSpPr>
          <p:nvPr/>
        </p:nvSpPr>
        <p:spPr bwMode="auto">
          <a:xfrm>
            <a:off x="1633250" y="2228671"/>
            <a:ext cx="86106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hi-I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Periodic analog signals can be classified as :</a:t>
            </a:r>
            <a:endParaRPr lang="en-US" altLang="hi-I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>
              <a:defRPr/>
            </a:pPr>
            <a:endParaRPr lang="en-US" altLang="hi-IN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>
              <a:defRPr/>
            </a:pPr>
            <a:endParaRPr lang="en-US" altLang="hi-IN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>
              <a:defRPr/>
            </a:pPr>
            <a:r>
              <a:rPr lang="en-US" altLang="hi-IN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Simple or Composite. </a:t>
            </a:r>
            <a:endParaRPr lang="en-US" altLang="hi-IN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1527" y="11891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2"/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35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828801" y="762001"/>
            <a:ext cx="2519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hi-IN" sz="2000" b="1" i="1">
                <a:latin typeface="Times New Roman" panose="02020603050405020304" pitchFamily="18" charset="0"/>
              </a:rPr>
              <a:t>A sine wave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2786064"/>
            <a:ext cx="7075488" cy="208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9345" y="73026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2152650" y="838201"/>
            <a:ext cx="7886700" cy="533876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sine wave is represented by: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Peak Amplitude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909" y="11891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936751" y="423863"/>
            <a:ext cx="8105775" cy="1022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Amplitude</a:t>
            </a:r>
            <a:endParaRPr lang="en-US" altLang="en-US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152650" y="1371601"/>
            <a:ext cx="7886700" cy="480536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amplitude of a signal is the absolute value of its highest intensity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to energy it carries.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in volts.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737" y="119063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2"/>
          <p:cNvSpPr>
            <a:spLocks noChangeShapeType="1"/>
          </p:cNvSpPr>
          <p:nvPr/>
        </p:nvSpPr>
        <p:spPr bwMode="auto">
          <a:xfrm>
            <a:off x="1676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1676400" y="1143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2209801" y="488951"/>
            <a:ext cx="60118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2000" b="1" i="1">
                <a:latin typeface="Times New Roman" panose="02020603050405020304" pitchFamily="18" charset="0"/>
              </a:rPr>
              <a:t>Two signals with the same phase and frequency, </a:t>
            </a:r>
            <a:br>
              <a:rPr lang="en-US" altLang="hi-IN" sz="2000" b="1" i="1">
                <a:latin typeface="Times New Roman" panose="02020603050405020304" pitchFamily="18" charset="0"/>
              </a:rPr>
            </a:br>
            <a:r>
              <a:rPr lang="en-US" altLang="hi-IN" sz="2000" b="1" i="1">
                <a:latin typeface="Times New Roman" panose="02020603050405020304" pitchFamily="18" charset="0"/>
              </a:rPr>
              <a:t>                        but different amplitudes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371601"/>
            <a:ext cx="5475288" cy="470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85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 and Frequency </a:t>
            </a:r>
            <a:endParaRPr lang="en-US" altLang="en-US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152650" y="1524001"/>
            <a:ext cx="7886700" cy="465296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refers to amount of time, in seconds, a signal takes to complete one cycle.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refers to the number of periods in 1 second.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 is expressed in seconds 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is expressed in hertz (Hz)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1981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1982788" y="4267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2019300" y="30638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3200" b="1"/>
              <a:t>Frequency and period are the inverse of each other.</a:t>
            </a:r>
            <a:endParaRPr lang="en-US" altLang="hi-IN" sz="3200" b="1"/>
          </a:p>
        </p:txBody>
      </p:sp>
      <p:grpSp>
        <p:nvGrpSpPr>
          <p:cNvPr id="25612" name="Group 12"/>
          <p:cNvGrpSpPr/>
          <p:nvPr/>
        </p:nvGrpSpPr>
        <p:grpSpPr bwMode="auto">
          <a:xfrm>
            <a:off x="1981200" y="2362200"/>
            <a:ext cx="1143000" cy="566738"/>
            <a:chOff x="1200" y="1248"/>
            <a:chExt cx="720" cy="357"/>
          </a:xfrm>
        </p:grpSpPr>
        <p:pic>
          <p:nvPicPr>
            <p:cNvPr id="25614" name="Picture 1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5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r>
                <a:rPr lang="en-US" altLang="hi-IN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  <a:endPara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25613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489" y="4419600"/>
            <a:ext cx="3375025" cy="666750"/>
          </a:xfrm>
          <a:prstGeom prst="rect">
            <a:avLst/>
          </a:prstGeom>
          <a:solidFill>
            <a:srgbClr val="3366FF"/>
          </a:solidFill>
          <a:ln w="28575">
            <a:solidFill>
              <a:srgbClr val="3366FF"/>
            </a:solidFill>
            <a:miter lim="800000"/>
            <a:headEnd/>
            <a:tailEnd/>
          </a:ln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19812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1982788" y="6096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2019300" y="1997076"/>
            <a:ext cx="8077200" cy="35401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2800" b="1" dirty="0"/>
              <a:t>Frequency is the rate of change with respect to time. </a:t>
            </a:r>
            <a:br>
              <a:rPr lang="en-US" altLang="hi-IN" sz="2800" b="1" dirty="0"/>
            </a:br>
            <a:br>
              <a:rPr lang="en-US" altLang="hi-IN" sz="2800" b="1" dirty="0"/>
            </a:br>
            <a:r>
              <a:rPr lang="en-US" altLang="hi-IN" sz="2800" b="1" dirty="0"/>
              <a:t>Change in a short span of time.</a:t>
            </a:r>
            <a:endParaRPr lang="en-US" altLang="hi-IN" sz="2800" b="1" dirty="0"/>
          </a:p>
          <a:p>
            <a:pPr algn="ctr"/>
            <a:r>
              <a:rPr lang="en-US" altLang="hi-IN" sz="2800" b="1" dirty="0"/>
              <a:t>Means- High frequency.</a:t>
            </a:r>
            <a:br>
              <a:rPr lang="en-US" altLang="hi-IN" sz="2800" b="1" dirty="0"/>
            </a:br>
            <a:r>
              <a:rPr lang="en-US" altLang="hi-IN" sz="2800" b="1" dirty="0"/>
              <a:t> </a:t>
            </a:r>
            <a:br>
              <a:rPr lang="en-US" altLang="hi-IN" sz="2800" b="1" dirty="0"/>
            </a:br>
            <a:r>
              <a:rPr lang="en-US" altLang="hi-IN" sz="2800" b="1" dirty="0"/>
              <a:t>Change over a long span of time.</a:t>
            </a:r>
            <a:endParaRPr lang="en-US" altLang="hi-IN" sz="2800" b="1" dirty="0"/>
          </a:p>
          <a:p>
            <a:pPr algn="ctr"/>
            <a:r>
              <a:rPr lang="en-US" altLang="hi-IN" sz="2800" b="1" dirty="0"/>
              <a:t>Means- low frequency.</a:t>
            </a:r>
            <a:endParaRPr lang="en-US" altLang="hi-IN" sz="2800" b="1" dirty="0"/>
          </a:p>
        </p:txBody>
      </p:sp>
      <p:grpSp>
        <p:nvGrpSpPr>
          <p:cNvPr id="27660" name="Group 12"/>
          <p:cNvGrpSpPr/>
          <p:nvPr/>
        </p:nvGrpSpPr>
        <p:grpSpPr bwMode="auto">
          <a:xfrm>
            <a:off x="1981200" y="1219200"/>
            <a:ext cx="1143000" cy="566738"/>
            <a:chOff x="1200" y="1248"/>
            <a:chExt cx="720" cy="357"/>
          </a:xfrm>
        </p:grpSpPr>
        <p:pic>
          <p:nvPicPr>
            <p:cNvPr id="27661" name="Picture 1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2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r>
                <a:rPr lang="en-US" altLang="hi-IN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  <a:endPara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1981200" y="27003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1982788" y="49101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2019300" y="2792414"/>
            <a:ext cx="8077200" cy="255454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3200" b="1" dirty="0"/>
              <a:t>When a signal does not change at all:</a:t>
            </a:r>
            <a:endParaRPr lang="en-US" altLang="hi-IN" sz="3200" b="1" dirty="0"/>
          </a:p>
          <a:p>
            <a:pPr algn="ctr"/>
            <a:r>
              <a:rPr lang="en-US" altLang="hi-IN" sz="3200" dirty="0"/>
              <a:t>Frequency is zero.</a:t>
            </a:r>
            <a:endParaRPr lang="en-US" altLang="hi-IN" sz="3200" dirty="0"/>
          </a:p>
          <a:p>
            <a:pPr algn="ctr"/>
            <a:endParaRPr lang="en-US" altLang="hi-IN" sz="3200" b="1" dirty="0"/>
          </a:p>
          <a:p>
            <a:pPr algn="ctr"/>
            <a:r>
              <a:rPr lang="en-US" altLang="hi-IN" sz="3200" b="1" dirty="0"/>
              <a:t>When signal changes instantaneously:</a:t>
            </a:r>
            <a:endParaRPr lang="en-US" altLang="hi-IN" sz="3200" b="1" dirty="0"/>
          </a:p>
          <a:p>
            <a:pPr algn="ctr"/>
            <a:r>
              <a:rPr lang="en-US" altLang="hi-IN" sz="3200" dirty="0"/>
              <a:t>Frequency is infinite.</a:t>
            </a:r>
            <a:endParaRPr lang="en-US" altLang="hi-IN" sz="3200" dirty="0"/>
          </a:p>
        </p:txBody>
      </p:sp>
      <p:grpSp>
        <p:nvGrpSpPr>
          <p:cNvPr id="29708" name="Group 12"/>
          <p:cNvGrpSpPr/>
          <p:nvPr/>
        </p:nvGrpSpPr>
        <p:grpSpPr bwMode="auto">
          <a:xfrm>
            <a:off x="1981200" y="2057400"/>
            <a:ext cx="1143000" cy="566738"/>
            <a:chOff x="1200" y="1248"/>
            <a:chExt cx="720" cy="357"/>
          </a:xfrm>
        </p:grpSpPr>
        <p:pic>
          <p:nvPicPr>
            <p:cNvPr id="29709" name="Picture 1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10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r>
                <a:rPr lang="en-US" altLang="hi-IN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  <a:endPara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885951" y="1828801"/>
            <a:ext cx="4221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Table  </a:t>
            </a:r>
            <a:r>
              <a:rPr lang="en-US" altLang="hi-IN" sz="2000" b="1" i="1">
                <a:latin typeface="Times New Roman" panose="02020603050405020304" pitchFamily="18" charset="0"/>
              </a:rPr>
              <a:t>Units of period and frequency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pic>
        <p:nvPicPr>
          <p:cNvPr id="3174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327276"/>
            <a:ext cx="8601075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795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828801" y="376239"/>
            <a:ext cx="63658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hi-IN" sz="2000" b="1" i="1">
                <a:latin typeface="Times New Roman" panose="02020603050405020304" pitchFamily="18" charset="0"/>
              </a:rPr>
              <a:t>Two signals with the same amplitude and phase,</a:t>
            </a:r>
            <a:br>
              <a:rPr lang="en-US" altLang="hi-IN" sz="2000" b="1" i="1">
                <a:latin typeface="Times New Roman" panose="02020603050405020304" pitchFamily="18" charset="0"/>
              </a:rPr>
            </a:br>
            <a:r>
              <a:rPr lang="en-US" altLang="hi-IN" sz="2000" b="1" i="1">
                <a:latin typeface="Times New Roman" panose="02020603050405020304" pitchFamily="18" charset="0"/>
              </a:rPr>
              <a:t>                        but different frequencies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1295401"/>
            <a:ext cx="542925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35844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35852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35853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35845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5846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5847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5848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35849" name="Rectangle 11"/>
          <p:cNvSpPr>
            <a:spLocks noChangeArrowheads="1"/>
          </p:cNvSpPr>
          <p:nvPr/>
        </p:nvSpPr>
        <p:spPr bwMode="auto">
          <a:xfrm>
            <a:off x="1752600" y="1447800"/>
            <a:ext cx="8534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The power we use at home has a frequency of </a:t>
            </a:r>
            <a:r>
              <a:rPr lang="en-US" altLang="hi-IN" sz="2800" b="1" i="1">
                <a:solidFill>
                  <a:srgbClr val="C00000"/>
                </a:solidFill>
                <a:latin typeface="Times New Roman" panose="02020603050405020304" pitchFamily="18" charset="0"/>
              </a:rPr>
              <a:t>60 Hz</a:t>
            </a:r>
            <a:r>
              <a:rPr lang="en-US" altLang="hi-IN" sz="2800" b="1" i="1">
                <a:latin typeface="Times New Roman" panose="02020603050405020304" pitchFamily="18" charset="0"/>
              </a:rPr>
              <a:t>. Determined the period of this sine wave?</a:t>
            </a:r>
            <a:endParaRPr lang="en-US" altLang="hi-IN" sz="2800" b="1" i="1">
              <a:latin typeface="Times New Roman" panose="02020603050405020304" pitchFamily="18" charset="0"/>
            </a:endParaRPr>
          </a:p>
        </p:txBody>
      </p:sp>
      <p:sp>
        <p:nvSpPr>
          <p:cNvPr id="35850" name="Text Box 12"/>
          <p:cNvSpPr txBox="1">
            <a:spLocks noChangeArrowheads="1"/>
          </p:cNvSpPr>
          <p:nvPr/>
        </p:nvSpPr>
        <p:spPr bwMode="auto">
          <a:xfrm>
            <a:off x="2719388" y="665163"/>
            <a:ext cx="168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C00000"/>
                </a:solidFill>
                <a:latin typeface="Times New Roman" panose="02020603050405020304" pitchFamily="18" charset="0"/>
              </a:rPr>
              <a:t>Example</a:t>
            </a:r>
            <a:endParaRPr lang="en-US" altLang="hi-IN" sz="3200" b="1" i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585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4" y="3033714"/>
            <a:ext cx="6694487" cy="16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39940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39949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39950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39941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9942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9943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9944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39945" name="Rectangle 11"/>
          <p:cNvSpPr>
            <a:spLocks noChangeArrowheads="1"/>
          </p:cNvSpPr>
          <p:nvPr/>
        </p:nvSpPr>
        <p:spPr bwMode="auto">
          <a:xfrm>
            <a:off x="1752600" y="1447800"/>
            <a:ext cx="8534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The period of a signal is 100 ms. What is its frequency in kilohertz?</a:t>
            </a:r>
            <a:endParaRPr lang="en-US" altLang="hi-IN" sz="2800" b="1" i="1">
              <a:latin typeface="Times New Roman" panose="02020603050405020304" pitchFamily="18" charset="0"/>
            </a:endParaRPr>
          </a:p>
        </p:txBody>
      </p:sp>
      <p:sp>
        <p:nvSpPr>
          <p:cNvPr id="39946" name="Text Box 12"/>
          <p:cNvSpPr txBox="1">
            <a:spLocks noChangeArrowheads="1"/>
          </p:cNvSpPr>
          <p:nvPr/>
        </p:nvSpPr>
        <p:spPr bwMode="auto">
          <a:xfrm>
            <a:off x="2713039" y="685800"/>
            <a:ext cx="1792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C00000"/>
                </a:solidFill>
                <a:latin typeface="Times New Roman" panose="02020603050405020304" pitchFamily="18" charset="0"/>
              </a:rPr>
              <a:t>Example </a:t>
            </a:r>
            <a:endParaRPr lang="en-US" altLang="hi-IN" sz="3200" b="1" i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7" name="Rectangle 15"/>
          <p:cNvSpPr>
            <a:spLocks noChangeArrowheads="1"/>
          </p:cNvSpPr>
          <p:nvPr/>
        </p:nvSpPr>
        <p:spPr bwMode="auto">
          <a:xfrm>
            <a:off x="1828800" y="2667001"/>
            <a:ext cx="853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  <a:endParaRPr lang="en-US" altLang="hi-IN" sz="2800" b="1" i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994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3276600"/>
            <a:ext cx="7662862" cy="225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37892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37899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37900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37893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7894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7895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37896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37897" name="Rectangle 11"/>
          <p:cNvSpPr>
            <a:spLocks noChangeArrowheads="1"/>
          </p:cNvSpPr>
          <p:nvPr/>
        </p:nvSpPr>
        <p:spPr bwMode="auto">
          <a:xfrm>
            <a:off x="1752600" y="1447801"/>
            <a:ext cx="853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1. Express a period of 100 ms in microseconds.</a:t>
            </a:r>
            <a:endParaRPr lang="en-US" altLang="hi-IN" sz="2800" b="1" i="1">
              <a:latin typeface="Times New Roman" panose="02020603050405020304" pitchFamily="18" charset="0"/>
            </a:endParaRPr>
          </a:p>
        </p:txBody>
      </p:sp>
      <p:sp>
        <p:nvSpPr>
          <p:cNvPr id="37898" name="Text Box 12"/>
          <p:cNvSpPr txBox="1">
            <a:spLocks noChangeArrowheads="1"/>
          </p:cNvSpPr>
          <p:nvPr/>
        </p:nvSpPr>
        <p:spPr bwMode="auto">
          <a:xfrm>
            <a:off x="2781300" y="700088"/>
            <a:ext cx="168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C00000"/>
                </a:solidFill>
                <a:latin typeface="Times New Roman" panose="02020603050405020304" pitchFamily="18" charset="0"/>
              </a:rPr>
              <a:t>Example</a:t>
            </a:r>
            <a:endParaRPr lang="en-US" altLang="hi-IN" sz="3200" b="1" i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1696085" y="2546985"/>
            <a:ext cx="751332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400" b="1"/>
              <a:t>2. </a:t>
            </a:r>
            <a:r>
              <a:rPr sz="2400" b="1"/>
              <a:t>If the period of a clock signal is 2 ns, </a:t>
            </a:r>
            <a:endParaRPr sz="2400" b="1"/>
          </a:p>
          <a:p>
            <a:r>
              <a:rPr sz="2400" b="1"/>
              <a:t>calculate its frequency in MHz </a:t>
            </a:r>
            <a:endParaRPr sz="2400" b="1"/>
          </a:p>
        </p:txBody>
      </p:sp>
      <p:sp>
        <p:nvSpPr>
          <p:cNvPr id="6" name="Text Box 5"/>
          <p:cNvSpPr txBox="1"/>
          <p:nvPr/>
        </p:nvSpPr>
        <p:spPr>
          <a:xfrm>
            <a:off x="1548130" y="4304665"/>
            <a:ext cx="6992620" cy="9531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800"/>
              <a:t>3. </a:t>
            </a:r>
            <a:r>
              <a:rPr sz="2800"/>
              <a:t>The frequency of a sound wave is 2 kHz. </a:t>
            </a:r>
            <a:endParaRPr sz="2800"/>
          </a:p>
          <a:p>
            <a:r>
              <a:rPr sz="2800"/>
              <a:t>Find its time period in milliseconds.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695" y="3960495"/>
            <a:ext cx="5694680" cy="1962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695" y="1177925"/>
            <a:ext cx="6574155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>
            <a:off x="1981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4" name="Line 10"/>
          <p:cNvSpPr>
            <a:spLocks noChangeShapeType="1"/>
          </p:cNvSpPr>
          <p:nvPr/>
        </p:nvSpPr>
        <p:spPr bwMode="auto">
          <a:xfrm>
            <a:off x="1982788" y="4191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2019300" y="30638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3200" b="1"/>
              <a:t>Phase describes the position of the waveform  relative to time 0.</a:t>
            </a:r>
            <a:endParaRPr lang="en-US" altLang="hi-IN" sz="3200" b="1"/>
          </a:p>
        </p:txBody>
      </p:sp>
      <p:grpSp>
        <p:nvGrpSpPr>
          <p:cNvPr id="41996" name="Group 12"/>
          <p:cNvGrpSpPr/>
          <p:nvPr/>
        </p:nvGrpSpPr>
        <p:grpSpPr bwMode="auto">
          <a:xfrm>
            <a:off x="1981200" y="2286000"/>
            <a:ext cx="1143000" cy="566738"/>
            <a:chOff x="1200" y="1248"/>
            <a:chExt cx="720" cy="357"/>
          </a:xfrm>
        </p:grpSpPr>
        <p:pic>
          <p:nvPicPr>
            <p:cNvPr id="41997" name="Picture 1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98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r>
                <a:rPr lang="en-US" altLang="hi-IN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  <a:endPara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35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828800" y="152400"/>
            <a:ext cx="73548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Figure   </a:t>
            </a:r>
            <a:r>
              <a:rPr lang="en-US" altLang="hi-IN" sz="2000" b="1" i="1">
                <a:latin typeface="Times New Roman" panose="02020603050405020304" pitchFamily="18" charset="0"/>
              </a:rPr>
              <a:t>Three sine waves with the same amplitude and frequency,</a:t>
            </a:r>
            <a:br>
              <a:rPr lang="en-US" altLang="hi-IN" sz="2000" b="1" i="1">
                <a:latin typeface="Times New Roman" panose="02020603050405020304" pitchFamily="18" charset="0"/>
              </a:rPr>
            </a:br>
            <a:r>
              <a:rPr lang="en-US" altLang="hi-IN" sz="2000" b="1" i="1">
                <a:latin typeface="Times New Roman" panose="02020603050405020304" pitchFamily="18" charset="0"/>
              </a:rPr>
              <a:t>                        but different phases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4403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143000"/>
            <a:ext cx="5110163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46084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46092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46093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46085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6086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6087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46088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46089" name="Rectangle 11"/>
          <p:cNvSpPr>
            <a:spLocks noChangeArrowheads="1"/>
          </p:cNvSpPr>
          <p:nvPr/>
        </p:nvSpPr>
        <p:spPr bwMode="auto">
          <a:xfrm>
            <a:off x="1752600" y="1447800"/>
            <a:ext cx="8534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A sine wave with value 1/6 cycle with respect to time 0. What is its phase in degrees and radians?</a:t>
            </a:r>
            <a:endParaRPr lang="en-US" altLang="hi-IN" sz="2800" b="1" i="1">
              <a:latin typeface="Times New Roman" panose="02020603050405020304" pitchFamily="18" charset="0"/>
            </a:endParaRPr>
          </a:p>
        </p:txBody>
      </p:sp>
      <p:pic>
        <p:nvPicPr>
          <p:cNvPr id="4609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9" y="3086100"/>
            <a:ext cx="4314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1" name="Rectangle 2"/>
          <p:cNvSpPr>
            <a:spLocks noChangeArrowheads="1"/>
          </p:cNvSpPr>
          <p:nvPr/>
        </p:nvSpPr>
        <p:spPr bwMode="auto">
          <a:xfrm>
            <a:off x="2752726" y="877889"/>
            <a:ext cx="1146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>
                <a:solidFill>
                  <a:srgbClr val="C00000"/>
                </a:solidFill>
              </a:rPr>
              <a:t>Example </a:t>
            </a:r>
            <a:endParaRPr lang="en-US" altLang="hi-IN">
              <a:solidFill>
                <a:srgbClr val="C00000"/>
              </a:solidFill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/>
          <p:cNvSpPr>
            <a:spLocks noGrp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Wavelength is the distance a signal can travel in one period.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Wavelength= propagation speed* period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				Or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Wavelength= propagation speed/ frequency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79" name="Text Box 4"/>
          <p:cNvSpPr>
            <a:spLocks noGrp="1" noChangeArrowheads="1"/>
          </p:cNvSpPr>
          <p:nvPr>
            <p:ph type="title"/>
          </p:nvPr>
        </p:nvSpPr>
        <p:spPr>
          <a:xfrm>
            <a:off x="4495801" y="381001"/>
            <a:ext cx="2817823" cy="701731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altLang="hi-IN" b="1">
                <a:solidFill>
                  <a:srgbClr val="C00000"/>
                </a:solidFill>
              </a:rPr>
              <a:t>Wavelength</a:t>
            </a:r>
            <a:endParaRPr lang="en-US" altLang="hi-IN" b="1">
              <a:solidFill>
                <a:srgbClr val="C00000"/>
              </a:solidFill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2"/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31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1828800" y="762001"/>
            <a:ext cx="370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Figure   </a:t>
            </a:r>
            <a:r>
              <a:rPr lang="en-US" altLang="hi-IN" sz="2000" b="1" i="1">
                <a:latin typeface="Times New Roman" panose="02020603050405020304" pitchFamily="18" charset="0"/>
              </a:rPr>
              <a:t>Wavelength and period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48133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78126"/>
            <a:ext cx="8034338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940" y="980440"/>
            <a:ext cx="8582660" cy="52800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endParaRPr dirty="0"/>
          </a:p>
          <a:p>
            <a:pPr algn="just">
              <a:defRPr sz="20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I'm the beat in every wave you see,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cycles define me precisely.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 b="1"/>
            </a:pP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I'm high, change comes fast,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I'm low, the changes don't last.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cousin shows how long I take,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yet another tells how far I make.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we shape the signals you know—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 b="1"/>
            </a:pP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Guess us all in one clever go!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04911" y="184399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we?</a:t>
            </a:r>
            <a:endParaRPr lang="en-IN" sz="40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76200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3429</Words>
  <Application>WPS Presentation</Application>
  <PresentationFormat>Widescreen</PresentationFormat>
  <Paragraphs>175</Paragraphs>
  <Slides>29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SimSun</vt:lpstr>
      <vt:lpstr>Wingdings</vt:lpstr>
      <vt:lpstr>Times New Roman</vt:lpstr>
      <vt:lpstr>Lucida Sans Unicode</vt:lpstr>
      <vt:lpstr>Tahoma</vt:lpstr>
      <vt:lpstr>Mangal</vt:lpstr>
      <vt:lpstr>Segoe Print</vt:lpstr>
      <vt:lpstr>Times</vt:lpstr>
      <vt:lpstr>Microsoft YaHei</vt:lpstr>
      <vt:lpstr>Arial Unicode MS</vt:lpstr>
      <vt:lpstr>Calibri Light</vt:lpstr>
      <vt:lpstr>Calibri</vt:lpstr>
      <vt:lpstr>Nirmala UI</vt:lpstr>
      <vt:lpstr>Office Theme</vt:lpstr>
      <vt:lpstr>PowerPoint 演示文稿</vt:lpstr>
      <vt:lpstr>PowerPoint 演示文稿</vt:lpstr>
      <vt:lpstr>PowerPoint 演示文稿</vt:lpstr>
      <vt:lpstr>  ANALOG AND DIGITAL </vt:lpstr>
      <vt:lpstr>PowerPoint 演示文稿</vt:lpstr>
      <vt:lpstr>Periodic and Non Periodic</vt:lpstr>
      <vt:lpstr>Periodic and Non Periodic</vt:lpstr>
      <vt:lpstr>PowerPoint 演示文稿</vt:lpstr>
      <vt:lpstr>PowerPoint 演示文稿</vt:lpstr>
      <vt:lpstr>PowerPoint 演示文稿</vt:lpstr>
      <vt:lpstr>PowerPoint 演示文稿</vt:lpstr>
      <vt:lpstr>Peak Amplitude</vt:lpstr>
      <vt:lpstr>PowerPoint 演示文稿</vt:lpstr>
      <vt:lpstr>Period and Frequency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Wavelength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monu bhatia</dc:creator>
  <cp:lastModifiedBy>gagandeep kaur</cp:lastModifiedBy>
  <cp:revision>19</cp:revision>
  <dcterms:created xsi:type="dcterms:W3CDTF">2025-07-02T05:13:00Z</dcterms:created>
  <dcterms:modified xsi:type="dcterms:W3CDTF">2025-09-17T05:53:45Z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9293CFD21BF3409DB61A9B54A47DA24B_12</vt:lpwstr>
  </property>
  <property fmtid="{D5CDD505-2E9C-101B-9397-08002B2CF9AE}" pid="3" name="KSOProductBuildVer">
    <vt:lpwstr>1033-12.2.0.22549</vt:lpwstr>
  </property>
</Properties>
</file>