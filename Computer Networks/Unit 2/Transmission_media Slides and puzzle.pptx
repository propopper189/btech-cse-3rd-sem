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310" r:id="rId9"/>
    <p:sldId id="262" r:id="rId10"/>
    <p:sldId id="263" r:id="rId11"/>
    <p:sldId id="264" r:id="rId12"/>
    <p:sldId id="265" r:id="rId13"/>
    <p:sldId id="266" r:id="rId14"/>
    <p:sldId id="311" r:id="rId15"/>
    <p:sldId id="267" r:id="rId16"/>
    <p:sldId id="268" r:id="rId17"/>
    <p:sldId id="270" r:id="rId18"/>
    <p:sldId id="272" r:id="rId19"/>
    <p:sldId id="312" r:id="rId20"/>
    <p:sldId id="274" r:id="rId21"/>
    <p:sldId id="275" r:id="rId22"/>
    <p:sldId id="276" r:id="rId23"/>
    <p:sldId id="305" r:id="rId24"/>
    <p:sldId id="277" r:id="rId25"/>
    <p:sldId id="279" r:id="rId26"/>
    <p:sldId id="313" r:id="rId27"/>
    <p:sldId id="281" r:id="rId28"/>
    <p:sldId id="314" r:id="rId29"/>
    <p:sldId id="283" r:id="rId30"/>
    <p:sldId id="315" r:id="rId31"/>
    <p:sldId id="285" r:id="rId32"/>
    <p:sldId id="286" r:id="rId33"/>
    <p:sldId id="287" r:id="rId34"/>
    <p:sldId id="316" r:id="rId35"/>
    <p:sldId id="288" r:id="rId36"/>
    <p:sldId id="289" r:id="rId37"/>
    <p:sldId id="292" r:id="rId38"/>
    <p:sldId id="296" r:id="rId39"/>
    <p:sldId id="317" r:id="rId40"/>
    <p:sldId id="297" r:id="rId41"/>
    <p:sldId id="298" r:id="rId42"/>
    <p:sldId id="318" r:id="rId43"/>
    <p:sldId id="299" r:id="rId44"/>
    <p:sldId id="307" r:id="rId45"/>
    <p:sldId id="300" r:id="rId46"/>
    <p:sldId id="319" r:id="rId47"/>
    <p:sldId id="303" r:id="rId48"/>
    <p:sldId id="309" r:id="rId4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64" autoAdjust="0"/>
  </p:normalViewPr>
  <p:slideViewPr>
    <p:cSldViewPr showGuides="1">
      <p:cViewPr varScale="1">
        <p:scale>
          <a:sx n="79" d="100"/>
          <a:sy n="79" d="100"/>
        </p:scale>
        <p:origin x="17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BC6D-A2C7-42BD-B162-E0E1E18EA093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2732D-B2AC-4BF2-A018-5FACC3E0DBC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2732D-B2AC-4BF2-A018-5FACC3E0DBCD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Twisted-pair and coaxial cable use metallic (copper) conductors that accept and transport signals in the form of electric current. </a:t>
            </a:r>
            <a:endParaRPr lang="en-US" altLang="en-US"/>
          </a:p>
          <a:p>
            <a:r>
              <a:rPr lang="en-US" altLang="en-US"/>
              <a:t>Optical fiber is a cable that accepts and transports signals in the form of light.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just"/>
            <a:r>
              <a:rPr lang="en-US" altLang="en-US" dirty="0">
                <a:latin typeface="Times-Roman"/>
                <a:sym typeface="+mn-ea"/>
              </a:rPr>
              <a:t>If the two wires </a:t>
            </a:r>
            <a:r>
              <a:rPr lang="en-US" altLang="en-US" dirty="0">
                <a:solidFill>
                  <a:srgbClr val="FF0000"/>
                </a:solidFill>
                <a:latin typeface="Times-Roman"/>
                <a:sym typeface="+mn-ea"/>
              </a:rPr>
              <a:t>are parallel</a:t>
            </a:r>
            <a:r>
              <a:rPr lang="en-US" altLang="en-US" dirty="0">
                <a:latin typeface="Times-Roman"/>
                <a:sym typeface="+mn-ea"/>
              </a:rPr>
              <a:t>, the effect of these unwanted signals is </a:t>
            </a:r>
            <a:r>
              <a:rPr lang="en-US" altLang="en-US" dirty="0">
                <a:solidFill>
                  <a:srgbClr val="FF0000"/>
                </a:solidFill>
                <a:latin typeface="Times-Roman"/>
                <a:sym typeface="+mn-ea"/>
              </a:rPr>
              <a:t>not the same </a:t>
            </a:r>
            <a:r>
              <a:rPr lang="en-US" altLang="en-US" dirty="0">
                <a:latin typeface="Times-Roman"/>
                <a:sym typeface="+mn-ea"/>
              </a:rPr>
              <a:t>in</a:t>
            </a:r>
            <a:endParaRPr lang="en-US" altLang="en-US" dirty="0">
              <a:latin typeface="Times-Roman"/>
            </a:endParaRPr>
          </a:p>
          <a:p>
            <a:pPr algn="just"/>
            <a:r>
              <a:rPr lang="en-US" altLang="en-US" dirty="0">
                <a:latin typeface="Times-Roman"/>
                <a:sym typeface="+mn-ea"/>
              </a:rPr>
              <a:t>both wires because they are at </a:t>
            </a:r>
            <a:r>
              <a:rPr lang="en-US" altLang="en-US" dirty="0">
                <a:solidFill>
                  <a:srgbClr val="FF0000"/>
                </a:solidFill>
                <a:latin typeface="Times-Roman"/>
                <a:sym typeface="+mn-ea"/>
              </a:rPr>
              <a:t>different locations </a:t>
            </a:r>
            <a:r>
              <a:rPr lang="en-US" altLang="en-US" dirty="0">
                <a:latin typeface="Times-Roman"/>
                <a:sym typeface="+mn-ea"/>
              </a:rPr>
              <a:t>relative to the noise or crosstalk sources (e.g., one is closer and the other is farther). This results in a difference at the receiver.</a:t>
            </a:r>
            <a:endParaRPr lang="en-IN" altLang="en-US" dirty="0">
              <a:latin typeface="Arial" panose="020B0604020202020204" pitchFamily="34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Less</a:t>
            </a:r>
            <a:r>
              <a:rPr lang="en-US"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susceptible</a:t>
            </a:r>
            <a:r>
              <a:rPr lang="en-US"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lang="en-US"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electrical</a:t>
            </a:r>
            <a:r>
              <a:rPr lang="en-US"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interference</a:t>
            </a:r>
            <a:r>
              <a:rPr lang="en-US"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caused</a:t>
            </a:r>
            <a:r>
              <a:rPr lang="en-US"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US"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-10" dirty="0">
                <a:latin typeface="Times New Roman" panose="02020603050405020304"/>
                <a:cs typeface="Times New Roman" panose="02020603050405020304"/>
              </a:rPr>
              <a:t>nearby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equipment</a:t>
            </a:r>
            <a:r>
              <a:rPr lang="en-US"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lang="en-US"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spc="-10" dirty="0">
                <a:latin typeface="Times New Roman" panose="02020603050405020304"/>
                <a:cs typeface="Times New Roman" panose="02020603050405020304"/>
              </a:rPr>
              <a:t>wires.</a:t>
            </a:r>
            <a:endParaRPr lang="en-US" sz="1200" spc="-10" dirty="0">
              <a:latin typeface="Times New Roman" panose="02020603050405020304"/>
              <a:cs typeface="Times New Roman" panose="02020603050405020304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2732D-B2AC-4BF2-A018-5FACC3E0DBCD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The most common UTP connector is RJ45 (RJ stands for registered jack), The RJ45 is a keyed connector, meaning the connector can be inserted in</a:t>
            </a:r>
            <a:endParaRPr lang="en-US" altLang="en-US"/>
          </a:p>
          <a:p>
            <a:r>
              <a:rPr lang="en-US" altLang="en-US"/>
              <a:t>only one way.</a:t>
            </a:r>
            <a:endParaRPr lang="en-US" altLang="en-US"/>
          </a:p>
          <a:p>
            <a:r>
              <a:rPr lang="en-US" altLang="en-US"/>
              <a:t>Electronic Industries Association (EIA) has developed standards to classify unshielded twisted-pair cable into seven categories. Categories are determined by cable</a:t>
            </a:r>
            <a:endParaRPr lang="en-US" altLang="en-US"/>
          </a:p>
          <a:p>
            <a:r>
              <a:rPr lang="en-US" altLang="en-US"/>
              <a:t>quality, with 1 as the lowest and 7 as the highest.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Transport </a:t>
            </a:r>
            <a:r>
              <a:rPr lang="en-US" dirty="0" err="1"/>
              <a:t>ElectroMagnetic</a:t>
            </a:r>
            <a:r>
              <a:rPr lang="en-US" dirty="0"/>
              <a:t> Waves without Physical Conductor.</a:t>
            </a:r>
            <a:endParaRPr lang="en-US" dirty="0"/>
          </a:p>
          <a:p>
            <a:r>
              <a:rPr lang="en-US" dirty="0"/>
              <a:t>This is often referred as Wireless Communication.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2732D-B2AC-4BF2-A018-5FACC3E0DBCD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Answer: A. Optical Fiber</a:t>
            </a:r>
          </a:p>
          <a:p/>
          <a:p>
            <a:r>
              <a:t>Justification:</a:t>
            </a:r>
          </a:p>
          <a:p>
            <a:r>
              <a:t>It uses light to transmit signals, needs clean straight paths, and is sensitive to bends and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b="1" dirty="0">
                <a:latin typeface="Times-Roman"/>
                <a:sym typeface="+mn-ea"/>
              </a:rPr>
              <a:t>Radio waves, particularly those waves that propagate in the sky mode, can travel </a:t>
            </a:r>
            <a:r>
              <a:rPr lang="en-IN" altLang="en-US" b="1" dirty="0">
                <a:latin typeface="Times-Roman"/>
                <a:sym typeface="+mn-ea"/>
              </a:rPr>
              <a:t>long distances.</a:t>
            </a:r>
            <a:endParaRPr lang="en-IN" altLang="en-US" b="1" dirty="0">
              <a:latin typeface="Arial" panose="020B0604020202020204" pitchFamily="34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 dirty="0">
                <a:latin typeface="Times-Roman"/>
                <a:sym typeface="+mn-ea"/>
              </a:rPr>
              <a:t>Microwaves are unidirectional. When an antenna transmits microwaves, they can be narrowly focused. This means that the sending and receiving antennas need to </a:t>
            </a:r>
            <a:r>
              <a:rPr lang="en-IN" altLang="en-US" dirty="0">
                <a:latin typeface="Times-Roman"/>
                <a:sym typeface="+mn-ea"/>
              </a:rPr>
              <a:t>be aligned.</a:t>
            </a:r>
            <a:endParaRPr lang="en-IN" altLang="en-US" dirty="0">
              <a:latin typeface="Arial" panose="020B0604020202020204" pitchFamily="34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Answer: C. Attenuation</a:t>
            </a:r>
          </a:p>
          <a:p/>
          <a:p>
            <a:r>
              <a:t>Justification:</a:t>
            </a:r>
          </a:p>
          <a:p>
            <a:r>
              <a:t>Attenuation refers to signal losing energy while traveling through a medium. It's like a tired traveler getting weak over a long journey!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Answer: D. SNR (Signal-to-Noise Ratio)</a:t>
            </a:r>
          </a:p>
          <a:p/>
          <a:p>
            <a:r>
              <a:t>Justification:</a:t>
            </a:r>
          </a:p>
          <a:p>
            <a:r>
              <a:t>SNR compares signal power to noise power. A higher SNR means your signal can 'shout' better in a noisy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6712" y="350837"/>
            <a:ext cx="382905" cy="474980"/>
          </a:xfrm>
          <a:custGeom>
            <a:avLst/>
            <a:gdLst/>
            <a:ahLst/>
            <a:cxnLst/>
            <a:rect l="l" t="t" r="r" b="b"/>
            <a:pathLst>
              <a:path w="382905" h="474980">
                <a:moveTo>
                  <a:pt x="0" y="474662"/>
                </a:moveTo>
                <a:lnTo>
                  <a:pt x="382587" y="474662"/>
                </a:lnTo>
                <a:lnTo>
                  <a:pt x="382587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350837"/>
            <a:ext cx="328612" cy="4746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90537" y="773112"/>
            <a:ext cx="370205" cy="474980"/>
          </a:xfrm>
          <a:custGeom>
            <a:avLst/>
            <a:gdLst/>
            <a:ahLst/>
            <a:cxnLst/>
            <a:rect l="l" t="t" r="r" b="b"/>
            <a:pathLst>
              <a:path w="370205" h="474980">
                <a:moveTo>
                  <a:pt x="0" y="474662"/>
                </a:moveTo>
                <a:lnTo>
                  <a:pt x="369887" y="474662"/>
                </a:lnTo>
                <a:lnTo>
                  <a:pt x="369887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773112"/>
            <a:ext cx="368300" cy="4746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700151"/>
            <a:ext cx="560387" cy="4222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11200" y="242887"/>
            <a:ext cx="31750" cy="1052830"/>
          </a:xfrm>
          <a:custGeom>
            <a:avLst/>
            <a:gdLst/>
            <a:ahLst/>
            <a:cxnLst/>
            <a:rect l="l" t="t" r="r" b="b"/>
            <a:pathLst>
              <a:path w="31750" h="1052830">
                <a:moveTo>
                  <a:pt x="31750" y="562038"/>
                </a:moveTo>
                <a:lnTo>
                  <a:pt x="0" y="562038"/>
                </a:lnTo>
                <a:lnTo>
                  <a:pt x="0" y="1052512"/>
                </a:lnTo>
                <a:lnTo>
                  <a:pt x="31750" y="1052512"/>
                </a:lnTo>
                <a:lnTo>
                  <a:pt x="31750" y="562038"/>
                </a:lnTo>
                <a:close/>
              </a:path>
              <a:path w="31750" h="1052830">
                <a:moveTo>
                  <a:pt x="31750" y="0"/>
                </a:moveTo>
                <a:lnTo>
                  <a:pt x="0" y="0"/>
                </a:lnTo>
                <a:lnTo>
                  <a:pt x="0" y="530288"/>
                </a:lnTo>
                <a:lnTo>
                  <a:pt x="31750" y="530288"/>
                </a:lnTo>
                <a:lnTo>
                  <a:pt x="3175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912" y="773176"/>
            <a:ext cx="8226425" cy="31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2044" y="201930"/>
            <a:ext cx="232917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700" y="201930"/>
            <a:ext cx="8864600" cy="2191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3269" y="2003882"/>
            <a:ext cx="7617460" cy="2879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053" y="2903347"/>
            <a:ext cx="66376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i="0" spc="-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Transmission</a:t>
            </a:r>
            <a:r>
              <a:rPr sz="6000" i="0" spc="-26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i="0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Media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162557"/>
            <a:ext cx="7615555" cy="3392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transmission</a:t>
            </a:r>
            <a:r>
              <a:rPr sz="3200" spc="2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medium</a:t>
            </a:r>
            <a:r>
              <a:rPr sz="3200" b="1" spc="2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3200" b="1" spc="210" dirty="0">
                <a:latin typeface="Times New Roman" panose="02020603050405020304"/>
                <a:cs typeface="Times New Roman" panose="02020603050405020304"/>
              </a:rPr>
              <a:t>: </a:t>
            </a:r>
            <a:endParaRPr lang="en-US" sz="3200" b="1" spc="210" dirty="0">
              <a:latin typeface="Times New Roman" panose="02020603050405020304"/>
              <a:cs typeface="Times New Roman" panose="02020603050405020304"/>
            </a:endParaRPr>
          </a:p>
          <a:p>
            <a:pPr marL="12065" marR="5080" algn="just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carry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destination.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•"/>
            </a:pPr>
            <a:r>
              <a:rPr lang="en-US" sz="32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xample</a:t>
            </a:r>
            <a:r>
              <a:rPr lang="en-US" sz="320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3200" dirty="0">
              <a:latin typeface="Times New Roman" panose="02020603050405020304"/>
              <a:cs typeface="Times New Roman" panose="02020603050405020304"/>
            </a:endParaRPr>
          </a:p>
          <a:p>
            <a:pPr marL="354330" marR="276860" indent="-342265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lang="en-US" sz="3200" dirty="0">
              <a:latin typeface="Times New Roman" panose="02020603050405020304"/>
              <a:cs typeface="Times New Roman" panose="02020603050405020304"/>
            </a:endParaRPr>
          </a:p>
          <a:p>
            <a:pPr marL="12065" marR="276860" algn="just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r>
              <a:rPr sz="3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spc="-3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edium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having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dinner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conversation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lang="en-US" altLang="en-US"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air.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24012" y="2053566"/>
            <a:ext cx="6334125" cy="2678981"/>
          </a:xfrm>
          <a:prstGeom prst="rect">
            <a:avLst/>
          </a:prstGeom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967" rIns="0" bIns="0" rtlCol="0">
            <a:spAutoFit/>
          </a:bodyPr>
          <a:lstStyle/>
          <a:p>
            <a:pPr marL="868045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Classes</a:t>
            </a:r>
            <a:r>
              <a:rPr sz="4400" i="0" spc="-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00" i="0" spc="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transmission</a:t>
            </a:r>
            <a:r>
              <a:rPr sz="4400" i="0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media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5887" y="2517851"/>
            <a:ext cx="8304388" cy="3236823"/>
          </a:xfrm>
          <a:prstGeom prst="rect">
            <a:avLst/>
          </a:prstGeom>
        </p:spPr>
      </p:pic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91945" y="3885946"/>
            <a:ext cx="6939150" cy="1811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413" y="277499"/>
            <a:ext cx="8321040" cy="746999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639445" algn="ctr">
              <a:lnSpc>
                <a:spcPct val="100000"/>
              </a:lnSpc>
              <a:spcBef>
                <a:spcPts val="1025"/>
              </a:spcBef>
            </a:pPr>
            <a:r>
              <a:rPr i="0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Twisted-</a:t>
            </a:r>
            <a:r>
              <a:rPr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Pair</a:t>
            </a:r>
            <a:r>
              <a:rPr i="0" spc="-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Cable</a:t>
            </a:r>
            <a:endParaRPr i="0" spc="-10" dirty="0">
              <a:solidFill>
                <a:srgbClr val="C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146300"/>
            <a:ext cx="7999601" cy="881235"/>
          </a:xfrm>
          <a:prstGeom prst="rect">
            <a:avLst/>
          </a:prstGeom>
        </p:spPr>
      </p:pic>
      <p:pic>
        <p:nvPicPr>
          <p:cNvPr id="5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" y="201930"/>
            <a:ext cx="8864600" cy="3323590"/>
          </a:xfrm>
        </p:spPr>
        <p:txBody>
          <a:bodyPr/>
          <a:lstStyle/>
          <a:p>
            <a:pPr marL="639445">
              <a:lnSpc>
                <a:spcPct val="100000"/>
              </a:lnSpc>
              <a:spcBef>
                <a:spcPts val="1025"/>
              </a:spcBef>
            </a:pPr>
            <a:r>
              <a:rPr lang="en-US" i="0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Twisted-</a:t>
            </a:r>
            <a:r>
              <a:rPr lang="en-US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Pair</a:t>
            </a:r>
            <a:r>
              <a:rPr lang="en-US" i="0" spc="-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Cable</a:t>
            </a:r>
            <a:br>
              <a:rPr lang="en-US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</a:br>
            <a:br>
              <a:rPr lang="en-US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</a:br>
            <a:br>
              <a:rPr lang="en-US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</a:b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Twisted</a:t>
            </a:r>
            <a:r>
              <a:rPr lang="en-US" sz="2400" b="0" i="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Pair</a:t>
            </a:r>
            <a:r>
              <a:rPr lang="en-US" sz="2400" b="0" i="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2400" b="0" i="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Coax</a:t>
            </a:r>
            <a:r>
              <a:rPr lang="en-US" sz="2400" b="0" i="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lang="en-US" sz="2400" b="0" i="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metallic(Copper)</a:t>
            </a:r>
            <a:r>
              <a:rPr lang="en-US" sz="2400" b="0" i="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spc="-10" dirty="0">
                <a:latin typeface="Times New Roman" panose="02020603050405020304"/>
                <a:cs typeface="Times New Roman" panose="02020603050405020304"/>
              </a:rPr>
              <a:t>conductors that:</a:t>
            </a:r>
            <a:br>
              <a:rPr lang="en-US" sz="2400" b="0" i="0" spc="-10" dirty="0">
                <a:latin typeface="Times New Roman" panose="02020603050405020304"/>
                <a:cs typeface="Times New Roman" panose="02020603050405020304"/>
              </a:rPr>
            </a:br>
            <a:br>
              <a:rPr lang="en-US" sz="2400" b="0" i="0" spc="-10" dirty="0">
                <a:latin typeface="Times New Roman" panose="02020603050405020304"/>
                <a:cs typeface="Times New Roman" panose="02020603050405020304"/>
              </a:rPr>
            </a:br>
            <a:r>
              <a:rPr lang="en-US" sz="2400" b="0" i="0" spc="-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ccept</a:t>
            </a:r>
            <a:r>
              <a:rPr lang="en-US" sz="2400" b="0" i="0" spc="1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lang="en-US" sz="2400" b="0" i="0" spc="1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signals</a:t>
            </a:r>
            <a:r>
              <a:rPr lang="en-US" sz="2400" b="0" i="0" spc="15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sz="2400" b="0" i="0" spc="1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lang="en-US" sz="2400" b="0" i="0" spc="1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form</a:t>
            </a:r>
            <a:r>
              <a:rPr lang="en-US" sz="2400" b="0" i="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Electrical</a:t>
            </a:r>
            <a:r>
              <a:rPr lang="en-US" sz="2400" b="0" i="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spc="-10" dirty="0">
                <a:latin typeface="Times New Roman" panose="02020603050405020304"/>
                <a:cs typeface="Times New Roman" panose="02020603050405020304"/>
              </a:rPr>
              <a:t>Current.</a:t>
            </a:r>
            <a:br>
              <a:rPr lang="en-US" sz="2400" b="0" i="0" spc="-10" dirty="0">
                <a:latin typeface="Times New Roman" panose="02020603050405020304"/>
                <a:cs typeface="Times New Roman" panose="02020603050405020304"/>
              </a:rPr>
            </a:br>
            <a:r>
              <a:rPr lang="en-US" sz="2400" b="0" i="0" spc="-10" dirty="0"/>
              <a:t>T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ransport</a:t>
            </a:r>
            <a:r>
              <a:rPr lang="en-US" sz="2400" b="0" i="0" spc="1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lang="en-US" sz="2400" b="0" i="0" spc="1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signals</a:t>
            </a:r>
            <a:r>
              <a:rPr lang="en-US" sz="2400" b="0" i="0" spc="15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sz="2400" b="0" i="0" spc="14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lang="en-US" sz="2400" b="0" i="0" spc="1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form</a:t>
            </a:r>
            <a:r>
              <a:rPr lang="en-US" sz="2400" b="0" i="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400" b="0" i="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lang="en-US" sz="2400" b="0" i="0" dirty="0">
                <a:latin typeface="Times New Roman" panose="02020603050405020304"/>
                <a:cs typeface="Times New Roman" panose="02020603050405020304"/>
              </a:rPr>
              <a:t>Electrical</a:t>
            </a:r>
            <a:r>
              <a:rPr lang="en-US" sz="2400" b="0" i="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0" i="0" spc="-10" dirty="0">
                <a:latin typeface="Times New Roman" panose="02020603050405020304"/>
                <a:cs typeface="Times New Roman" panose="02020603050405020304"/>
              </a:rPr>
              <a:t>Current</a:t>
            </a:r>
            <a:endParaRPr lang="en-IN" dirty="0"/>
          </a:p>
        </p:txBody>
      </p:sp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7758" y="1428132"/>
            <a:ext cx="8450578" cy="39240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292" rIns="0" bIns="0" rtlCol="0">
            <a:spAutoFit/>
          </a:bodyPr>
          <a:lstStyle/>
          <a:p>
            <a:pPr marL="153035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Effect</a:t>
            </a:r>
            <a:r>
              <a:rPr sz="3200" i="0" spc="-4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200" i="0" spc="-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Noise</a:t>
            </a:r>
            <a:r>
              <a:rPr sz="3200" i="0" spc="-3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200" i="0" spc="-3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Parallel</a:t>
            </a:r>
            <a:r>
              <a:rPr sz="3200" i="0" spc="-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Lines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9931" y="1394597"/>
            <a:ext cx="8747883" cy="43304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Noise</a:t>
            </a:r>
            <a:r>
              <a:rPr sz="3200" i="0" spc="-3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200" i="0" spc="-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spc="-4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Twisted-</a:t>
            </a: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Pair</a:t>
            </a:r>
            <a:r>
              <a:rPr sz="3200" i="0" spc="-3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Lines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8645" rIns="0" bIns="0" rtlCol="0">
            <a:spAutoFit/>
          </a:bodyPr>
          <a:lstStyle/>
          <a:p>
            <a:pPr marL="225933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00000"/>
                </a:solidFill>
              </a:rPr>
              <a:t>UTP</a:t>
            </a:r>
            <a:r>
              <a:rPr spc="-18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and</a:t>
            </a:r>
            <a:r>
              <a:rPr spc="-3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STP</a:t>
            </a:r>
            <a:r>
              <a:rPr spc="-175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cables</a:t>
            </a:r>
            <a:endParaRPr spc="-10" dirty="0">
              <a:solidFill>
                <a:srgbClr val="C0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8137" y="2113026"/>
            <a:ext cx="8500999" cy="3327373"/>
          </a:xfrm>
          <a:prstGeom prst="rect">
            <a:avLst/>
          </a:prstGeom>
        </p:spPr>
      </p:pic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804" y="518287"/>
            <a:ext cx="5431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Shielded</a:t>
            </a:r>
            <a:r>
              <a:rPr sz="3200" i="0" spc="-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spc="-4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Twisted-</a:t>
            </a: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Pair</a:t>
            </a:r>
            <a:r>
              <a:rPr sz="3200" i="0" spc="-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Cable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79512" y="3200273"/>
            <a:ext cx="6105650" cy="19320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0413" y="1406778"/>
            <a:ext cx="866584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1290955" algn="l"/>
                <a:tab pos="2364740" algn="l"/>
                <a:tab pos="3725545" algn="l"/>
                <a:tab pos="4339590" algn="l"/>
                <a:tab pos="6055995" algn="l"/>
                <a:tab pos="6501130" algn="l"/>
              </a:tabLst>
            </a:pPr>
            <a:r>
              <a:rPr sz="2400" spc="-10" dirty="0">
                <a:latin typeface="Arial MT"/>
                <a:cs typeface="Arial MT"/>
              </a:rPr>
              <a:t>Metal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prevents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lang="en-US"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penetration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</a:t>
            </a:r>
            <a:r>
              <a:rPr lang="en-US"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electromagnetic noise.</a:t>
            </a:r>
            <a:endParaRPr lang="en-US" sz="2400" spc="-10" dirty="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1290955" algn="l"/>
                <a:tab pos="2364740" algn="l"/>
                <a:tab pos="3725545" algn="l"/>
                <a:tab pos="4339590" algn="l"/>
                <a:tab pos="6055995" algn="l"/>
                <a:tab pos="650113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Eliminate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phenomenon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CROSSTALK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27151"/>
            <a:ext cx="16548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i="0" dirty="0">
                <a:latin typeface="Times New Roman" panose="02020603050405020304"/>
                <a:cs typeface="Times New Roman" panose="02020603050405020304"/>
              </a:rPr>
              <a:t>Advantages</a:t>
            </a:r>
            <a:r>
              <a:rPr sz="2300" i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i="0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sz="2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6440" y="1168653"/>
            <a:ext cx="7691120" cy="35785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895" indent="-29019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02895" algn="l"/>
              </a:tabLst>
            </a:pP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Cheaper</a:t>
            </a:r>
            <a:endParaRPr lang="en-US" sz="2300" spc="-10" dirty="0">
              <a:latin typeface="Times New Roman" panose="02020603050405020304"/>
              <a:cs typeface="Times New Roman" panose="02020603050405020304"/>
            </a:endParaRPr>
          </a:p>
          <a:p>
            <a:pPr marL="302895" indent="-29019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02895" algn="l"/>
              </a:tabLst>
            </a:pPr>
            <a:endParaRPr sz="2300" dirty="0">
              <a:latin typeface="Times New Roman" panose="02020603050405020304"/>
              <a:cs typeface="Times New Roman" panose="02020603050405020304"/>
            </a:endParaRPr>
          </a:p>
          <a:p>
            <a:pPr marL="12700" marR="454025" indent="290195">
              <a:lnSpc>
                <a:spcPct val="100000"/>
              </a:lnSpc>
              <a:buAutoNum type="arabicPeriod"/>
              <a:tabLst>
                <a:tab pos="302895" algn="l"/>
              </a:tabLst>
            </a:pPr>
            <a:r>
              <a:rPr sz="2300" dirty="0">
                <a:latin typeface="Times New Roman" panose="02020603050405020304"/>
                <a:cs typeface="Times New Roman" panose="02020603050405020304"/>
              </a:rPr>
              <a:t>Less</a:t>
            </a:r>
            <a:r>
              <a:rPr sz="2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susceptible</a:t>
            </a:r>
            <a:r>
              <a:rPr sz="2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electrical</a:t>
            </a: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interference</a:t>
            </a:r>
            <a:endParaRPr lang="en-US" sz="230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454025" indent="290195">
              <a:lnSpc>
                <a:spcPct val="100000"/>
              </a:lnSpc>
              <a:buAutoNum type="arabicPeriod"/>
              <a:tabLst>
                <a:tab pos="302895" algn="l"/>
              </a:tabLst>
            </a:pPr>
            <a:endParaRPr lang="en-IN" sz="2300" spc="-10" dirty="0">
              <a:latin typeface="Times New Roman" panose="02020603050405020304"/>
              <a:cs typeface="Times New Roman" panose="02020603050405020304"/>
            </a:endParaRPr>
          </a:p>
          <a:p>
            <a:pPr marL="302895" indent="-290195">
              <a:lnSpc>
                <a:spcPct val="100000"/>
              </a:lnSpc>
              <a:buAutoNum type="arabicPeriod"/>
              <a:tabLst>
                <a:tab pos="302895" algn="l"/>
              </a:tabLst>
            </a:pPr>
            <a:r>
              <a:rPr sz="23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turn</a:t>
            </a:r>
            <a:r>
              <a:rPr sz="23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less</a:t>
            </a:r>
            <a:r>
              <a:rPr sz="2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likely</a:t>
            </a:r>
            <a:r>
              <a:rPr sz="2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cause</a:t>
            </a:r>
            <a:r>
              <a:rPr sz="2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interference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 themselves.</a:t>
            </a:r>
            <a:endParaRPr lang="en-US" sz="230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02895" algn="l"/>
              </a:tabLst>
            </a:pPr>
            <a:endParaRPr sz="2300" dirty="0">
              <a:latin typeface="Times New Roman" panose="02020603050405020304"/>
              <a:cs typeface="Times New Roman" panose="02020603050405020304"/>
            </a:endParaRPr>
          </a:p>
          <a:p>
            <a:pPr marL="12700" marR="149860">
              <a:lnSpc>
                <a:spcPct val="100000"/>
              </a:lnSpc>
              <a:tabLst>
                <a:tab pos="302895" algn="l"/>
              </a:tabLst>
            </a:pPr>
            <a:r>
              <a:rPr lang="en-US" sz="2300" dirty="0">
                <a:latin typeface="Times New Roman" panose="02020603050405020304"/>
                <a:cs typeface="Times New Roman" panose="02020603050405020304"/>
              </a:rPr>
              <a:t>4.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Because</a:t>
            </a:r>
            <a:r>
              <a:rPr sz="2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electrically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"cleaner"</a:t>
            </a:r>
            <a:r>
              <a:rPr lang="en-US" sz="2300" dirty="0">
                <a:latin typeface="Times New Roman" panose="02020603050405020304"/>
                <a:cs typeface="Times New Roman" panose="02020603050405020304"/>
              </a:rPr>
              <a:t>: </a:t>
            </a:r>
            <a:endParaRPr lang="en-US" sz="230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149860">
              <a:lnSpc>
                <a:spcPct val="100000"/>
              </a:lnSpc>
              <a:tabLst>
                <a:tab pos="302895" algn="l"/>
              </a:tabLst>
            </a:pPr>
            <a:r>
              <a:rPr lang="en-IN" sz="2300" spc="-10" dirty="0">
                <a:latin typeface="Times New Roman" panose="02020603050405020304"/>
                <a:cs typeface="Times New Roman" panose="02020603050405020304"/>
              </a:rPr>
              <a:t>	</a:t>
            </a:r>
            <a:endParaRPr lang="en-IN" sz="230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149860">
              <a:lnSpc>
                <a:spcPct val="100000"/>
              </a:lnSpc>
              <a:tabLst>
                <a:tab pos="302895" algn="l"/>
              </a:tabLst>
            </a:pPr>
            <a:r>
              <a:rPr lang="en-IN" sz="2300" spc="-10" dirty="0">
                <a:latin typeface="Times New Roman" panose="02020603050405020304"/>
                <a:cs typeface="Times New Roman" panose="02020603050405020304"/>
              </a:rPr>
              <a:t>			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STP</a:t>
            </a:r>
            <a:r>
              <a:rPr sz="23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wire</a:t>
            </a:r>
            <a:r>
              <a:rPr sz="23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carry</a:t>
            </a:r>
            <a:r>
              <a:rPr sz="2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faster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 speed.</a:t>
            </a:r>
            <a:endParaRPr sz="23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5"/>
              </a:spcBef>
            </a:pPr>
            <a:endParaRPr sz="23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1321" y="6431381"/>
            <a:ext cx="309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888888"/>
                </a:solidFill>
                <a:latin typeface="Arial" panose="020B0604020202020204"/>
                <a:cs typeface="Arial" panose="020B0604020202020204"/>
              </a:rPr>
              <a:t>7.11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268" y="2003882"/>
            <a:ext cx="8380731" cy="200054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Disadvantages</a:t>
            </a:r>
            <a:r>
              <a:rPr lang="en-US" sz="24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457200">
              <a:lnSpc>
                <a:spcPct val="100000"/>
              </a:lnSpc>
              <a:buAutoNum type="arabicPeriod"/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STP</a:t>
            </a:r>
            <a:r>
              <a:rPr lang="en-US" sz="24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wire</a:t>
            </a:r>
            <a:r>
              <a:rPr lang="en-US"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pc="-35" dirty="0"/>
              <a:t>:</a:t>
            </a:r>
            <a:endParaRPr lang="en-US" spc="-35" dirty="0"/>
          </a:p>
          <a:p>
            <a:pPr marL="12700" marR="5080">
              <a:lnSpc>
                <a:spcPct val="100000"/>
              </a:lnSpc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		Physically</a:t>
            </a:r>
            <a:r>
              <a:rPr lang="en-US"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larger</a:t>
            </a:r>
            <a:r>
              <a:rPr lang="en-US"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lang="en-US"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expensive</a:t>
            </a:r>
            <a:r>
              <a:rPr lang="en-US"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spc="-20" dirty="0">
                <a:latin typeface="Times New Roman" panose="02020603050405020304"/>
                <a:cs typeface="Times New Roman" panose="02020603050405020304"/>
              </a:rPr>
              <a:t>than 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twisted</a:t>
            </a:r>
            <a:r>
              <a:rPr lang="en-US" sz="2400" spc="-25" dirty="0">
                <a:latin typeface="Times New Roman" panose="02020603050405020304"/>
                <a:cs typeface="Times New Roman" panose="02020603050405020304"/>
              </a:rPr>
              <a:t> 			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pair</a:t>
            </a:r>
            <a:r>
              <a:rPr lang="en-US" sz="2400" spc="-10" dirty="0">
                <a:latin typeface="Times New Roman" panose="02020603050405020304"/>
                <a:cs typeface="Times New Roman" panose="02020603050405020304"/>
              </a:rPr>
              <a:t> wire.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1362" y="1973326"/>
            <a:ext cx="7783701" cy="3468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9692" rIns="0" bIns="0" rtlCol="0">
            <a:spAutoFit/>
          </a:bodyPr>
          <a:lstStyle/>
          <a:p>
            <a:pPr marL="168275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solidFill>
                  <a:srgbClr val="00279F"/>
                </a:solidFill>
                <a:latin typeface="Arial" panose="020B0604020202020204"/>
                <a:cs typeface="Arial" panose="020B0604020202020204"/>
              </a:rPr>
              <a:t>Unshielded</a:t>
            </a:r>
            <a:r>
              <a:rPr sz="3200" i="0" spc="-45" dirty="0">
                <a:solidFill>
                  <a:srgbClr val="00279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spc="-40" dirty="0">
                <a:solidFill>
                  <a:srgbClr val="00279F"/>
                </a:solidFill>
                <a:latin typeface="Arial" panose="020B0604020202020204"/>
                <a:cs typeface="Arial" panose="020B0604020202020204"/>
              </a:rPr>
              <a:t>Twisted-</a:t>
            </a:r>
            <a:r>
              <a:rPr sz="3200" i="0" dirty="0">
                <a:solidFill>
                  <a:srgbClr val="00279F"/>
                </a:solidFill>
                <a:latin typeface="Arial" panose="020B0604020202020204"/>
                <a:cs typeface="Arial" panose="020B0604020202020204"/>
              </a:rPr>
              <a:t>Pair</a:t>
            </a:r>
            <a:r>
              <a:rPr sz="3200" i="0" spc="-10" dirty="0">
                <a:solidFill>
                  <a:srgbClr val="00279F"/>
                </a:solidFill>
                <a:latin typeface="Arial" panose="020B0604020202020204"/>
                <a:cs typeface="Arial" panose="020B0604020202020204"/>
              </a:rPr>
              <a:t> Cable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4037" y="2417826"/>
            <a:ext cx="7840850" cy="3700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58058" y="60782"/>
            <a:ext cx="26873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Coaxial</a:t>
            </a:r>
            <a:r>
              <a:rPr sz="3200" i="0" spc="-7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i="0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Cable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662" y="1055750"/>
            <a:ext cx="7999601" cy="881235"/>
          </a:xfrm>
          <a:prstGeom prst="rect">
            <a:avLst/>
          </a:prstGeom>
        </p:spPr>
      </p:pic>
      <p:pic>
        <p:nvPicPr>
          <p:cNvPr id="5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224534"/>
            <a:ext cx="8272780" cy="40882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496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bandwidth</a:t>
            </a:r>
            <a:endParaRPr lang="en-US" sz="2400" spc="-1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4965" algn="l"/>
              </a:tabLst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Excellent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immunity.</a:t>
            </a:r>
            <a:endParaRPr lang="en-US" sz="2400" spc="-1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bandwidth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possible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depends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lang="en-US" sz="24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2400" spc="-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endParaRPr lang="en-US" sz="2400" spc="-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lang="en-US" sz="2400" spc="-5" dirty="0">
                <a:latin typeface="Times New Roman" panose="02020603050405020304"/>
                <a:cs typeface="Times New Roman" panose="02020603050405020304"/>
              </a:rPr>
              <a:t>					C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able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quality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length.</a:t>
            </a:r>
            <a:endParaRPr lang="en-US" sz="240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telephone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system,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cable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television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MAN</a:t>
            </a:r>
            <a:endParaRPr lang="en-US" sz="2400" spc="-2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Wingdings" panose="05000000000000000000"/>
              <a:buChar char=""/>
              <a:tabLst>
                <a:tab pos="354965" algn="l"/>
              </a:tabLst>
            </a:pP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ow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replaced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by fiber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optics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lang="en-US"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long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distance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routes.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4594" y="95503"/>
            <a:ext cx="3474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Optical</a:t>
            </a:r>
            <a:r>
              <a:rPr sz="3200" i="0" spc="-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Fiber</a:t>
            </a:r>
            <a:r>
              <a:rPr sz="3200" i="0" spc="-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Cable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661" y="2667000"/>
            <a:ext cx="7727950" cy="13304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Optical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Fiber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plastic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cable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endParaRPr lang="en-US" sz="2800" spc="-4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endParaRPr lang="en-US" sz="2800" spc="-4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2800" spc="-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 err="1">
                <a:latin typeface="Times New Roman" panose="02020603050405020304"/>
                <a:cs typeface="Times New Roman" panose="02020603050405020304"/>
              </a:rPr>
              <a:t>ccept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and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transport</a:t>
            </a:r>
            <a:r>
              <a:rPr sz="28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signals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form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Light.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4594" y="95503"/>
            <a:ext cx="3474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Optical</a:t>
            </a:r>
            <a:r>
              <a:rPr sz="3200" i="0" spc="-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Fiber</a:t>
            </a:r>
            <a:r>
              <a:rPr sz="3200" i="0" spc="-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Cable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8025" y="1447800"/>
            <a:ext cx="7727950" cy="33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2295"/>
              </a:spcBef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Advantages: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860425" indent="-45783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"/>
              <a:tabLst>
                <a:tab pos="86042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Resistance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860425" indent="-457835">
              <a:lnSpc>
                <a:spcPct val="100000"/>
              </a:lnSpc>
              <a:buFont typeface="Wingdings" panose="05000000000000000000"/>
              <a:buChar char=""/>
              <a:tabLst>
                <a:tab pos="86042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Less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Attenuation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860425" indent="-457835">
              <a:lnSpc>
                <a:spcPct val="100000"/>
              </a:lnSpc>
              <a:buFont typeface="Wingdings" panose="05000000000000000000"/>
              <a:buChar char=""/>
              <a:tabLst>
                <a:tab pos="86042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Higher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BW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 panose="05000000000000000000"/>
              <a:buChar char=""/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402590">
              <a:lnSpc>
                <a:spcPct val="100000"/>
              </a:lnSpc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Disadvantages: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860425" indent="-457835">
              <a:lnSpc>
                <a:spcPct val="100000"/>
              </a:lnSpc>
              <a:buFont typeface="Wingdings" panose="05000000000000000000"/>
              <a:buChar char=""/>
              <a:tabLst>
                <a:tab pos="860425" algn="l"/>
              </a:tabLst>
            </a:pP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Cost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860425" indent="-457835">
              <a:lnSpc>
                <a:spcPct val="100000"/>
              </a:lnSpc>
              <a:buFont typeface="Wingdings" panose="05000000000000000000"/>
              <a:buChar char=""/>
              <a:tabLst>
                <a:tab pos="860425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Installation/Maintenance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860425" indent="-457835">
              <a:lnSpc>
                <a:spcPct val="100000"/>
              </a:lnSpc>
              <a:buFont typeface="Wingdings" panose="05000000000000000000"/>
              <a:buChar char=""/>
              <a:tabLst>
                <a:tab pos="86042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Fragility(Broken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Wire)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9740" rIns="0" bIns="0" rtlCol="0">
            <a:spAutoFit/>
          </a:bodyPr>
          <a:lstStyle/>
          <a:p>
            <a:pPr marL="292417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00000"/>
                </a:solidFill>
              </a:rPr>
              <a:t>Optical</a:t>
            </a:r>
            <a:r>
              <a:rPr spc="-14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fiber</a:t>
            </a:r>
            <a:endParaRPr spc="-10" dirty="0">
              <a:solidFill>
                <a:srgbClr val="C000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360" y="2987675"/>
            <a:ext cx="8303439" cy="1584325"/>
          </a:xfrm>
          <a:prstGeom prst="rect">
            <a:avLst/>
          </a:prstGeom>
        </p:spPr>
      </p:pic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94068"/>
            <a:ext cx="9156700" cy="1384300"/>
            <a:chOff x="-6350" y="-6350"/>
            <a:chExt cx="9156700" cy="1384300"/>
          </a:xfrm>
          <a:solidFill>
            <a:schemeClr val="bg1"/>
          </a:solidFill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9144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4000" y="1371600"/>
                  </a:lnTo>
                  <a:lnTo>
                    <a:pt x="9144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0" y="1371600"/>
                  </a:moveTo>
                  <a:lnTo>
                    <a:pt x="9144000" y="1371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7056" y="323088"/>
              <a:ext cx="5458968" cy="659892"/>
            </a:xfrm>
            <a:prstGeom prst="rect">
              <a:avLst/>
            </a:prstGeom>
            <a:grpFill/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340" y="451865"/>
            <a:ext cx="49396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i="0" dirty="0">
                <a:latin typeface="SimSun-ExtB" panose="02010609060101010101" charset="-122"/>
                <a:cs typeface="SimSun-ExtB" panose="02010609060101010101" charset="-122"/>
              </a:rPr>
              <a:t>UNGUIDED</a:t>
            </a:r>
            <a:r>
              <a:rPr sz="3200" b="0" i="0" spc="45" dirty="0"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3200" b="0" i="0" dirty="0">
                <a:latin typeface="SimSun-ExtB" panose="02010609060101010101" charset="-122"/>
                <a:cs typeface="SimSun-ExtB" panose="02010609060101010101" charset="-122"/>
              </a:rPr>
              <a:t>MEDIA:</a:t>
            </a:r>
            <a:r>
              <a:rPr sz="3200" b="0" i="0" spc="70" dirty="0"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3200" b="0" i="0" spc="-10" dirty="0">
                <a:latin typeface="SimSun-ExtB" panose="02010609060101010101" charset="-122"/>
                <a:cs typeface="SimSun-ExtB" panose="02010609060101010101" charset="-122"/>
              </a:rPr>
              <a:t>WIRELESS</a:t>
            </a:r>
            <a:endParaRPr sz="3200" dirty="0">
              <a:latin typeface="SimSun-ExtB" panose="02010609060101010101" charset="-122"/>
              <a:cs typeface="SimSun-ExtB" panose="02010609060101010101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07340" y="2799018"/>
            <a:ext cx="98272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Transport </a:t>
            </a:r>
            <a:r>
              <a:rPr lang="en-US" sz="2400" dirty="0" err="1"/>
              <a:t>ElectroMagnetic</a:t>
            </a:r>
            <a:r>
              <a:rPr lang="en-US" sz="2400" dirty="0"/>
              <a:t> Waves without Physical</a:t>
            </a:r>
            <a:endParaRPr lang="en-US" sz="2400" dirty="0"/>
          </a:p>
          <a:p>
            <a:r>
              <a:rPr lang="en-US" sz="2400" dirty="0"/>
              <a:t>      Conductor.</a:t>
            </a: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r>
              <a:rPr lang="en-US" sz="2400" dirty="0"/>
              <a:t>2.   This is often referred as Wireless Communication.</a:t>
            </a:r>
            <a:endParaRPr lang="en-IN" sz="2400" dirty="0"/>
          </a:p>
        </p:txBody>
      </p:sp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6128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C00000"/>
                </a:solidFill>
              </a:rPr>
              <a:t>Electromagnetic</a:t>
            </a:r>
            <a:r>
              <a:rPr sz="3000" spc="-60" dirty="0">
                <a:solidFill>
                  <a:srgbClr val="C00000"/>
                </a:solidFill>
              </a:rPr>
              <a:t> </a:t>
            </a:r>
            <a:r>
              <a:rPr sz="3000" dirty="0">
                <a:solidFill>
                  <a:srgbClr val="C00000"/>
                </a:solidFill>
              </a:rPr>
              <a:t>spectrum</a:t>
            </a:r>
            <a:r>
              <a:rPr sz="3000" spc="-65" dirty="0">
                <a:solidFill>
                  <a:srgbClr val="C00000"/>
                </a:solidFill>
              </a:rPr>
              <a:t> </a:t>
            </a:r>
            <a:r>
              <a:rPr sz="3000" dirty="0">
                <a:solidFill>
                  <a:srgbClr val="C00000"/>
                </a:solidFill>
              </a:rPr>
              <a:t>for</a:t>
            </a:r>
            <a:r>
              <a:rPr sz="3000" spc="-100" dirty="0">
                <a:solidFill>
                  <a:srgbClr val="C00000"/>
                </a:solidFill>
              </a:rPr>
              <a:t> </a:t>
            </a:r>
            <a:r>
              <a:rPr sz="3000" dirty="0">
                <a:solidFill>
                  <a:srgbClr val="C00000"/>
                </a:solidFill>
              </a:rPr>
              <a:t>wireless</a:t>
            </a:r>
            <a:r>
              <a:rPr sz="3000" spc="-70" dirty="0">
                <a:solidFill>
                  <a:srgbClr val="C00000"/>
                </a:solidFill>
              </a:rPr>
              <a:t> </a:t>
            </a:r>
            <a:r>
              <a:rPr sz="3000" spc="-10" dirty="0">
                <a:solidFill>
                  <a:srgbClr val="C00000"/>
                </a:solidFill>
              </a:rPr>
              <a:t>communication</a:t>
            </a:r>
            <a:endParaRPr sz="3000"/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6163" y="2590800"/>
            <a:ext cx="8384436" cy="2077746"/>
          </a:xfrm>
          <a:prstGeom prst="rect">
            <a:avLst/>
          </a:prstGeom>
        </p:spPr>
      </p:pic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Game </a:t>
            </a:r>
            <a:r>
              <a:rPr lang="en-IN" dirty="0"/>
              <a:t>1</a:t>
            </a:r>
            <a:r>
              <a:rPr dirty="0"/>
              <a:t>: Signal Safari 🦁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I roar in silence, travel in glass, hate the dark, and fear the twisty turns. Who am I?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Guess the transmission media!</a:t>
            </a:r>
            <a:endParaRPr b="1" dirty="0"/>
          </a:p>
          <a:p>
            <a:r>
              <a:rPr dirty="0"/>
              <a:t>A. Optical Fiber</a:t>
            </a:r>
            <a:endParaRPr dirty="0"/>
          </a:p>
          <a:p>
            <a:r>
              <a:rPr dirty="0"/>
              <a:t>B. Coaxial Cable</a:t>
            </a:r>
            <a:endParaRPr dirty="0"/>
          </a:p>
          <a:p>
            <a:r>
              <a:rPr dirty="0"/>
              <a:t>C. Twisted Pair</a:t>
            </a:r>
            <a:endParaRPr dirty="0"/>
          </a:p>
          <a:p>
            <a:r>
              <a:rPr dirty="0"/>
              <a:t>D. Radio Wave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9752" y="4156112"/>
            <a:ext cx="4577827" cy="2152613"/>
          </a:xfrm>
          <a:prstGeom prst="rect">
            <a:avLst/>
          </a:prstGeom>
        </p:spPr>
      </p:pic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404" y="461594"/>
            <a:ext cx="49510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i="0" spc="-10" dirty="0">
                <a:latin typeface="Calibri" panose="020F0502020204030204"/>
                <a:cs typeface="Calibri" panose="020F0502020204030204"/>
              </a:rPr>
              <a:t>Propagation</a:t>
            </a:r>
            <a:r>
              <a:rPr sz="4400" b="0" i="0" spc="-175" dirty="0">
                <a:latin typeface="Calibri" panose="020F0502020204030204"/>
                <a:cs typeface="Calibri" panose="020F0502020204030204"/>
              </a:rPr>
              <a:t> </a:t>
            </a:r>
            <a:r>
              <a:rPr sz="4400" b="0" i="0" spc="-10" dirty="0">
                <a:latin typeface="Calibri" panose="020F0502020204030204"/>
                <a:cs typeface="Calibri" panose="020F0502020204030204"/>
              </a:rPr>
              <a:t>Methods</a:t>
            </a:r>
            <a:endParaRPr sz="4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0635"/>
            <a:ext cx="4549140" cy="17818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Ground</a:t>
            </a:r>
            <a:r>
              <a:rPr sz="3200" spc="-1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Propagation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Sky</a:t>
            </a:r>
            <a:r>
              <a:rPr sz="32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Propagation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20" dirty="0">
                <a:latin typeface="Calibri" panose="020F0502020204030204"/>
                <a:cs typeface="Calibri" panose="020F0502020204030204"/>
              </a:rPr>
              <a:t>Line-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of-</a:t>
            </a:r>
            <a:r>
              <a:rPr sz="3200" dirty="0">
                <a:latin typeface="Calibri" panose="020F0502020204030204"/>
                <a:cs typeface="Calibri" panose="020F0502020204030204"/>
              </a:rPr>
              <a:t>Sight</a:t>
            </a:r>
            <a:r>
              <a:rPr sz="32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Propagation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83702" y="6431381"/>
            <a:ext cx="32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888888"/>
                </a:solidFill>
                <a:latin typeface="Arial" panose="020B0604020202020204"/>
                <a:cs typeface="Arial" panose="020B0604020202020204"/>
              </a:rPr>
              <a:t>7.22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700" y="702310"/>
            <a:ext cx="8788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75740" algn="l"/>
                <a:tab pos="8775065" algn="l"/>
              </a:tabLst>
            </a:pPr>
            <a:r>
              <a:rPr u="sng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	</a:t>
            </a:r>
            <a:r>
              <a:rPr u="sng" spc="-10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Wireless</a:t>
            </a:r>
            <a:r>
              <a:rPr u="sng" spc="-195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u="sng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transmission</a:t>
            </a:r>
            <a:r>
              <a:rPr u="sng" spc="-190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u="sng" spc="-10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waves</a:t>
            </a:r>
            <a:r>
              <a:rPr u="sng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	</a:t>
            </a:r>
            <a:endParaRPr u="sng" dirty="0">
              <a:solidFill>
                <a:srgbClr val="C00000"/>
              </a:solidFill>
              <a:uFill>
                <a:solidFill>
                  <a:srgbClr val="0000FF"/>
                </a:solidFill>
              </a:u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2437" y="2043048"/>
            <a:ext cx="8239125" cy="2771775"/>
          </a:xfrm>
          <a:prstGeom prst="rect">
            <a:avLst/>
          </a:prstGeom>
        </p:spPr>
      </p:pic>
      <p:pic>
        <p:nvPicPr>
          <p:cNvPr id="6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2340"/>
            <a:ext cx="8864600" cy="2831544"/>
          </a:xfrm>
        </p:spPr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sz="2400" b="0" i="0" dirty="0">
                <a:latin typeface="Arial" panose="020B0604020202020204"/>
                <a:cs typeface="Arial" panose="020B0604020202020204"/>
              </a:rPr>
              <a:t>1.	Used</a:t>
            </a:r>
            <a:r>
              <a:rPr lang="en-US" sz="2400" b="0" i="0" spc="-2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for</a:t>
            </a:r>
            <a:r>
              <a:rPr lang="en-US" sz="2400" b="0" i="0" spc="-2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spc="-10" dirty="0">
                <a:latin typeface="Arial" panose="020B0604020202020204"/>
                <a:cs typeface="Arial" panose="020B0604020202020204"/>
              </a:rPr>
              <a:t>multicast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communications:</a:t>
            </a:r>
            <a:br>
              <a:rPr lang="en-US" sz="2400" b="0" i="0" spc="-60" dirty="0">
                <a:latin typeface="Arial" panose="020B0604020202020204"/>
                <a:cs typeface="Arial" panose="020B0604020202020204"/>
              </a:rPr>
            </a:br>
            <a:r>
              <a:rPr lang="en-US" sz="2400" b="0" i="0" spc="-60" dirty="0">
                <a:latin typeface="Arial" panose="020B0604020202020204"/>
                <a:cs typeface="Arial" panose="020B0604020202020204"/>
              </a:rPr>
              <a:t>			S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uch</a:t>
            </a:r>
            <a:r>
              <a:rPr lang="en-US" sz="2400" b="0" i="0" spc="-4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as</a:t>
            </a:r>
            <a:r>
              <a:rPr lang="en-US" sz="2400" b="0" i="0" spc="-3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radio</a:t>
            </a:r>
            <a:r>
              <a:rPr lang="en-US" sz="2400" b="0" i="0" spc="-3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spc="-25" dirty="0">
                <a:latin typeface="Arial" panose="020B0604020202020204"/>
                <a:cs typeface="Arial" panose="020B0604020202020204"/>
              </a:rPr>
              <a:t>and </a:t>
            </a:r>
            <a:r>
              <a:rPr lang="en-US" sz="2400" b="0" i="0" spc="-10" dirty="0">
                <a:latin typeface="Arial" panose="020B0604020202020204"/>
                <a:cs typeface="Arial" panose="020B0604020202020204"/>
              </a:rPr>
              <a:t>television.</a:t>
            </a:r>
            <a:br>
              <a:rPr lang="en-US" sz="2400" b="0" i="0" spc="-10" dirty="0">
                <a:latin typeface="Arial" panose="020B0604020202020204"/>
                <a:cs typeface="Arial" panose="020B0604020202020204"/>
              </a:rPr>
            </a:br>
            <a:br>
              <a:rPr lang="en-US" sz="2400" b="0" i="0" spc="-10" dirty="0">
                <a:latin typeface="Arial" panose="020B0604020202020204"/>
                <a:cs typeface="Arial" panose="020B0604020202020204"/>
              </a:rPr>
            </a:br>
            <a:r>
              <a:rPr lang="en-US" sz="2400" b="0" i="0" spc="-10" dirty="0">
                <a:latin typeface="Arial" panose="020B0604020202020204"/>
                <a:cs typeface="Arial" panose="020B0604020202020204"/>
              </a:rPr>
              <a:t>2.	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They</a:t>
            </a:r>
            <a:r>
              <a:rPr lang="en-US" sz="2400" b="0" i="0" spc="-6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can</a:t>
            </a:r>
            <a:r>
              <a:rPr lang="en-US" sz="2400" b="0" i="0" spc="-2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penetrate</a:t>
            </a:r>
            <a:r>
              <a:rPr lang="en-US" sz="2400" b="0" i="0" spc="-4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through</a:t>
            </a:r>
            <a:r>
              <a:rPr lang="en-US" sz="2400" b="0" i="0" spc="-5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spc="-10" dirty="0">
                <a:latin typeface="Arial" panose="020B0604020202020204"/>
                <a:cs typeface="Arial" panose="020B0604020202020204"/>
              </a:rPr>
              <a:t>walls. </a:t>
            </a:r>
            <a:br>
              <a:rPr lang="en-US" sz="2400" b="0" i="0" spc="-10" dirty="0">
                <a:latin typeface="Arial" panose="020B0604020202020204"/>
                <a:cs typeface="Arial" panose="020B0604020202020204"/>
              </a:rPr>
            </a:br>
            <a:br>
              <a:rPr lang="en-US" sz="2400" b="0" i="0" spc="-10" dirty="0">
                <a:latin typeface="Arial" panose="020B0604020202020204"/>
                <a:cs typeface="Arial" panose="020B0604020202020204"/>
              </a:rPr>
            </a:br>
            <a:r>
              <a:rPr lang="en-US" sz="2400" b="0" i="0" spc="-10" dirty="0">
                <a:latin typeface="Arial" panose="020B0604020202020204"/>
                <a:cs typeface="Arial" panose="020B0604020202020204"/>
              </a:rPr>
              <a:t>3.	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Use</a:t>
            </a:r>
            <a:r>
              <a:rPr lang="en-US" sz="2400" b="0" i="0" spc="-6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Omni</a:t>
            </a:r>
            <a:r>
              <a:rPr lang="en-US" sz="2400" b="0" i="0" spc="-1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dirty="0">
                <a:latin typeface="Arial" panose="020B0604020202020204"/>
                <a:cs typeface="Arial" panose="020B0604020202020204"/>
              </a:rPr>
              <a:t>directional</a:t>
            </a:r>
            <a:r>
              <a:rPr lang="en-US" sz="2400" b="0" i="0" spc="-4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b="0" i="0" spc="-10" dirty="0">
                <a:latin typeface="Arial" panose="020B0604020202020204"/>
                <a:cs typeface="Arial" panose="020B0604020202020204"/>
              </a:rPr>
              <a:t>antennas</a:t>
            </a:r>
            <a:br>
              <a:rPr lang="en-US" sz="4000" dirty="0">
                <a:latin typeface="Arial" panose="020B0604020202020204"/>
                <a:cs typeface="Arial" panose="020B0604020202020204"/>
              </a:rPr>
            </a:b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505200" y="381000"/>
            <a:ext cx="4658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latin typeface="Arial" panose="020B0604020202020204"/>
                <a:cs typeface="Arial" panose="020B0604020202020204"/>
              </a:rPr>
              <a:t>Radio</a:t>
            </a:r>
            <a:r>
              <a:rPr lang="en-US" sz="3600" b="1" i="0" spc="-5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3600" b="1" spc="-55" dirty="0">
                <a:latin typeface="Arial" panose="020B0604020202020204"/>
                <a:cs typeface="Arial" panose="020B0604020202020204"/>
              </a:rPr>
              <a:t>W</a:t>
            </a:r>
            <a:r>
              <a:rPr lang="en-US" sz="3600" b="1" i="0" dirty="0">
                <a:latin typeface="Arial" panose="020B0604020202020204"/>
                <a:cs typeface="Arial" panose="020B0604020202020204"/>
              </a:rPr>
              <a:t>aves</a:t>
            </a:r>
            <a:r>
              <a:rPr lang="en-US" sz="3600" b="1" i="0" spc="-40" dirty="0">
                <a:latin typeface="Arial" panose="020B0604020202020204"/>
                <a:cs typeface="Arial" panose="020B0604020202020204"/>
              </a:rPr>
              <a:t> </a:t>
            </a:r>
            <a:endParaRPr lang="en-IN" sz="3600" b="1" dirty="0"/>
          </a:p>
        </p:txBody>
      </p:sp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7534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Omnidirectional</a:t>
            </a:r>
            <a:r>
              <a:rPr sz="2000" spc="-60" dirty="0"/>
              <a:t> </a:t>
            </a:r>
            <a:r>
              <a:rPr sz="2000" spc="-10" dirty="0"/>
              <a:t>antenna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11951" y="2040001"/>
            <a:ext cx="3205846" cy="3668494"/>
          </a:xfrm>
          <a:prstGeom prst="rect">
            <a:avLst/>
          </a:prstGeom>
        </p:spPr>
      </p:pic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2139652"/>
            <a:ext cx="8839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488440" algn="just">
              <a:lnSpc>
                <a:spcPct val="100000"/>
              </a:lnSpc>
              <a:spcBef>
                <a:spcPts val="2435"/>
              </a:spcBef>
            </a:pPr>
            <a:r>
              <a:rPr lang="en-US" sz="1800" b="1" dirty="0">
                <a:latin typeface="Arial" panose="020B0604020202020204"/>
                <a:cs typeface="Arial" panose="020B0604020202020204"/>
              </a:rPr>
              <a:t>1.	U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sed</a:t>
            </a:r>
            <a:r>
              <a:rPr lang="en-US"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for</a:t>
            </a:r>
            <a:r>
              <a:rPr lang="en-US"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10" dirty="0">
                <a:latin typeface="Arial" panose="020B0604020202020204"/>
                <a:cs typeface="Arial" panose="020B0604020202020204"/>
              </a:rPr>
              <a:t>unicast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communication:</a:t>
            </a: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12700" marR="1488440" algn="just">
              <a:lnSpc>
                <a:spcPct val="100000"/>
              </a:lnSpc>
              <a:spcBef>
                <a:spcPts val="2435"/>
              </a:spcBef>
            </a:pPr>
            <a:r>
              <a:rPr lang="en-US" sz="2000" spc="-70" dirty="0">
                <a:latin typeface="Arial" panose="020B0604020202020204"/>
                <a:cs typeface="Arial" panose="020B0604020202020204"/>
              </a:rPr>
              <a:t>		A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s</a:t>
            </a:r>
            <a:r>
              <a:rPr lang="en-US" sz="2000" spc="-3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10" dirty="0">
                <a:latin typeface="Arial" panose="020B0604020202020204"/>
                <a:cs typeface="Arial" panose="020B0604020202020204"/>
              </a:rPr>
              <a:t>cellular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telephones</a:t>
            </a:r>
            <a:r>
              <a:rPr lang="en-US" sz="2000" spc="-7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and</a:t>
            </a:r>
            <a:r>
              <a:rPr lang="en-US" sz="2000" spc="-4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wireless</a:t>
            </a:r>
            <a:r>
              <a:rPr lang="en-US" sz="2000" spc="-4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10" dirty="0">
                <a:latin typeface="Arial" panose="020B0604020202020204"/>
                <a:cs typeface="Arial" panose="020B0604020202020204"/>
              </a:rPr>
              <a:t>LANs.</a:t>
            </a:r>
            <a:endParaRPr lang="en-US" sz="2000" spc="-10" dirty="0">
              <a:latin typeface="Arial" panose="020B0604020202020204"/>
              <a:cs typeface="Arial" panose="020B0604020202020204"/>
            </a:endParaRPr>
          </a:p>
          <a:p>
            <a:pPr marL="12700" marR="1488440" algn="just">
              <a:lnSpc>
                <a:spcPct val="100000"/>
              </a:lnSpc>
              <a:spcBef>
                <a:spcPts val="2435"/>
              </a:spcBef>
            </a:pP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469900" marR="1534160" indent="-457200" algn="just">
              <a:lnSpc>
                <a:spcPct val="100000"/>
              </a:lnSpc>
              <a:spcBef>
                <a:spcPts val="5"/>
              </a:spcBef>
              <a:buAutoNum type="arabicPeriod" startAt="2"/>
            </a:pPr>
            <a:r>
              <a:rPr lang="en-US" sz="2000" dirty="0">
                <a:latin typeface="Arial" panose="020B0604020202020204"/>
                <a:cs typeface="Arial" panose="020B0604020202020204"/>
              </a:rPr>
              <a:t>Higher</a:t>
            </a:r>
            <a:r>
              <a:rPr lang="en-US"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frequency</a:t>
            </a:r>
            <a:r>
              <a:rPr lang="en-US" sz="2000" spc="-5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ranges</a:t>
            </a:r>
            <a:r>
              <a:rPr lang="en-US"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10" dirty="0">
                <a:latin typeface="Arial" panose="020B0604020202020204"/>
                <a:cs typeface="Arial" panose="020B0604020202020204"/>
              </a:rPr>
              <a:t>cannot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penetrate</a:t>
            </a:r>
            <a:r>
              <a:rPr lang="en-US" sz="2000" spc="-7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10" dirty="0">
                <a:latin typeface="Arial" panose="020B0604020202020204"/>
                <a:cs typeface="Arial" panose="020B0604020202020204"/>
              </a:rPr>
              <a:t>walls.</a:t>
            </a:r>
            <a:endParaRPr lang="en-US" sz="2000" spc="-10" dirty="0">
              <a:latin typeface="Arial" panose="020B0604020202020204"/>
              <a:cs typeface="Arial" panose="020B0604020202020204"/>
            </a:endParaRPr>
          </a:p>
          <a:p>
            <a:pPr marL="469900" marR="1534160" indent="-457200" algn="just">
              <a:lnSpc>
                <a:spcPct val="100000"/>
              </a:lnSpc>
              <a:spcBef>
                <a:spcPts val="5"/>
              </a:spcBef>
              <a:buAutoNum type="arabicPeriod" startAt="2"/>
            </a:pPr>
            <a:endParaRPr lang="en-US" sz="2000" spc="-10" dirty="0">
              <a:latin typeface="Arial" panose="020B0604020202020204"/>
              <a:cs typeface="Arial" panose="020B0604020202020204"/>
            </a:endParaRPr>
          </a:p>
          <a:p>
            <a:pPr marL="469900" marR="1534160" indent="-457200" algn="just">
              <a:lnSpc>
                <a:spcPct val="100000"/>
              </a:lnSpc>
              <a:spcBef>
                <a:spcPts val="5"/>
              </a:spcBef>
              <a:buAutoNum type="arabicPeriod" startAt="2"/>
            </a:pP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2000" dirty="0">
                <a:latin typeface="Arial" panose="020B0604020202020204"/>
                <a:cs typeface="Arial" panose="020B0604020202020204"/>
              </a:rPr>
              <a:t>3.	Use</a:t>
            </a:r>
            <a:r>
              <a:rPr lang="en-US"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directional</a:t>
            </a:r>
            <a:r>
              <a:rPr lang="en-US" sz="2000" spc="-3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antennas</a:t>
            </a:r>
            <a:r>
              <a:rPr lang="en-US" sz="2000" spc="-40" dirty="0">
                <a:latin typeface="Arial" panose="020B0604020202020204"/>
                <a:cs typeface="Arial" panose="020B0604020202020204"/>
              </a:rPr>
              <a:t> </a:t>
            </a:r>
            <a:endParaRPr lang="en-US" sz="2000" spc="-40" dirty="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2000" spc="-40" dirty="0">
                <a:latin typeface="Arial" panose="020B0604020202020204"/>
                <a:cs typeface="Arial" panose="020B0604020202020204"/>
              </a:rPr>
              <a:t>		</a:t>
            </a:r>
            <a:r>
              <a:rPr lang="en-US"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point</a:t>
            </a:r>
            <a:r>
              <a:rPr lang="en-US" sz="2000" spc="-4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to</a:t>
            </a:r>
            <a:r>
              <a:rPr lang="en-US"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10" dirty="0">
                <a:latin typeface="Arial" panose="020B0604020202020204"/>
                <a:cs typeface="Arial" panose="020B0604020202020204"/>
              </a:rPr>
              <a:t>point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line</a:t>
            </a:r>
            <a:r>
              <a:rPr lang="en-US" sz="2000" spc="-5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of</a:t>
            </a:r>
            <a:r>
              <a:rPr lang="en-US"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sight</a:t>
            </a:r>
            <a:r>
              <a:rPr lang="en-US" sz="2000" spc="-1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spc="-10" dirty="0">
                <a:latin typeface="Arial" panose="020B0604020202020204"/>
                <a:cs typeface="Arial" panose="020B0604020202020204"/>
              </a:rPr>
              <a:t>communications.</a:t>
            </a:r>
            <a:endParaRPr lang="en-US"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71800" y="8382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/>
                <a:cs typeface="Arial" panose="020B0604020202020204"/>
              </a:rPr>
              <a:t>Microwaves</a:t>
            </a:r>
            <a:r>
              <a:rPr lang="en-US" sz="3600" b="1" spc="-60" dirty="0">
                <a:latin typeface="Arial" panose="020B0604020202020204"/>
                <a:cs typeface="Arial" panose="020B0604020202020204"/>
              </a:rPr>
              <a:t> </a:t>
            </a:r>
            <a:endParaRPr lang="en-IN" sz="3600" b="1" dirty="0"/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7534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Unidirectional</a:t>
            </a:r>
            <a:r>
              <a:rPr sz="2000" spc="-90" dirty="0"/>
              <a:t> </a:t>
            </a:r>
            <a:r>
              <a:rPr sz="2000" spc="-10" dirty="0"/>
              <a:t>antennas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8825" y="2051050"/>
            <a:ext cx="7394575" cy="3461305"/>
          </a:xfrm>
          <a:prstGeom prst="rect">
            <a:avLst/>
          </a:prstGeom>
        </p:spPr>
      </p:pic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269" y="2003882"/>
            <a:ext cx="7617460" cy="283154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430"/>
              </a:spcBef>
            </a:pP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marL="340360" marR="333375" algn="ctr">
              <a:lnSpc>
                <a:spcPct val="100000"/>
              </a:lnSpc>
            </a:pPr>
            <a:r>
              <a:rPr lang="en-US" sz="4000" b="1" dirty="0">
                <a:latin typeface="Arial" panose="020B0604020202020204"/>
                <a:cs typeface="Arial" panose="020B0604020202020204"/>
              </a:rPr>
              <a:t>Infrared</a:t>
            </a:r>
            <a:r>
              <a:rPr lang="en-US" sz="4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4000" b="1" dirty="0">
                <a:latin typeface="Arial" panose="020B0604020202020204"/>
                <a:cs typeface="Arial" panose="020B0604020202020204"/>
              </a:rPr>
              <a:t>signals:</a:t>
            </a:r>
            <a:endParaRPr lang="en-US" sz="4000" b="1" dirty="0">
              <a:latin typeface="Arial" panose="020B0604020202020204"/>
              <a:cs typeface="Arial" panose="020B0604020202020204"/>
            </a:endParaRPr>
          </a:p>
          <a:p>
            <a:pPr marL="340360" marR="333375" algn="ctr">
              <a:lnSpc>
                <a:spcPct val="100000"/>
              </a:lnSpc>
            </a:pPr>
            <a:endParaRPr lang="en-US" sz="2400" b="1" dirty="0">
              <a:latin typeface="Arial" panose="020B0604020202020204"/>
              <a:cs typeface="Arial" panose="020B0604020202020204"/>
            </a:endParaRPr>
          </a:p>
          <a:p>
            <a:pPr marL="340360" marR="333375" algn="ctr">
              <a:lnSpc>
                <a:spcPct val="100000"/>
              </a:lnSpc>
            </a:pPr>
            <a:r>
              <a:rPr lang="en-US" sz="2400" spc="-45" dirty="0">
                <a:latin typeface="Arial" panose="020B0604020202020204"/>
                <a:cs typeface="Arial" panose="020B0604020202020204"/>
              </a:rPr>
              <a:t> 1.	</a:t>
            </a:r>
            <a:r>
              <a:rPr lang="en-US" spc="-45" dirty="0">
                <a:latin typeface="Arial" panose="020B0604020202020204"/>
                <a:cs typeface="Arial" panose="020B0604020202020204"/>
              </a:rPr>
              <a:t>C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an</a:t>
            </a:r>
            <a:r>
              <a:rPr lang="en-US"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be</a:t>
            </a:r>
            <a:r>
              <a:rPr lang="en-US" sz="2400" spc="-4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used</a:t>
            </a:r>
            <a:r>
              <a:rPr lang="en-US" sz="2400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for</a:t>
            </a:r>
            <a:r>
              <a:rPr lang="en-US" sz="2400" spc="-2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spc="-10" dirty="0">
                <a:latin typeface="Arial" panose="020B0604020202020204"/>
                <a:cs typeface="Arial" panose="020B0604020202020204"/>
              </a:rPr>
              <a:t>short-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range</a:t>
            </a:r>
            <a:r>
              <a:rPr lang="en-US" sz="2400" spc="-5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communication</a:t>
            </a:r>
            <a:r>
              <a:rPr lang="en-US" sz="2400" spc="-4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in</a:t>
            </a:r>
            <a:r>
              <a:rPr lang="en-US" sz="2400" spc="-3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a</a:t>
            </a:r>
            <a:r>
              <a:rPr lang="en-US" sz="2400" spc="-1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closed</a:t>
            </a:r>
            <a:r>
              <a:rPr lang="en-US" sz="2400" spc="-3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spc="-20" dirty="0">
                <a:latin typeface="Arial" panose="020B0604020202020204"/>
                <a:cs typeface="Arial" panose="020B0604020202020204"/>
              </a:rPr>
              <a:t>area.</a:t>
            </a:r>
            <a:endParaRPr lang="en-US" sz="2400" spc="-20" dirty="0">
              <a:latin typeface="Arial" panose="020B0604020202020204"/>
              <a:cs typeface="Arial" panose="020B0604020202020204"/>
            </a:endParaRPr>
          </a:p>
          <a:p>
            <a:pPr marL="340360" marR="333375" algn="ctr">
              <a:lnSpc>
                <a:spcPct val="100000"/>
              </a:lnSpc>
            </a:pPr>
            <a:endParaRPr lang="en-US" sz="2400" spc="-20" dirty="0">
              <a:latin typeface="Arial" panose="020B0604020202020204"/>
              <a:cs typeface="Arial" panose="020B0604020202020204"/>
            </a:endParaRPr>
          </a:p>
          <a:p>
            <a:pPr marL="340360" marR="333375" algn="ctr">
              <a:lnSpc>
                <a:spcPct val="100000"/>
              </a:lnSpc>
            </a:pPr>
            <a:r>
              <a:rPr lang="en-US" spc="-20" dirty="0">
                <a:latin typeface="Arial" panose="020B0604020202020204"/>
                <a:cs typeface="Arial" panose="020B0604020202020204"/>
              </a:rPr>
              <a:t>2.	Uses </a:t>
            </a:r>
            <a:r>
              <a:rPr lang="en-US" sz="2400" spc="-3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spc="-10" dirty="0">
                <a:latin typeface="Arial" panose="020B0604020202020204"/>
                <a:cs typeface="Arial" panose="020B0604020202020204"/>
              </a:rPr>
              <a:t>line-of-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sight</a:t>
            </a:r>
            <a:r>
              <a:rPr lang="en-US" sz="2400" spc="-2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400" spc="-10" dirty="0">
                <a:latin typeface="Arial" panose="020B0604020202020204"/>
                <a:cs typeface="Arial" panose="020B0604020202020204"/>
              </a:rPr>
              <a:t>propagation</a:t>
            </a:r>
            <a:endParaRPr lang="en-IN" dirty="0"/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9705" y="478358"/>
            <a:ext cx="6245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Transmission</a:t>
            </a:r>
            <a:r>
              <a:rPr sz="4400" i="0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Impairment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9757"/>
            <a:ext cx="8074659" cy="334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1580515" algn="l"/>
                <a:tab pos="3097530" algn="l"/>
                <a:tab pos="4545330" algn="l"/>
                <a:tab pos="6061710" algn="l"/>
                <a:tab pos="6858000" algn="l"/>
                <a:tab pos="7539355" algn="l"/>
              </a:tabLst>
            </a:pP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transmit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medium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perfect.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Font typeface="Arial MT"/>
              <a:buChar char="•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imperfection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cause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impairment.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Arial MT"/>
              <a:buChar char="•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sent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received.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9740" rIns="0" bIns="0" rtlCol="0">
            <a:spAutoFit/>
          </a:bodyPr>
          <a:lstStyle/>
          <a:p>
            <a:pPr marL="188023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00000"/>
                </a:solidFill>
              </a:rPr>
              <a:t>Causes</a:t>
            </a:r>
            <a:r>
              <a:rPr spc="-8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of</a:t>
            </a:r>
            <a:r>
              <a:rPr spc="-80" dirty="0">
                <a:solidFill>
                  <a:srgbClr val="C00000"/>
                </a:solidFill>
              </a:rPr>
              <a:t> </a:t>
            </a:r>
            <a:r>
              <a:rPr spc="-10" dirty="0">
                <a:solidFill>
                  <a:srgbClr val="C00000"/>
                </a:solidFill>
              </a:rPr>
              <a:t>impairment</a:t>
            </a:r>
            <a:endParaRPr spc="-10" dirty="0">
              <a:solidFill>
                <a:srgbClr val="C00000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6275" y="2286000"/>
            <a:ext cx="7019925" cy="2217674"/>
          </a:xfrm>
          <a:prstGeom prst="rect">
            <a:avLst/>
          </a:prstGeom>
        </p:spPr>
      </p:pic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533" y="622757"/>
            <a:ext cx="2886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Attenuation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3269" y="2003882"/>
            <a:ext cx="7617460" cy="2931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/>
              <a:t>Means</a:t>
            </a:r>
            <a:r>
              <a:rPr spc="-35" dirty="0"/>
              <a:t> </a:t>
            </a:r>
            <a:r>
              <a:rPr dirty="0"/>
              <a:t>loss</a:t>
            </a:r>
            <a:r>
              <a:rPr spc="-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energy</a:t>
            </a:r>
            <a:r>
              <a:rPr spc="-10" dirty="0"/>
              <a:t> </a:t>
            </a:r>
            <a:r>
              <a:rPr dirty="0"/>
              <a:t>-&gt;</a:t>
            </a:r>
            <a:r>
              <a:rPr spc="-25" dirty="0"/>
              <a:t> </a:t>
            </a:r>
            <a:r>
              <a:rPr dirty="0"/>
              <a:t>weaker</a:t>
            </a:r>
            <a:r>
              <a:rPr spc="-20" dirty="0"/>
              <a:t> </a:t>
            </a:r>
            <a:r>
              <a:rPr spc="-10" dirty="0"/>
              <a:t>signal</a:t>
            </a:r>
            <a:endParaRPr spc="-10" dirty="0"/>
          </a:p>
          <a:p>
            <a:pPr marL="1270"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pc="-10" dirty="0"/>
          </a:p>
          <a:p>
            <a:pPr marL="356870" marR="5080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1213485" algn="l"/>
                <a:tab pos="1478280" algn="l"/>
                <a:tab pos="2335530" algn="l"/>
                <a:tab pos="3274695" algn="l"/>
                <a:tab pos="4352925" algn="l"/>
                <a:tab pos="4618355" algn="l"/>
                <a:tab pos="5742940" algn="l"/>
                <a:tab pos="6040120" algn="l"/>
                <a:tab pos="6781165" algn="l"/>
              </a:tabLst>
            </a:pPr>
            <a:r>
              <a:rPr spc="-20" dirty="0"/>
              <a:t>When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signal</a:t>
            </a:r>
            <a:r>
              <a:rPr dirty="0"/>
              <a:t>	</a:t>
            </a:r>
            <a:r>
              <a:rPr spc="-10" dirty="0"/>
              <a:t>travels</a:t>
            </a:r>
            <a:r>
              <a:rPr dirty="0"/>
              <a:t>	</a:t>
            </a:r>
            <a:r>
              <a:rPr spc="-10" dirty="0"/>
              <a:t>through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medium</a:t>
            </a:r>
            <a:r>
              <a:rPr lang="en-US" spc="-10" dirty="0"/>
              <a:t>:</a:t>
            </a:r>
            <a:endParaRPr lang="en-US" spc="-10" dirty="0"/>
          </a:p>
          <a:p>
            <a:pPr marL="356870" marR="5080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1213485" algn="l"/>
                <a:tab pos="1478280" algn="l"/>
                <a:tab pos="2335530" algn="l"/>
                <a:tab pos="3274695" algn="l"/>
                <a:tab pos="4352925" algn="l"/>
                <a:tab pos="4618355" algn="l"/>
                <a:tab pos="5742940" algn="l"/>
                <a:tab pos="6040120" algn="l"/>
                <a:tab pos="6781165" algn="l"/>
              </a:tabLst>
            </a:pPr>
            <a:endParaRPr lang="en-US" spc="-10" dirty="0"/>
          </a:p>
          <a:p>
            <a:pPr marL="13335" marR="5080">
              <a:lnSpc>
                <a:spcPct val="100000"/>
              </a:lnSpc>
              <a:spcBef>
                <a:spcPts val="5"/>
              </a:spcBef>
              <a:tabLst>
                <a:tab pos="356870" algn="l"/>
                <a:tab pos="1213485" algn="l"/>
                <a:tab pos="1478280" algn="l"/>
                <a:tab pos="2335530" algn="l"/>
                <a:tab pos="3274695" algn="l"/>
                <a:tab pos="4352925" algn="l"/>
                <a:tab pos="4618355" algn="l"/>
                <a:tab pos="5742940" algn="l"/>
                <a:tab pos="6040120" algn="l"/>
                <a:tab pos="6781165" algn="l"/>
              </a:tabLst>
            </a:pPr>
            <a:r>
              <a:rPr lang="en-US" spc="-10" dirty="0"/>
              <a:t>			L</a:t>
            </a:r>
            <a:r>
              <a:rPr spc="-10" dirty="0"/>
              <a:t>oses</a:t>
            </a:r>
            <a:r>
              <a:rPr dirty="0"/>
              <a:t>	</a:t>
            </a:r>
            <a:r>
              <a:rPr spc="-20" dirty="0"/>
              <a:t>energy </a:t>
            </a:r>
            <a:r>
              <a:rPr dirty="0"/>
              <a:t>overcoming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resistance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lang="en-US" spc="-20" dirty="0"/>
              <a:t>				</a:t>
            </a:r>
            <a:r>
              <a:rPr spc="-10" dirty="0"/>
              <a:t>medium</a:t>
            </a:r>
            <a:endParaRPr spc="-10" dirty="0"/>
          </a:p>
          <a:p>
            <a:pPr marL="1270"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pc="-10" dirty="0"/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/>
          <p:nvPr/>
        </p:nvSpPr>
        <p:spPr>
          <a:xfrm>
            <a:off x="990600" y="4495800"/>
            <a:ext cx="608901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sz="2000" dirty="0">
                <a:latin typeface="Times New Roman" panose="02020603050405020304" charset="0"/>
                <a:sym typeface="+mn-ea"/>
              </a:rPr>
              <a:t>Some of the electrical energy in the signal is converted to heat</a:t>
            </a:r>
            <a:endParaRPr lang="en-US" sz="2000" dirty="0"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533" y="622757"/>
            <a:ext cx="2886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Attenuation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3269" y="2003882"/>
            <a:ext cx="761746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353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b="1" dirty="0"/>
              <a:t>Amplifiers</a:t>
            </a:r>
            <a:r>
              <a:rPr b="1" spc="235" dirty="0"/>
              <a:t> </a:t>
            </a:r>
            <a:r>
              <a:rPr lang="en-US" b="1" spc="235" dirty="0"/>
              <a:t>:</a:t>
            </a:r>
            <a:endParaRPr lang="en-US" b="1" spc="235" dirty="0"/>
          </a:p>
          <a:p>
            <a:pPr marL="470535" marR="5080" lvl="1">
              <a:tabLst>
                <a:tab pos="356870" algn="l"/>
              </a:tabLst>
            </a:pPr>
            <a:endParaRPr lang="en-US" spc="235" dirty="0"/>
          </a:p>
          <a:p>
            <a:pPr marL="470535" marR="5080" lvl="1">
              <a:tabLst>
                <a:tab pos="356870" algn="l"/>
              </a:tabLst>
            </a:pPr>
            <a:r>
              <a:rPr lang="en-US" spc="235" dirty="0"/>
              <a:t>		</a:t>
            </a:r>
            <a:endParaRPr lang="en-US" spc="235" dirty="0"/>
          </a:p>
          <a:p>
            <a:pPr marL="470535" marR="5080" lvl="1">
              <a:tabLst>
                <a:tab pos="356870" algn="l"/>
              </a:tabLst>
            </a:pPr>
            <a:r>
              <a:rPr lang="en-US" spc="235" dirty="0"/>
              <a:t>	</a:t>
            </a:r>
            <a:r>
              <a:rPr lang="en-IN" sz="2000" spc="235" dirty="0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000" dirty="0" err="1">
                <a:latin typeface="Times New Roman" panose="02020603050405020304" charset="0"/>
                <a:cs typeface="Times New Roman" panose="02020603050405020304" charset="0"/>
              </a:rPr>
              <a:t>ompensate</a:t>
            </a:r>
            <a:r>
              <a:rPr sz="2000" spc="229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000" spc="2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loss</a:t>
            </a:r>
            <a:r>
              <a:rPr sz="2000" spc="2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000" spc="2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energy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by</a:t>
            </a:r>
            <a:r>
              <a:rPr sz="20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amplifying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 signal.</a:t>
            </a:r>
            <a:endParaRPr sz="2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4262" y="622757"/>
            <a:ext cx="6881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Measurement</a:t>
            </a:r>
            <a:r>
              <a:rPr sz="4400" i="0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400" i="0" spc="-2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Attenuation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1840" y="2000834"/>
            <a:ext cx="7324725" cy="334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8300" algn="l"/>
              </a:tabLst>
            </a:pP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show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loss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gain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unit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“decibel”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used.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349500" marR="2024380" algn="ctr">
              <a:lnSpc>
                <a:spcPct val="120000"/>
              </a:lnSpc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dB</a:t>
            </a:r>
            <a:r>
              <a:rPr sz="3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10log</a:t>
            </a:r>
            <a:r>
              <a:rPr sz="3150" spc="-15" baseline="-21000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150" spc="-15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/P</a:t>
            </a:r>
            <a:r>
              <a:rPr sz="3150" spc="-15" baseline="-21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150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150" spc="382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signal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150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150" spc="382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signal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990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073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Attenuation</a:t>
            </a:r>
            <a:endParaRPr sz="3000"/>
          </a:p>
        </p:txBody>
      </p:sp>
      <p:sp>
        <p:nvSpPr>
          <p:cNvPr id="5" name="object 5"/>
          <p:cNvSpPr/>
          <p:nvPr/>
        </p:nvSpPr>
        <p:spPr>
          <a:xfrm>
            <a:off x="152400" y="6324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4200" y="2093772"/>
            <a:ext cx="7797800" cy="2935427"/>
          </a:xfrm>
          <a:prstGeom prst="rect">
            <a:avLst/>
          </a:prstGeom>
        </p:spPr>
      </p:pic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242887"/>
            <a:ext cx="8593455" cy="1052830"/>
            <a:chOff x="76200" y="242887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366712" y="350837"/>
              <a:ext cx="382905" cy="474980"/>
            </a:xfrm>
            <a:custGeom>
              <a:avLst/>
              <a:gdLst/>
              <a:ahLst/>
              <a:cxnLst/>
              <a:rect l="l" t="t" r="r" b="b"/>
              <a:pathLst>
                <a:path w="382905" h="474980">
                  <a:moveTo>
                    <a:pt x="0" y="474662"/>
                  </a:moveTo>
                  <a:lnTo>
                    <a:pt x="382587" y="474662"/>
                  </a:lnTo>
                  <a:lnTo>
                    <a:pt x="382587" y="0"/>
                  </a:lnTo>
                  <a:lnTo>
                    <a:pt x="0" y="0"/>
                  </a:lnTo>
                  <a:lnTo>
                    <a:pt x="0" y="474662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49300" y="350837"/>
              <a:ext cx="328612" cy="4746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0537" y="773112"/>
              <a:ext cx="370205" cy="474980"/>
            </a:xfrm>
            <a:custGeom>
              <a:avLst/>
              <a:gdLst/>
              <a:ahLst/>
              <a:cxnLst/>
              <a:rect l="l" t="t" r="r" b="b"/>
              <a:pathLst>
                <a:path w="370205" h="474980">
                  <a:moveTo>
                    <a:pt x="0" y="474662"/>
                  </a:moveTo>
                  <a:lnTo>
                    <a:pt x="369887" y="474662"/>
                  </a:lnTo>
                  <a:lnTo>
                    <a:pt x="369887" y="0"/>
                  </a:lnTo>
                  <a:lnTo>
                    <a:pt x="0" y="0"/>
                  </a:lnTo>
                  <a:lnTo>
                    <a:pt x="0" y="474662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425" y="773112"/>
              <a:ext cx="368300" cy="4746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700151"/>
              <a:ext cx="560387" cy="422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1200" y="242887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2038"/>
                  </a:moveTo>
                  <a:lnTo>
                    <a:pt x="0" y="562038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2038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0288"/>
                  </a:lnTo>
                  <a:lnTo>
                    <a:pt x="31750" y="530288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912" y="773176"/>
              <a:ext cx="8226425" cy="317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1940" y="1468881"/>
            <a:ext cx="842899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2800" b="1" i="1" spc="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travels</a:t>
            </a:r>
            <a:r>
              <a:rPr sz="2800" b="1" i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2800" b="1" i="1" spc="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800" b="1" i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amplifier,</a:t>
            </a:r>
            <a:r>
              <a:rPr sz="2800" b="1" i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b="1" i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2800" b="1" i="1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2800" b="1" i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2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increased</a:t>
            </a:r>
            <a:r>
              <a:rPr sz="2800" b="1" i="1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800" b="1" i="1" spc="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times.</a:t>
            </a:r>
            <a:r>
              <a:rPr sz="2800" b="1" i="1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2800" b="1" i="1" spc="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means</a:t>
            </a:r>
            <a:r>
              <a:rPr sz="2800" b="1" i="1" spc="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b="1" i="1" spc="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775" b="1" i="1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775" b="1" i="1" spc="60" baseline="-210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10P</a:t>
            </a:r>
            <a:r>
              <a:rPr sz="2775" b="1" i="1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775" b="1" i="1" spc="135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800" b="1" i="1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b="1" i="1" spc="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20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case,</a:t>
            </a:r>
            <a:r>
              <a:rPr sz="2800" b="1" i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b="1" i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amplification</a:t>
            </a:r>
            <a:r>
              <a:rPr sz="2800" b="1" i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(gain</a:t>
            </a:r>
            <a:r>
              <a:rPr sz="2800" b="1" i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b="1" i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power)</a:t>
            </a:r>
            <a:r>
              <a:rPr sz="2800" b="1" i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b="1" i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b="1" i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10" dirty="0">
                <a:latin typeface="Times New Roman" panose="02020603050405020304"/>
                <a:cs typeface="Times New Roman" panose="02020603050405020304"/>
              </a:rPr>
              <a:t>calculated </a:t>
            </a:r>
            <a:r>
              <a:rPr sz="2800" b="1" i="1" spc="-25" dirty="0">
                <a:latin typeface="Times New Roman" panose="02020603050405020304"/>
                <a:cs typeface="Times New Roman" panose="02020603050405020304"/>
              </a:rPr>
              <a:t>as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22044" y="201930"/>
            <a:ext cx="2329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FF"/>
                </a:solidFill>
              </a:rPr>
              <a:t>Example</a:t>
            </a:r>
            <a:r>
              <a:rPr sz="3200" spc="-30" dirty="0">
                <a:solidFill>
                  <a:srgbClr val="0000FF"/>
                </a:solidFill>
              </a:rPr>
              <a:t> </a:t>
            </a:r>
            <a:r>
              <a:rPr sz="3200" spc="-20" dirty="0">
                <a:solidFill>
                  <a:srgbClr val="0000FF"/>
                </a:solidFill>
              </a:rPr>
              <a:t>3.27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2809875" y="3295650"/>
            <a:ext cx="3524250" cy="933450"/>
            <a:chOff x="2809875" y="3295650"/>
            <a:chExt cx="3524250" cy="93345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7025" y="3352800"/>
              <a:ext cx="3409950" cy="8191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09875" y="3295649"/>
              <a:ext cx="3524250" cy="933450"/>
            </a:xfrm>
            <a:custGeom>
              <a:avLst/>
              <a:gdLst/>
              <a:ahLst/>
              <a:cxnLst/>
              <a:rect l="l" t="t" r="r" b="b"/>
              <a:pathLst>
                <a:path w="3524250" h="933450">
                  <a:moveTo>
                    <a:pt x="3501390" y="22860"/>
                  </a:moveTo>
                  <a:lnTo>
                    <a:pt x="3467100" y="22860"/>
                  </a:lnTo>
                  <a:lnTo>
                    <a:pt x="3467100" y="57150"/>
                  </a:lnTo>
                  <a:lnTo>
                    <a:pt x="3467100" y="876300"/>
                  </a:lnTo>
                  <a:lnTo>
                    <a:pt x="57150" y="876300"/>
                  </a:lnTo>
                  <a:lnTo>
                    <a:pt x="57150" y="57150"/>
                  </a:lnTo>
                  <a:lnTo>
                    <a:pt x="3467100" y="57150"/>
                  </a:lnTo>
                  <a:lnTo>
                    <a:pt x="3467100" y="22860"/>
                  </a:lnTo>
                  <a:lnTo>
                    <a:pt x="22860" y="22860"/>
                  </a:lnTo>
                  <a:lnTo>
                    <a:pt x="22860" y="57150"/>
                  </a:lnTo>
                  <a:lnTo>
                    <a:pt x="22860" y="876300"/>
                  </a:lnTo>
                  <a:lnTo>
                    <a:pt x="22860" y="910590"/>
                  </a:lnTo>
                  <a:lnTo>
                    <a:pt x="3501390" y="910590"/>
                  </a:lnTo>
                  <a:lnTo>
                    <a:pt x="3501390" y="876300"/>
                  </a:lnTo>
                  <a:lnTo>
                    <a:pt x="3501390" y="57150"/>
                  </a:lnTo>
                  <a:lnTo>
                    <a:pt x="3501390" y="22860"/>
                  </a:lnTo>
                  <a:close/>
                </a:path>
                <a:path w="3524250" h="933450">
                  <a:moveTo>
                    <a:pt x="3524250" y="0"/>
                  </a:moveTo>
                  <a:lnTo>
                    <a:pt x="3512820" y="0"/>
                  </a:lnTo>
                  <a:lnTo>
                    <a:pt x="3512820" y="11430"/>
                  </a:lnTo>
                  <a:lnTo>
                    <a:pt x="3512820" y="922020"/>
                  </a:lnTo>
                  <a:lnTo>
                    <a:pt x="11430" y="922020"/>
                  </a:lnTo>
                  <a:lnTo>
                    <a:pt x="11430" y="11430"/>
                  </a:lnTo>
                  <a:lnTo>
                    <a:pt x="3512820" y="11430"/>
                  </a:lnTo>
                  <a:lnTo>
                    <a:pt x="3512820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922020"/>
                  </a:lnTo>
                  <a:lnTo>
                    <a:pt x="0" y="933450"/>
                  </a:lnTo>
                  <a:lnTo>
                    <a:pt x="3524250" y="933450"/>
                  </a:lnTo>
                  <a:lnTo>
                    <a:pt x="3524250" y="922020"/>
                  </a:lnTo>
                  <a:lnTo>
                    <a:pt x="3524250" y="11430"/>
                  </a:lnTo>
                  <a:lnTo>
                    <a:pt x="3524250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790825" y="4342129"/>
            <a:ext cx="3561079" cy="744220"/>
            <a:chOff x="2790825" y="4342129"/>
            <a:chExt cx="3561079" cy="74422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7975" y="4398938"/>
              <a:ext cx="3437387" cy="63026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90825" y="4342129"/>
              <a:ext cx="3561079" cy="744220"/>
            </a:xfrm>
            <a:custGeom>
              <a:avLst/>
              <a:gdLst/>
              <a:ahLst/>
              <a:cxnLst/>
              <a:rect l="l" t="t" r="r" b="b"/>
              <a:pathLst>
                <a:path w="3561079" h="744220">
                  <a:moveTo>
                    <a:pt x="3537839" y="22860"/>
                  </a:moveTo>
                  <a:lnTo>
                    <a:pt x="3503549" y="22860"/>
                  </a:lnTo>
                  <a:lnTo>
                    <a:pt x="3503549" y="57150"/>
                  </a:lnTo>
                  <a:lnTo>
                    <a:pt x="3503549" y="687070"/>
                  </a:lnTo>
                  <a:lnTo>
                    <a:pt x="57150" y="687070"/>
                  </a:lnTo>
                  <a:lnTo>
                    <a:pt x="57150" y="57150"/>
                  </a:lnTo>
                  <a:lnTo>
                    <a:pt x="3503549" y="57150"/>
                  </a:lnTo>
                  <a:lnTo>
                    <a:pt x="3503549" y="22860"/>
                  </a:lnTo>
                  <a:lnTo>
                    <a:pt x="22860" y="22860"/>
                  </a:lnTo>
                  <a:lnTo>
                    <a:pt x="22860" y="57150"/>
                  </a:lnTo>
                  <a:lnTo>
                    <a:pt x="22860" y="687070"/>
                  </a:lnTo>
                  <a:lnTo>
                    <a:pt x="22860" y="721360"/>
                  </a:lnTo>
                  <a:lnTo>
                    <a:pt x="3537839" y="721360"/>
                  </a:lnTo>
                  <a:lnTo>
                    <a:pt x="3537839" y="687070"/>
                  </a:lnTo>
                  <a:lnTo>
                    <a:pt x="3537839" y="57150"/>
                  </a:lnTo>
                  <a:lnTo>
                    <a:pt x="3537839" y="56769"/>
                  </a:lnTo>
                  <a:lnTo>
                    <a:pt x="3537839" y="22860"/>
                  </a:lnTo>
                  <a:close/>
                </a:path>
                <a:path w="3561079" h="744220">
                  <a:moveTo>
                    <a:pt x="3560699" y="0"/>
                  </a:moveTo>
                  <a:lnTo>
                    <a:pt x="3549269" y="0"/>
                  </a:lnTo>
                  <a:lnTo>
                    <a:pt x="3549269" y="11430"/>
                  </a:lnTo>
                  <a:lnTo>
                    <a:pt x="3549269" y="732790"/>
                  </a:lnTo>
                  <a:lnTo>
                    <a:pt x="11430" y="732790"/>
                  </a:lnTo>
                  <a:lnTo>
                    <a:pt x="11430" y="11430"/>
                  </a:lnTo>
                  <a:lnTo>
                    <a:pt x="3549269" y="11430"/>
                  </a:lnTo>
                  <a:lnTo>
                    <a:pt x="3549269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732790"/>
                  </a:lnTo>
                  <a:lnTo>
                    <a:pt x="0" y="744220"/>
                  </a:lnTo>
                  <a:lnTo>
                    <a:pt x="3560699" y="744220"/>
                  </a:lnTo>
                  <a:lnTo>
                    <a:pt x="3560699" y="732790"/>
                  </a:lnTo>
                  <a:lnTo>
                    <a:pt x="3560699" y="11430"/>
                  </a:lnTo>
                  <a:lnTo>
                    <a:pt x="3560699" y="11049"/>
                  </a:lnTo>
                  <a:lnTo>
                    <a:pt x="3560699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Picture 4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7465" y="622757"/>
            <a:ext cx="2450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Distortion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35289"/>
            <a:ext cx="8684260" cy="324127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ignal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changes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form or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shape</a:t>
            </a:r>
            <a:endParaRPr lang="en-US" sz="2800" spc="-1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435"/>
              </a:spcBef>
              <a:buFont typeface="Arial MT"/>
              <a:buChar char="•"/>
              <a:tabLst>
                <a:tab pos="354965" algn="l"/>
              </a:tabLst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Distortion</a:t>
            </a:r>
            <a:r>
              <a:rPr sz="28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occurs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composite</a:t>
            </a:r>
            <a:r>
              <a:rPr sz="2800" spc="-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signals</a:t>
            </a:r>
            <a:endParaRPr lang="en-US" sz="2800" spc="-1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</a:tabLst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355600" marR="5715" indent="-342900">
              <a:lnSpc>
                <a:spcPts val="302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  <a:tab pos="1486535" algn="l"/>
                <a:tab pos="3333750" algn="l"/>
                <a:tab pos="5335270" algn="l"/>
                <a:tab pos="6231255" algn="l"/>
                <a:tab pos="6990715" algn="l"/>
              </a:tabLst>
            </a:pP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frequency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component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has</a:t>
            </a:r>
            <a:r>
              <a:rPr lang="en-US" sz="2800" spc="-25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2800" spc="-25" dirty="0">
              <a:latin typeface="Times New Roman" panose="02020603050405020304"/>
              <a:cs typeface="Times New Roman" panose="02020603050405020304"/>
            </a:endParaRPr>
          </a:p>
          <a:p>
            <a:pPr marL="12700" marR="5715">
              <a:lnSpc>
                <a:spcPts val="3020"/>
              </a:lnSpc>
              <a:spcBef>
                <a:spcPts val="720"/>
              </a:spcBef>
              <a:tabLst>
                <a:tab pos="355600" algn="l"/>
                <a:tab pos="1486535" algn="l"/>
                <a:tab pos="3333750" algn="l"/>
                <a:tab pos="5335270" algn="l"/>
                <a:tab pos="6231255" algn="l"/>
                <a:tab pos="6990715" algn="l"/>
              </a:tabLst>
            </a:pPr>
            <a:r>
              <a:rPr lang="en-US" sz="2800" spc="-25" dirty="0">
                <a:latin typeface="Times New Roman" panose="02020603050405020304"/>
                <a:cs typeface="Times New Roman" panose="02020603050405020304"/>
              </a:rPr>
              <a:t>	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own 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propagation</a:t>
            </a:r>
            <a:r>
              <a:rPr sz="2800" spc="-5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speed</a:t>
            </a:r>
            <a:r>
              <a:rPr sz="2800" spc="-3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3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					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traveling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medium.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7465" y="622757"/>
            <a:ext cx="2450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Distortion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35289"/>
            <a:ext cx="7616190" cy="387734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6985" indent="-342900">
              <a:lnSpc>
                <a:spcPts val="303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  <a:tab pos="1109980" algn="l"/>
                <a:tab pos="2532380" algn="l"/>
                <a:tab pos="4450715" algn="l"/>
                <a:tab pos="5935345" algn="l"/>
                <a:tab pos="6969125" algn="l"/>
              </a:tabLst>
            </a:pPr>
            <a:r>
              <a:rPr lang="en-US" sz="2800" spc="-2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ifferent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components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therefore</a:t>
            </a:r>
            <a:r>
              <a:rPr lang="en-US" sz="2800" spc="-1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280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6985">
              <a:lnSpc>
                <a:spcPts val="3030"/>
              </a:lnSpc>
              <a:spcBef>
                <a:spcPts val="670"/>
              </a:spcBef>
              <a:tabLst>
                <a:tab pos="355600" algn="l"/>
                <a:tab pos="1109980" algn="l"/>
                <a:tab pos="2532380" algn="l"/>
                <a:tab pos="4450715" algn="l"/>
                <a:tab pos="5935345" algn="l"/>
                <a:tab pos="6969125" algn="l"/>
              </a:tabLst>
            </a:pPr>
            <a:r>
              <a:rPr lang="en-US" sz="2800" spc="-10" dirty="0">
                <a:latin typeface="Times New Roman" panose="02020603050405020304"/>
                <a:cs typeface="Times New Roman" panose="02020603050405020304"/>
              </a:rPr>
              <a:t>		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rrive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lang="en-US" sz="2800" spc="-20" dirty="0">
                <a:latin typeface="Times New Roman" panose="02020603050405020304"/>
                <a:cs typeface="Times New Roman" panose="02020603050405020304"/>
              </a:rPr>
              <a:t>						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800" spc="-7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delays</a:t>
            </a:r>
            <a:r>
              <a:rPr sz="2800" spc="-5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40" dirty="0">
                <a:latin typeface="Times New Roman" panose="02020603050405020304"/>
                <a:cs typeface="Times New Roman" panose="02020603050405020304"/>
              </a:rPr>
              <a:t>			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receiver.</a:t>
            </a:r>
            <a:endParaRPr lang="en-US" sz="2800" spc="-10" dirty="0">
              <a:latin typeface="Times New Roman" panose="02020603050405020304"/>
              <a:cs typeface="Times New Roman" panose="02020603050405020304"/>
            </a:endParaRPr>
          </a:p>
          <a:p>
            <a:pPr marL="12700" marR="6985">
              <a:lnSpc>
                <a:spcPts val="3030"/>
              </a:lnSpc>
              <a:spcBef>
                <a:spcPts val="670"/>
              </a:spcBef>
              <a:tabLst>
                <a:tab pos="355600" algn="l"/>
                <a:tab pos="1109980" algn="l"/>
                <a:tab pos="2532380" algn="l"/>
                <a:tab pos="4450715" algn="l"/>
                <a:tab pos="5935345" algn="l"/>
                <a:tab pos="6969125" algn="l"/>
              </a:tabLst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>
              <a:lnSpc>
                <a:spcPts val="302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ignals</a:t>
            </a:r>
            <a:r>
              <a:rPr sz="28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2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800" spc="29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phases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3020"/>
              </a:lnSpc>
              <a:spcBef>
                <a:spcPts val="670"/>
              </a:spcBef>
              <a:tabLst>
                <a:tab pos="355600" algn="l"/>
              </a:tabLst>
            </a:pPr>
            <a:r>
              <a:rPr lang="en-US" sz="2800" spc="-25" dirty="0">
                <a:latin typeface="Times New Roman" panose="02020603050405020304"/>
                <a:cs typeface="Times New Roman" panose="02020603050405020304"/>
              </a:rPr>
              <a:t>						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he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receiver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20" dirty="0">
                <a:latin typeface="Times New Roman" panose="02020603050405020304"/>
                <a:cs typeface="Times New Roman" panose="02020603050405020304"/>
              </a:rPr>
              <a:t>						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they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did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spc="-20" dirty="0">
                <a:latin typeface="Times New Roman" panose="02020603050405020304"/>
                <a:cs typeface="Times New Roman" panose="02020603050405020304"/>
              </a:rPr>
              <a:t>						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source.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990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267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Distortion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152400" y="6324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0837" y="1887601"/>
            <a:ext cx="8335899" cy="3163809"/>
          </a:xfrm>
          <a:prstGeom prst="rect">
            <a:avLst/>
          </a:prstGeom>
        </p:spPr>
      </p:pic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6773" y="622757"/>
            <a:ext cx="1331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Noise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597198"/>
            <a:ext cx="7616825" cy="42543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types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noise</a:t>
            </a:r>
            <a:endParaRPr lang="en-US" sz="3200" spc="-10" dirty="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755015" marR="5080" lvl="1" indent="-285750">
              <a:lnSpc>
                <a:spcPts val="3020"/>
              </a:lnSpc>
              <a:spcBef>
                <a:spcPts val="73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Thermal</a:t>
            </a:r>
            <a:r>
              <a:rPr sz="2800" spc="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28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spc="40" dirty="0">
                <a:latin typeface="Times New Roman" panose="02020603050405020304"/>
                <a:cs typeface="Times New Roman" panose="02020603050405020304"/>
              </a:rPr>
              <a:t> </a:t>
            </a:r>
            <a:endParaRPr lang="en-US" sz="2800" spc="40" dirty="0">
              <a:latin typeface="Times New Roman" panose="02020603050405020304"/>
              <a:cs typeface="Times New Roman" panose="02020603050405020304"/>
            </a:endParaRPr>
          </a:p>
          <a:p>
            <a:pPr marL="469265" marR="5080" lvl="1">
              <a:lnSpc>
                <a:spcPts val="3020"/>
              </a:lnSpc>
              <a:spcBef>
                <a:spcPts val="730"/>
              </a:spcBef>
              <a:tabLst>
                <a:tab pos="756285" algn="l"/>
              </a:tabLst>
            </a:pPr>
            <a:r>
              <a:rPr lang="en-IN" sz="2800" spc="40" dirty="0">
                <a:latin typeface="Times New Roman" panose="02020603050405020304"/>
                <a:cs typeface="Times New Roman" panose="02020603050405020304"/>
              </a:rPr>
              <a:t>				</a:t>
            </a:r>
            <a:r>
              <a:rPr lang="en-US" sz="2800" spc="4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andom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electrons</a:t>
            </a:r>
            <a:r>
              <a:rPr sz="2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wire 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creates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extra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signal</a:t>
            </a:r>
            <a:endParaRPr lang="en-US" sz="2800" spc="-10" dirty="0">
              <a:latin typeface="Times New Roman" panose="02020603050405020304"/>
              <a:cs typeface="Times New Roman" panose="02020603050405020304"/>
            </a:endParaRPr>
          </a:p>
          <a:p>
            <a:pPr marL="469265" marR="5080" lvl="1">
              <a:lnSpc>
                <a:spcPts val="3020"/>
              </a:lnSpc>
              <a:spcBef>
                <a:spcPts val="730"/>
              </a:spcBef>
              <a:tabLst>
                <a:tab pos="756285" algn="l"/>
              </a:tabLst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755015" marR="6350" lvl="1" indent="-28575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285" algn="l"/>
                <a:tab pos="2289175" algn="l"/>
                <a:tab pos="2600960" algn="l"/>
                <a:tab pos="3519170" algn="l"/>
                <a:tab pos="4008120" algn="l"/>
                <a:tab pos="5050155" algn="l"/>
                <a:tab pos="5695950" algn="l"/>
                <a:tab pos="7069455" algn="l"/>
              </a:tabLst>
            </a:pPr>
            <a:r>
              <a:rPr sz="28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Crosstalk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5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endParaRPr 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469265" marR="6350" lvl="1">
              <a:lnSpc>
                <a:spcPts val="3020"/>
              </a:lnSpc>
              <a:spcBef>
                <a:spcPts val="680"/>
              </a:spcBef>
              <a:tabLst>
                <a:tab pos="756285" algn="l"/>
                <a:tab pos="2289175" algn="l"/>
                <a:tab pos="2600960" algn="l"/>
                <a:tab pos="3519170" algn="l"/>
                <a:tab pos="4008120" algn="l"/>
                <a:tab pos="5050155" algn="l"/>
                <a:tab pos="5695950" algn="l"/>
                <a:tab pos="7069455" algn="l"/>
              </a:tabLst>
            </a:pPr>
            <a:r>
              <a:rPr lang="en-IN" sz="2800" dirty="0">
                <a:latin typeface="Times New Roman" panose="02020603050405020304"/>
                <a:cs typeface="Times New Roman" panose="02020603050405020304"/>
              </a:rPr>
              <a:t>			Same as Thermal but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two 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wires.</a:t>
            </a:r>
            <a:endParaRPr lang="en-US" sz="2800" spc="-1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6773" y="622757"/>
            <a:ext cx="1331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Noise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597198"/>
            <a:ext cx="7616825" cy="283859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types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noise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755015" marR="6350" lvl="1" indent="-28575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285" algn="l"/>
                <a:tab pos="2289175" algn="l"/>
                <a:tab pos="2600960" algn="l"/>
                <a:tab pos="3519170" algn="l"/>
                <a:tab pos="4008120" algn="l"/>
                <a:tab pos="5050155" algn="l"/>
                <a:tab pos="5695950" algn="l"/>
                <a:tab pos="7069455" algn="l"/>
              </a:tabLst>
            </a:pPr>
            <a:endParaRPr lang="en-IN" sz="2800" spc="-10" dirty="0">
              <a:latin typeface="Times New Roman" panose="02020603050405020304"/>
              <a:cs typeface="Times New Roman" panose="02020603050405020304"/>
            </a:endParaRPr>
          </a:p>
          <a:p>
            <a:pPr marL="755015" marR="5080" lvl="1" indent="-28575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285" algn="l"/>
                <a:tab pos="2039620" algn="l"/>
                <a:tab pos="2298700" algn="l"/>
                <a:tab pos="3387090" algn="l"/>
                <a:tab pos="4055745" algn="l"/>
                <a:tab pos="4984750" algn="l"/>
                <a:tab pos="5813425" algn="l"/>
                <a:tab pos="6842125" algn="l"/>
              </a:tabLst>
            </a:pPr>
            <a:r>
              <a:rPr sz="28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Impulse</a:t>
            </a:r>
            <a:r>
              <a:rPr sz="2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5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endParaRPr lang="en-US" sz="2800" dirty="0">
              <a:latin typeface="Times New Roman" panose="02020603050405020304"/>
              <a:cs typeface="Times New Roman" panose="02020603050405020304"/>
            </a:endParaRPr>
          </a:p>
          <a:p>
            <a:pPr marL="469265" marR="5080" lvl="3">
              <a:lnSpc>
                <a:spcPts val="3020"/>
              </a:lnSpc>
              <a:spcBef>
                <a:spcPts val="680"/>
              </a:spcBef>
              <a:tabLst>
                <a:tab pos="756285" algn="l"/>
                <a:tab pos="2039620" algn="l"/>
                <a:tab pos="2298700" algn="l"/>
                <a:tab pos="3387090" algn="l"/>
                <a:tab pos="4055745" algn="l"/>
                <a:tab pos="4984750" algn="l"/>
                <a:tab pos="5813425" algn="l"/>
                <a:tab pos="6842125" algn="l"/>
              </a:tabLst>
            </a:pPr>
            <a:endParaRPr lang="en-US" sz="2800" spc="-10" dirty="0">
              <a:latin typeface="Times New Roman" panose="02020603050405020304"/>
              <a:cs typeface="Times New Roman" panose="02020603050405020304"/>
            </a:endParaRPr>
          </a:p>
          <a:p>
            <a:pPr marL="469265" marR="5080" lvl="3">
              <a:lnSpc>
                <a:spcPts val="3020"/>
              </a:lnSpc>
              <a:spcBef>
                <a:spcPts val="680"/>
              </a:spcBef>
              <a:tabLst>
                <a:tab pos="756285" algn="l"/>
                <a:tab pos="2039620" algn="l"/>
                <a:tab pos="2298700" algn="l"/>
                <a:tab pos="3387090" algn="l"/>
                <a:tab pos="4055745" algn="l"/>
                <a:tab pos="4984750" algn="l"/>
                <a:tab pos="5813425" algn="l"/>
                <a:tab pos="6842125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Spikes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result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lines, 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lightening,</a:t>
            </a:r>
            <a:r>
              <a:rPr sz="2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700" y="321005"/>
            <a:ext cx="8788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87090" algn="l"/>
                <a:tab pos="8775065" algn="l"/>
              </a:tabLst>
            </a:pPr>
            <a:r>
              <a:rPr u="sng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	</a:t>
            </a:r>
            <a:r>
              <a:rPr u="sng" spc="-10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Noise</a:t>
            </a:r>
            <a:r>
              <a:rPr u="sng" dirty="0">
                <a:solidFill>
                  <a:srgbClr val="C00000"/>
                </a:solidFill>
                <a:uFill>
                  <a:solidFill>
                    <a:srgbClr val="0000FF"/>
                  </a:solidFill>
                </a:uFill>
              </a:rPr>
              <a:t>	</a:t>
            </a:r>
            <a:endParaRPr u="sng" dirty="0">
              <a:solidFill>
                <a:srgbClr val="C00000"/>
              </a:solidFill>
              <a:uFill>
                <a:solidFill>
                  <a:srgbClr val="0000FF"/>
                </a:solidFill>
              </a:u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6324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2950" y="2408301"/>
            <a:ext cx="7486650" cy="2640384"/>
          </a:xfrm>
          <a:prstGeom prst="rect">
            <a:avLst/>
          </a:prstGeom>
        </p:spPr>
      </p:pic>
      <p:pic>
        <p:nvPicPr>
          <p:cNvPr id="6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Game </a:t>
            </a:r>
            <a:r>
              <a:rPr lang="en-IN" dirty="0"/>
              <a:t>2</a:t>
            </a:r>
            <a:r>
              <a:rPr dirty="0"/>
              <a:t>: </a:t>
            </a:r>
            <a:r>
              <a:rPr lang="en-IN" dirty="0"/>
              <a:t>Guess the </a:t>
            </a:r>
            <a:r>
              <a:rPr dirty="0"/>
              <a:t>Attack 🧟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Uh oh! Your signal is losing weight like it's on a strict diet. What’s happening?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Which impairment leads to this energy drop?</a:t>
            </a:r>
            <a:endParaRPr dirty="0"/>
          </a:p>
          <a:p>
            <a:r>
              <a:rPr dirty="0"/>
              <a:t>A. Crosstalk</a:t>
            </a:r>
            <a:endParaRPr dirty="0"/>
          </a:p>
          <a:p>
            <a:r>
              <a:rPr dirty="0"/>
              <a:t>B. Distortion</a:t>
            </a:r>
            <a:endParaRPr dirty="0"/>
          </a:p>
          <a:p>
            <a:r>
              <a:rPr dirty="0"/>
              <a:t>C. Attenuation</a:t>
            </a:r>
            <a:endParaRPr dirty="0"/>
          </a:p>
          <a:p>
            <a:r>
              <a:rPr dirty="0"/>
              <a:t>D. Impulse Noise</a:t>
            </a:r>
            <a:endParaRPr dirty="0"/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134" y="622757"/>
            <a:ext cx="6638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4400" i="0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to Noise</a:t>
            </a:r>
            <a:r>
              <a:rPr sz="4400" i="0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Ratio</a:t>
            </a:r>
            <a:r>
              <a:rPr sz="4400" i="0" spc="-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(SNR)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140" y="2000834"/>
            <a:ext cx="7668259" cy="25013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9730" marR="30480" indent="-3422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81000" algn="l"/>
              </a:tabLst>
            </a:pPr>
            <a:r>
              <a:rPr lang="en-US" sz="32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easure</a:t>
            </a:r>
            <a:r>
              <a:rPr sz="32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quality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SNR 	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often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used.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 </a:t>
            </a:r>
            <a:endParaRPr lang="en-US" sz="3200" spc="105" dirty="0">
              <a:latin typeface="Times New Roman" panose="02020603050405020304"/>
              <a:cs typeface="Times New Roman" panose="02020603050405020304"/>
            </a:endParaRPr>
          </a:p>
          <a:p>
            <a:pPr marL="379730" marR="30480" indent="-3422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81000" algn="l"/>
              </a:tabLst>
            </a:pPr>
            <a:endParaRPr lang="en-US" sz="3200" spc="105" dirty="0">
              <a:latin typeface="Times New Roman" panose="02020603050405020304"/>
              <a:cs typeface="Times New Roman" panose="02020603050405020304"/>
            </a:endParaRPr>
          </a:p>
          <a:p>
            <a:pPr marL="379730" marR="30480" indent="-3422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81000" algn="l"/>
              </a:tabLst>
            </a:pPr>
            <a:r>
              <a:rPr lang="en-IN" sz="3200" spc="10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200" dirty="0" err="1">
                <a:latin typeface="Times New Roman" panose="02020603050405020304"/>
                <a:cs typeface="Times New Roman" panose="02020603050405020304"/>
              </a:rPr>
              <a:t>ndicates</a:t>
            </a:r>
            <a:r>
              <a:rPr sz="3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strength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the 	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3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wrt</a:t>
            </a:r>
            <a:r>
              <a:rPr sz="3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noise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system.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134" y="622757"/>
            <a:ext cx="6638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4400" i="0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to Noise</a:t>
            </a:r>
            <a:r>
              <a:rPr sz="4400" i="0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Ratio</a:t>
            </a:r>
            <a:r>
              <a:rPr sz="4400" i="0" spc="-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i="0" spc="-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(SNR)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140" y="2000834"/>
            <a:ext cx="7668259" cy="218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0365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036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is the</a:t>
            </a:r>
            <a:r>
              <a:rPr sz="3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ratio</a:t>
            </a:r>
            <a:r>
              <a:rPr sz="3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3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powers.</a:t>
            </a:r>
            <a:endParaRPr lang="en-US" sz="3200" spc="-10" dirty="0">
              <a:latin typeface="Times New Roman" panose="02020603050405020304"/>
              <a:cs typeface="Times New Roman" panose="02020603050405020304"/>
            </a:endParaRPr>
          </a:p>
          <a:p>
            <a:pPr marL="380365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0365" algn="l"/>
              </a:tabLst>
            </a:pP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379730" marR="32385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1000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200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usually</a:t>
            </a:r>
            <a:r>
              <a:rPr sz="3200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given</a:t>
            </a:r>
            <a:r>
              <a:rPr sz="3200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dB</a:t>
            </a:r>
            <a:r>
              <a:rPr sz="3200" spc="3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referred</a:t>
            </a:r>
            <a:r>
              <a:rPr sz="3200" spc="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3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as 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SNR</a:t>
            </a:r>
            <a:r>
              <a:rPr sz="3150" spc="-15" baseline="-21000" dirty="0">
                <a:latin typeface="Times New Roman" panose="02020603050405020304"/>
                <a:cs typeface="Times New Roman" panose="02020603050405020304"/>
              </a:rPr>
              <a:t>dB.</a:t>
            </a:r>
            <a:endParaRPr sz="3150" baseline="-21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28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" y="10668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479501"/>
            <a:ext cx="65462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9410" algn="l"/>
              </a:tabLst>
            </a:pPr>
            <a:r>
              <a:rPr sz="2400" i="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Figure</a:t>
            </a:r>
            <a:r>
              <a:rPr sz="2400" i="0" spc="-8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0" spc="-2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3.30</a:t>
            </a:r>
            <a:r>
              <a:rPr sz="2400" i="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dirty="0"/>
              <a:t>Two</a:t>
            </a:r>
            <a:r>
              <a:rPr sz="2000" spc="-30" dirty="0"/>
              <a:t> </a:t>
            </a:r>
            <a:r>
              <a:rPr sz="2000" dirty="0"/>
              <a:t>cases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SNR:</a:t>
            </a:r>
            <a:r>
              <a:rPr sz="2000" spc="-30" dirty="0"/>
              <a:t> </a:t>
            </a:r>
            <a:r>
              <a:rPr sz="2000" dirty="0"/>
              <a:t>a</a:t>
            </a:r>
            <a:r>
              <a:rPr sz="2000" spc="-15" dirty="0"/>
              <a:t> </a:t>
            </a:r>
            <a:r>
              <a:rPr sz="2000" dirty="0"/>
              <a:t>high</a:t>
            </a:r>
            <a:r>
              <a:rPr sz="2000" spc="-30" dirty="0"/>
              <a:t> </a:t>
            </a:r>
            <a:r>
              <a:rPr sz="2000" dirty="0"/>
              <a:t>SNR</a:t>
            </a:r>
            <a:r>
              <a:rPr sz="2000" spc="-35" dirty="0"/>
              <a:t> </a:t>
            </a:r>
            <a:r>
              <a:rPr sz="2000" dirty="0"/>
              <a:t>and</a:t>
            </a:r>
            <a:r>
              <a:rPr sz="2000" spc="-15" dirty="0"/>
              <a:t> </a:t>
            </a:r>
            <a:r>
              <a:rPr sz="2000" dirty="0"/>
              <a:t>a</a:t>
            </a:r>
            <a:r>
              <a:rPr sz="2000" spc="-15" dirty="0"/>
              <a:t> </a:t>
            </a:r>
            <a:r>
              <a:rPr sz="2000" dirty="0"/>
              <a:t>low</a:t>
            </a:r>
            <a:r>
              <a:rPr sz="2000" spc="-30" dirty="0"/>
              <a:t> </a:t>
            </a:r>
            <a:r>
              <a:rPr sz="2000" spc="-25" dirty="0"/>
              <a:t>SNR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4812" y="1406525"/>
            <a:ext cx="8281924" cy="4708940"/>
          </a:xfrm>
          <a:prstGeom prst="rect">
            <a:avLst/>
          </a:prstGeom>
        </p:spPr>
      </p:pic>
      <p:pic>
        <p:nvPicPr>
          <p:cNvPr id="7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699" y="457200"/>
            <a:ext cx="8864600" cy="2191389"/>
          </a:xfrm>
        </p:spPr>
        <p:txBody>
          <a:bodyPr/>
          <a:lstStyle/>
          <a:p>
            <a:r>
              <a:rPr dirty="0"/>
              <a:t>Game </a:t>
            </a:r>
            <a:r>
              <a:rPr lang="en-IN" dirty="0"/>
              <a:t>3</a:t>
            </a:r>
            <a:r>
              <a:rPr dirty="0"/>
              <a:t>: SNR Showdown 🎤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Your signal's trying to shout over a noisy crowd. Can it win?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Which ratio tells us how loud the signal is compared to the noise?</a:t>
            </a:r>
            <a:endParaRPr dirty="0"/>
          </a:p>
          <a:p>
            <a:r>
              <a:rPr dirty="0"/>
              <a:t>A. Bit Rate</a:t>
            </a:r>
            <a:endParaRPr dirty="0"/>
          </a:p>
          <a:p>
            <a:r>
              <a:rPr dirty="0"/>
              <a:t>B. Modulation Index</a:t>
            </a:r>
            <a:endParaRPr dirty="0"/>
          </a:p>
          <a:p>
            <a:r>
              <a:rPr dirty="0"/>
              <a:t>C. dBm</a:t>
            </a:r>
            <a:endParaRPr dirty="0"/>
          </a:p>
          <a:p>
            <a:r>
              <a:rPr dirty="0"/>
              <a:t>D. SNR (Signal-to-Noise Ratio)</a:t>
            </a:r>
            <a:endParaRPr dirty="0"/>
          </a:p>
        </p:txBody>
      </p:sp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4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4666</Words>
  <Application>WPS Presentation</Application>
  <PresentationFormat>On-screen Show (4:3)</PresentationFormat>
  <Paragraphs>250</Paragraphs>
  <Slides>46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1" baseType="lpstr">
      <vt:lpstr>Arial</vt:lpstr>
      <vt:lpstr>SimSun</vt:lpstr>
      <vt:lpstr>Wingdings</vt:lpstr>
      <vt:lpstr>Times New Roman</vt:lpstr>
      <vt:lpstr>Arial MT</vt:lpstr>
      <vt:lpstr>Arial</vt:lpstr>
      <vt:lpstr>Times-Roman</vt:lpstr>
      <vt:lpstr>Times New Roman</vt:lpstr>
      <vt:lpstr>Microsoft YaHei</vt:lpstr>
      <vt:lpstr>Arial Unicode MS</vt:lpstr>
      <vt:lpstr>Calibri</vt:lpstr>
      <vt:lpstr>Wingdings</vt:lpstr>
      <vt:lpstr>SimSun-ExtB</vt:lpstr>
      <vt:lpstr>Calibri</vt:lpstr>
      <vt:lpstr>Office Theme</vt:lpstr>
      <vt:lpstr>Transmission Media</vt:lpstr>
      <vt:lpstr>PowerPoint 演示文稿</vt:lpstr>
      <vt:lpstr>PowerPoint 演示文稿</vt:lpstr>
      <vt:lpstr>Classes of transmission media</vt:lpstr>
      <vt:lpstr>Twisted-Pair Cable</vt:lpstr>
      <vt:lpstr>Twisted-Pair Cable   Twisted Pair and Coax use metallic(Copper) conductors that:  Accept  the  signals  in  the  form  of Electrical Current. Transport  the  signals  in  the  form  of Electrical Current</vt:lpstr>
      <vt:lpstr>Effect of Noise on Parallel Lines</vt:lpstr>
      <vt:lpstr>Noise on Twisted-Pair Lines</vt:lpstr>
      <vt:lpstr>UTP and STP cables</vt:lpstr>
      <vt:lpstr>Shielded Twisted-Pair Cable</vt:lpstr>
      <vt:lpstr>Advantages :</vt:lpstr>
      <vt:lpstr>PowerPoint 演示文稿</vt:lpstr>
      <vt:lpstr>Unshielded Twisted-Pair Cable</vt:lpstr>
      <vt:lpstr>Coaxial Cable</vt:lpstr>
      <vt:lpstr>PowerPoint 演示文稿</vt:lpstr>
      <vt:lpstr>Optical Fiber Cable</vt:lpstr>
      <vt:lpstr>Optical Fiber Cable</vt:lpstr>
      <vt:lpstr>Optical fiber</vt:lpstr>
      <vt:lpstr>UNGUIDED MEDIA: WIRELESS</vt:lpstr>
      <vt:lpstr>Electromagnetic spectrum for wireless communication</vt:lpstr>
      <vt:lpstr>Game 1: Signal Safari 🦁</vt:lpstr>
      <vt:lpstr>Propagation Methods</vt:lpstr>
      <vt:lpstr>	Wireless transmission waves	</vt:lpstr>
      <vt:lpstr>1.	Used for multicast communications: 			Such as radio and television.  2.	They can penetrate through walls.   3.	Use Omni directional antennas </vt:lpstr>
      <vt:lpstr>Omnidirectional antenna</vt:lpstr>
      <vt:lpstr>PowerPoint 演示文稿</vt:lpstr>
      <vt:lpstr>Unidirectional antennas</vt:lpstr>
      <vt:lpstr>PowerPoint 演示文稿</vt:lpstr>
      <vt:lpstr>Transmission Impairment</vt:lpstr>
      <vt:lpstr>Causes of impairment</vt:lpstr>
      <vt:lpstr>Attenuation</vt:lpstr>
      <vt:lpstr>Attenuation</vt:lpstr>
      <vt:lpstr>Measurement of Attenuation</vt:lpstr>
      <vt:lpstr>Attenuation</vt:lpstr>
      <vt:lpstr>Example 3.27</vt:lpstr>
      <vt:lpstr>Distortion</vt:lpstr>
      <vt:lpstr>Distortion</vt:lpstr>
      <vt:lpstr>Distortion</vt:lpstr>
      <vt:lpstr>Noise</vt:lpstr>
      <vt:lpstr>Noise</vt:lpstr>
      <vt:lpstr>	Noise	</vt:lpstr>
      <vt:lpstr>Game 2: Guess the Attack 🧟</vt:lpstr>
      <vt:lpstr>Signal to Noise Ratio (SNR)</vt:lpstr>
      <vt:lpstr>Signal to Noise Ratio (SNR)</vt:lpstr>
      <vt:lpstr>Figure 3.30	Two cases of SNR: a high SNR and a low SNR</vt:lpstr>
      <vt:lpstr>Game 3: SNR Showdown 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gagandeep kaur</cp:lastModifiedBy>
  <cp:revision>32</cp:revision>
  <dcterms:created xsi:type="dcterms:W3CDTF">2025-07-11T07:22:00Z</dcterms:created>
  <dcterms:modified xsi:type="dcterms:W3CDTF">2025-09-16T06:46:48Z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2018-02-10T16:30:00Z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2025-07-11T16:30:00Z</vt:filetime>
  </property>
  <property fmtid="{D5CDD505-2E9C-101B-9397-08002B2CF9AE}" pid="5" name="Producer">
    <vt:lpwstr>Microsoft® Office PowerPoint® 2007</vt:lpwstr>
  </property>
  <property fmtid="{D5CDD505-2E9C-101B-9397-08002B2CF9AE}" pid="6" name="ICV">
    <vt:lpwstr>8F142781FAC943979553F6C6C072A7BD_12</vt:lpwstr>
  </property>
  <property fmtid="{D5CDD505-2E9C-101B-9397-08002B2CF9AE}" pid="7" name="KSOProductBuildVer">
    <vt:lpwstr>1033-12.2.0.22549</vt:lpwstr>
  </property>
</Properties>
</file>