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64" r:id="rId2"/>
    <p:sldId id="362" r:id="rId3"/>
    <p:sldId id="363" r:id="rId4"/>
    <p:sldId id="278" r:id="rId5"/>
    <p:sldId id="277" r:id="rId6"/>
    <p:sldId id="322" r:id="rId7"/>
    <p:sldId id="262" r:id="rId8"/>
    <p:sldId id="256" r:id="rId9"/>
    <p:sldId id="257" r:id="rId10"/>
    <p:sldId id="258" r:id="rId11"/>
    <p:sldId id="259" r:id="rId12"/>
    <p:sldId id="365" r:id="rId13"/>
    <p:sldId id="261" r:id="rId14"/>
    <p:sldId id="263" r:id="rId15"/>
    <p:sldId id="264" r:id="rId16"/>
    <p:sldId id="391" r:id="rId17"/>
    <p:sldId id="265" r:id="rId18"/>
    <p:sldId id="267" r:id="rId19"/>
    <p:sldId id="268" r:id="rId20"/>
    <p:sldId id="269" r:id="rId21"/>
    <p:sldId id="270" r:id="rId22"/>
    <p:sldId id="272" r:id="rId23"/>
    <p:sldId id="396" r:id="rId24"/>
    <p:sldId id="397" r:id="rId25"/>
    <p:sldId id="274" r:id="rId26"/>
    <p:sldId id="366" r:id="rId27"/>
    <p:sldId id="276" r:id="rId28"/>
    <p:sldId id="39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C478C-712D-4D09-8982-CD502CA81886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FD491-322E-46A0-8DD1-1E1528423B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475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15">
            <a:extLst>
              <a:ext uri="{FF2B5EF4-FFF2-40B4-BE49-F238E27FC236}">
                <a16:creationId xmlns:a16="http://schemas.microsoft.com/office/drawing/2014/main" id="{DA404100-7BE6-2C14-B255-295F4B25C08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fld id="{8487D146-D872-4530-BDA3-ACC2DC061107}" type="slidenum">
              <a:rPr lang="en-GB" altLang="en-US" sz="1300">
                <a:solidFill>
                  <a:srgbClr val="000000"/>
                </a:solidFill>
                <a:cs typeface="DejaVu Sans" charset="0"/>
              </a:rPr>
              <a:pPr/>
              <a:t>6</a:t>
            </a:fld>
            <a:endParaRPr lang="en-GB" altLang="en-US" sz="1300">
              <a:solidFill>
                <a:srgbClr val="000000"/>
              </a:solidFill>
              <a:cs typeface="DejaVu Sans" charset="0"/>
            </a:endParaRPr>
          </a:p>
        </p:txBody>
      </p:sp>
      <p:sp>
        <p:nvSpPr>
          <p:cNvPr id="192515" name="Text Box 1">
            <a:extLst>
              <a:ext uri="{FF2B5EF4-FFF2-40B4-BE49-F238E27FC236}">
                <a16:creationId xmlns:a16="http://schemas.microsoft.com/office/drawing/2014/main" id="{A6FF7445-CF18-F488-3D76-C6FBB798D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6550" y="9121775"/>
            <a:ext cx="31654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6840" tIns="48240" rIns="96840" bIns="4824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algn="r" eaLnBrk="1">
              <a:buClrTx/>
              <a:buFontTx/>
              <a:buNone/>
            </a:pPr>
            <a:fld id="{3DE6C4F5-12FA-408A-961A-02457FF9A91F}" type="slidenum">
              <a:rPr lang="en-US" altLang="en-US" sz="1300">
                <a:solidFill>
                  <a:srgbClr val="000000"/>
                </a:solidFill>
                <a:cs typeface="DejaVu Sans" charset="0"/>
              </a:rPr>
              <a:pPr algn="r" eaLnBrk="1">
                <a:buClrTx/>
                <a:buFontTx/>
                <a:buNone/>
              </a:pPr>
              <a:t>6</a:t>
            </a:fld>
            <a:endParaRPr lang="en-US" altLang="en-US" sz="1300">
              <a:solidFill>
                <a:srgbClr val="000000"/>
              </a:solidFill>
              <a:cs typeface="DejaVu Sans" charset="0"/>
            </a:endParaRPr>
          </a:p>
        </p:txBody>
      </p:sp>
      <p:sp>
        <p:nvSpPr>
          <p:cNvPr id="192516" name="Rectangle 2">
            <a:extLst>
              <a:ext uri="{FF2B5EF4-FFF2-40B4-BE49-F238E27FC236}">
                <a16:creationId xmlns:a16="http://schemas.microsoft.com/office/drawing/2014/main" id="{09CCD3E7-5EAC-FE29-837C-B08642B293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8788" y="720725"/>
            <a:ext cx="6394450" cy="3597275"/>
          </a:xfrm>
          <a:ln/>
        </p:spPr>
      </p:sp>
      <p:sp>
        <p:nvSpPr>
          <p:cNvPr id="192517" name="Text Box 3">
            <a:extLst>
              <a:ext uri="{FF2B5EF4-FFF2-40B4-BE49-F238E27FC236}">
                <a16:creationId xmlns:a16="http://schemas.microsoft.com/office/drawing/2014/main" id="{E2CB1D13-327C-1420-EF99-4C3A08093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4725" y="4560888"/>
            <a:ext cx="5362575" cy="431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paging, the page size = frame size.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FD491-322E-46A0-8DD1-1E1528423B3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968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maps the </a:t>
            </a:r>
            <a:r>
              <a:rPr lang="en-US" b="1" dirty="0"/>
              <a:t>page number (p)</a:t>
            </a:r>
            <a:r>
              <a:rPr lang="en-US" dirty="0"/>
              <a:t> of the logical address to a corresponding </a:t>
            </a:r>
            <a:r>
              <a:rPr lang="en-US" b="1" dirty="0"/>
              <a:t>frame number (f)</a:t>
            </a:r>
            <a:r>
              <a:rPr lang="en-US" dirty="0"/>
              <a:t> in physical memory.</a:t>
            </a:r>
          </a:p>
          <a:p>
            <a:r>
              <a:rPr lang="en-US" dirty="0"/>
              <a:t>Each entry in the page table points to a frame in physical memory where the actual data is stored.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FD491-322E-46A0-8DD1-1E1528423B3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14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64=2power6and1024=2power10           </a:t>
            </a:r>
          </a:p>
          <a:p>
            <a:r>
              <a:rPr lang="en-IN" dirty="0"/>
              <a:t>So 64k=2power6x2power10 </a:t>
            </a:r>
          </a:p>
          <a:p>
            <a:r>
              <a:rPr lang="en-IN" dirty="0"/>
              <a:t>2power 6+10=2power16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FD491-322E-46A0-8DD1-1E1528423B3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473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>
            <a:extLst>
              <a:ext uri="{FF2B5EF4-FFF2-40B4-BE49-F238E27FC236}">
                <a16:creationId xmlns:a16="http://schemas.microsoft.com/office/drawing/2014/main" id="{E783E6F3-5D87-48EC-4E88-99E3854CFEC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>
              <a:buClrTx/>
              <a:buFontTx/>
              <a:buNone/>
            </a:pPr>
            <a:fld id="{9B7A699D-7FB6-4EC5-B5B3-96B38D4E0509}" type="slidenum">
              <a:rPr lang="en-US" altLang="en-US">
                <a:solidFill>
                  <a:srgbClr val="000000"/>
                </a:solidFill>
                <a:cs typeface="DejaVu Sans" charset="0"/>
              </a:rPr>
              <a:pPr>
                <a:buClrTx/>
                <a:buFontTx/>
                <a:buNone/>
              </a:pPr>
              <a:t>18</a:t>
            </a:fld>
            <a:endParaRPr lang="en-US" altLang="en-US">
              <a:solidFill>
                <a:srgbClr val="000000"/>
              </a:solidFill>
              <a:cs typeface="DejaVu Sans" charset="0"/>
            </a:endParaRPr>
          </a:p>
        </p:txBody>
      </p:sp>
      <p:sp>
        <p:nvSpPr>
          <p:cNvPr id="15363" name="Text Box 1">
            <a:extLst>
              <a:ext uri="{FF2B5EF4-FFF2-40B4-BE49-F238E27FC236}">
                <a16:creationId xmlns:a16="http://schemas.microsoft.com/office/drawing/2014/main" id="{D5C70EA1-E486-7E21-8989-94F056B2B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B58C591-4D27-4C3B-80BC-E30E4012C349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0CAAA7FF-E962-DA24-8720-955625BEBA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15365" name="Text Box 3">
            <a:extLst>
              <a:ext uri="{FF2B5EF4-FFF2-40B4-BE49-F238E27FC236}">
                <a16:creationId xmlns:a16="http://schemas.microsoft.com/office/drawing/2014/main" id="{132E0309-4A38-18E9-9664-FFDDE695A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">
            <a:extLst>
              <a:ext uri="{FF2B5EF4-FFF2-40B4-BE49-F238E27FC236}">
                <a16:creationId xmlns:a16="http://schemas.microsoft.com/office/drawing/2014/main" id="{4179C0B6-CA49-C6F6-C156-C69D6A26570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>
              <a:buClrTx/>
              <a:buFontTx/>
              <a:buNone/>
            </a:pPr>
            <a:fld id="{4A907C2F-410A-497C-BBB8-D01FF9DAC0D4}" type="slidenum">
              <a:rPr lang="en-US" altLang="en-US">
                <a:solidFill>
                  <a:srgbClr val="000000"/>
                </a:solidFill>
                <a:cs typeface="DejaVu Sans" charset="0"/>
              </a:rPr>
              <a:pPr>
                <a:buClrTx/>
                <a:buFontTx/>
                <a:buNone/>
              </a:pPr>
              <a:t>19</a:t>
            </a:fld>
            <a:endParaRPr lang="en-US" altLang="en-US">
              <a:solidFill>
                <a:srgbClr val="000000"/>
              </a:solidFill>
              <a:cs typeface="DejaVu Sans" charset="0"/>
            </a:endParaRPr>
          </a:p>
        </p:txBody>
      </p:sp>
      <p:sp>
        <p:nvSpPr>
          <p:cNvPr id="17411" name="Text Box 1">
            <a:extLst>
              <a:ext uri="{FF2B5EF4-FFF2-40B4-BE49-F238E27FC236}">
                <a16:creationId xmlns:a16="http://schemas.microsoft.com/office/drawing/2014/main" id="{E5E5BCD9-D612-2329-B0C7-1CF424FED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22E5712-541E-442F-9ABC-7CC466272FB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C0F55A27-C8AA-5C9B-EAE4-4F266C934B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17413" name="Text Box 3">
            <a:extLst>
              <a:ext uri="{FF2B5EF4-FFF2-40B4-BE49-F238E27FC236}">
                <a16:creationId xmlns:a16="http://schemas.microsoft.com/office/drawing/2014/main" id="{92D5595D-23EA-F77F-7086-7CD381F0A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>
            <a:extLst>
              <a:ext uri="{FF2B5EF4-FFF2-40B4-BE49-F238E27FC236}">
                <a16:creationId xmlns:a16="http://schemas.microsoft.com/office/drawing/2014/main" id="{CA1E656C-D9A5-D2A2-28B9-2B2EFEDB51B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>
              <a:buClrTx/>
              <a:buFontTx/>
              <a:buNone/>
            </a:pPr>
            <a:fld id="{F135CD25-6160-46FC-AAC6-4E87AB5B8E55}" type="slidenum">
              <a:rPr lang="en-US" altLang="en-US">
                <a:solidFill>
                  <a:srgbClr val="000000"/>
                </a:solidFill>
                <a:cs typeface="DejaVu Sans" charset="0"/>
              </a:rPr>
              <a:pPr>
                <a:buClrTx/>
                <a:buFontTx/>
                <a:buNone/>
              </a:pPr>
              <a:t>20</a:t>
            </a:fld>
            <a:endParaRPr lang="en-US" altLang="en-US">
              <a:solidFill>
                <a:srgbClr val="000000"/>
              </a:solidFill>
              <a:cs typeface="DejaVu Sans" charset="0"/>
            </a:endParaRPr>
          </a:p>
        </p:txBody>
      </p:sp>
      <p:sp>
        <p:nvSpPr>
          <p:cNvPr id="19459" name="Text Box 1">
            <a:extLst>
              <a:ext uri="{FF2B5EF4-FFF2-40B4-BE49-F238E27FC236}">
                <a16:creationId xmlns:a16="http://schemas.microsoft.com/office/drawing/2014/main" id="{5E261348-385E-FA21-5416-9E8C07E3D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979C828-6285-4703-B78D-077C0DBDE8A6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86CBE454-A77B-443D-5FDF-F8E03DA15E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19461" name="Text Box 3">
            <a:extLst>
              <a:ext uri="{FF2B5EF4-FFF2-40B4-BE49-F238E27FC236}">
                <a16:creationId xmlns:a16="http://schemas.microsoft.com/office/drawing/2014/main" id="{0E75698F-73F1-67D9-7820-4D95F1B22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8">
            <a:extLst>
              <a:ext uri="{FF2B5EF4-FFF2-40B4-BE49-F238E27FC236}">
                <a16:creationId xmlns:a16="http://schemas.microsoft.com/office/drawing/2014/main" id="{6BE5C188-2B02-0C5C-B32E-3102FD21416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>
              <a:buClrTx/>
              <a:buFontTx/>
              <a:buNone/>
            </a:pPr>
            <a:fld id="{0C07BEB9-D276-4B14-9A3A-BDE9BDF1CBBD}" type="slidenum">
              <a:rPr lang="en-US" altLang="en-US">
                <a:solidFill>
                  <a:srgbClr val="000000"/>
                </a:solidFill>
                <a:cs typeface="DejaVu Sans" charset="0"/>
              </a:rPr>
              <a:pPr>
                <a:buClrTx/>
                <a:buFontTx/>
                <a:buNone/>
              </a:pPr>
              <a:t>21</a:t>
            </a:fld>
            <a:endParaRPr lang="en-US" altLang="en-US">
              <a:solidFill>
                <a:srgbClr val="000000"/>
              </a:solidFill>
              <a:cs typeface="DejaVu Sans" charset="0"/>
            </a:endParaRPr>
          </a:p>
        </p:txBody>
      </p:sp>
      <p:sp>
        <p:nvSpPr>
          <p:cNvPr id="21507" name="Text Box 1">
            <a:extLst>
              <a:ext uri="{FF2B5EF4-FFF2-40B4-BE49-F238E27FC236}">
                <a16:creationId xmlns:a16="http://schemas.microsoft.com/office/drawing/2014/main" id="{F60B2B8B-9448-F610-C104-6A107E0A9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93154EE-F42C-45D5-9F07-2341BC7C718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679203FD-36F4-CD04-56A9-5A74650954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</p:spPr>
      </p:sp>
      <p:sp>
        <p:nvSpPr>
          <p:cNvPr id="21509" name="Text Box 3">
            <a:extLst>
              <a:ext uri="{FF2B5EF4-FFF2-40B4-BE49-F238E27FC236}">
                <a16:creationId xmlns:a16="http://schemas.microsoft.com/office/drawing/2014/main" id="{EB065093-8BEF-D58E-D769-AB28E0A30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victim page is the memory page that gets swapped out to make room for the new page being brought into main memory during page replacement.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FD491-322E-46A0-8DD1-1E1528423B3C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549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reference string</a:t>
            </a:r>
            <a:r>
              <a:rPr lang="en-US" dirty="0"/>
              <a:t> is a </a:t>
            </a:r>
            <a:r>
              <a:rPr lang="en-US" b="1" dirty="0"/>
              <a:t>sequence of memory page numbers</a:t>
            </a:r>
            <a:r>
              <a:rPr lang="en-US" dirty="0"/>
              <a:t> that a process requests </a:t>
            </a:r>
            <a:r>
              <a:rPr lang="en-US" b="1" dirty="0"/>
              <a:t>over time</a:t>
            </a:r>
            <a:r>
              <a:rPr lang="en-US" dirty="0"/>
              <a:t>.</a:t>
            </a:r>
          </a:p>
          <a:p>
            <a:r>
              <a:rPr lang="en-US" dirty="0"/>
              <a:t>Each number in the reference string represents a </a:t>
            </a:r>
            <a:r>
              <a:rPr lang="en-US" b="1" dirty="0"/>
              <a:t>page</a:t>
            </a:r>
            <a:r>
              <a:rPr lang="en-US" dirty="0"/>
              <a:t> that the CPU needs to access.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4FD491-322E-46A0-8DD1-1E1528423B3C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951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67B8-E3D7-5822-3C41-A6859AD46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70D82-26B4-3D44-59DD-E4435C5ED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E2246-BE45-AB33-01E5-8B5E41ADF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CB78F-808C-479A-9814-5261BFC5B1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3385D-F0E5-C1D8-133C-376724E0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6FF93-BC2D-E62C-714B-9F3A65C7F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4E3B-9641-469B-892E-F322AF6F3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400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A00D-2947-3F95-5334-C0B126A40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EC66E-0F34-4205-AC77-44B799BFC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B017E-D410-CD17-F68A-0AE1AAE18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CB78F-808C-479A-9814-5261BFC5B1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1D142-2B71-4EE7-ECF6-942B848C6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7C154-923A-9F4D-5B6D-CCD617615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4E3B-9641-469B-892E-F322AF6F3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123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18F9E-32E4-5EBB-2EE5-76246BB69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953D3-86AF-6F51-FF48-9AF2B3F64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BA6C3-F632-FC8F-5C45-FE18D08C5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CB78F-808C-479A-9814-5261BFC5B1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D5DB7-153D-A54E-60D3-A4E28F7D5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B464F-3613-2377-5E41-5DD19322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4E3B-9641-469B-892E-F322AF6F3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42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DDF55-B97C-86B3-7886-7492A61A1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0CCDF-DDA2-95BB-FAE6-B7EBB5411F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D839E-F2BE-7377-0CBF-D2A7883A0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CF77C-316B-F2DC-06D5-B23972425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CB78F-808C-479A-9814-5261BFC5B1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F9961-1F58-C80E-983C-531916D07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5C6096-9A0F-8EDD-B00A-E271D5D31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4E3B-9641-469B-892E-F322AF6F3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76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88898-6874-6D47-5C26-F43029C5F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2C448-4E5D-4DC2-0460-C0D069706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B01C7-9CD6-0FE1-F663-435F3D8FD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2F7457-2273-8219-328F-AFCD9A073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7599F-AA4B-4390-092C-24548DEA96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116BAF-290D-96E1-5F25-634AFE07F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CB78F-808C-479A-9814-5261BFC5B1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8D0D55-27DC-9725-A065-9AD7BB7A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D18591-01BA-C761-7475-0F63D5C58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4E3B-9641-469B-892E-F322AF6F3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52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9AA0-C567-929A-9262-FB8E843C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8B621-7F28-E0C3-7B26-FFCD5B77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CB78F-808C-479A-9814-5261BFC5B1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94EEE5-54C7-AB5C-C528-0BFD5E9E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F4A8AE-F64E-CFB9-5C14-0A31D5D9D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4E3B-9641-469B-892E-F322AF6F3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422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8A6838-5595-25FA-8F81-CD66A1F2D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CB78F-808C-479A-9814-5261BFC5B1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3B9D7-3011-D1BD-7B62-206A52F59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6B460-69D2-39CE-43AD-9EDD7C15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4E3B-9641-469B-892E-F322AF6F3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534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F5D0F-FC6E-C4F0-5030-EB888542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F62F-D7A5-2600-60EA-4F52F8852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CEABEB-3ABB-7C15-236F-F4D5B3256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1458D-4926-9905-FFF0-96714B743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CB78F-808C-479A-9814-5261BFC5B1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7D94E-53E1-BCB9-04FF-6C3916B5A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D402F-6C5B-98B5-513C-0129467F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4E3B-9641-469B-892E-F322AF6F3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47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4F5A3-520F-F1F2-F9CA-567FB0F96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9ECCD-194C-EA3C-6530-1571940FBA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0208C-2F1F-00A5-E174-E7F7A3AC2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592B-0F4D-69FF-5AD8-C665C2291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CB78F-808C-479A-9814-5261BFC5B1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DD0B0-CA4F-0005-285D-8013BB9A2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4B4CD-68D6-FF54-843E-150B74A32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4E3B-9641-469B-892E-F322AF6F3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535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B8417-4B96-866F-2CBD-F9968136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A6A4C-3899-573E-A0F4-F355F8ACE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0BB41-658E-3116-39A3-A3D1B8673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CB78F-808C-479A-9814-5261BFC5B1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779AC-F6EC-A16E-84A7-7053BDDFA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FE884-8F7F-8E72-4239-58FA85A0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4E3B-9641-469B-892E-F322AF6F3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130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056016-BB15-FECB-1D4B-E49E0CBD3C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954914-4152-C483-BC0A-B810BAE63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644AD-5CDC-241A-3A4D-AE4E877EE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CB78F-808C-479A-9814-5261BFC5B1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87717-8248-1889-6914-14891B07A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94358-C436-3DD8-668A-8BB3EA324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44E3B-9641-469B-892E-F322AF6F3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718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1F23EF-1CA0-9149-EDE1-DF05F6863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2060C-4FBC-EB9F-C50F-B7A96CFA4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324E9-73FF-BA93-314F-46B7E4DF2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CB78F-808C-479A-9814-5261BFC5B101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0A497-E907-0654-D0CB-163AF881B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781EF-4575-C395-6592-7CB1002E4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44E3B-9641-469B-892E-F322AF6F3A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92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naukri.com/code360/library/non-contiguous-memory-allocation-in-os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4DBB7-1CC9-2895-F0AD-0E79E772DE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Memory Management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625F3-DF10-98A0-5469-FAF867F9A5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3765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06BAE009-C021-CC7D-3F03-E2C49C400B1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667000" y="609600"/>
            <a:ext cx="7315200" cy="609600"/>
          </a:xfrm>
        </p:spPr>
        <p:txBody>
          <a:bodyPr>
            <a:normAutofit/>
          </a:bodyPr>
          <a:lstStyle/>
          <a:p>
            <a:r>
              <a:rPr lang="en-IN" altLang="en-US" sz="3600" dirty="0">
                <a:latin typeface="+mn-lt"/>
              </a:rPr>
              <a:t>Non-contiguous Memory Allocation</a:t>
            </a:r>
          </a:p>
        </p:txBody>
      </p:sp>
      <p:sp>
        <p:nvSpPr>
          <p:cNvPr id="69635" name="Rectangle 1">
            <a:extLst>
              <a:ext uri="{FF2B5EF4-FFF2-40B4-BE49-F238E27FC236}">
                <a16:creationId xmlns:a16="http://schemas.microsoft.com/office/drawing/2014/main" id="{053D0338-4796-F753-C319-A822DF6922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0" y="1165225"/>
            <a:ext cx="8224838" cy="22606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68580" tIns="34290" rIns="68580" bIns="34290" rtlCol="0" anchor="ctr">
            <a:spAutoFit/>
          </a:bodyPr>
          <a:lstStyle/>
          <a:p>
            <a:pPr algn="l" defTabSz="685800">
              <a:lnSpc>
                <a:spcPct val="20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>
                <a:latin typeface="Calibri" panose="020F0502020204030204" pitchFamily="34" charset="0"/>
                <a:cs typeface="Calibri" panose="020F0502020204030204" pitchFamily="34" charset="0"/>
              </a:rPr>
              <a:t>A process </a:t>
            </a:r>
            <a:r>
              <a:rPr lang="en-US" altLang="en-US" sz="1800" b="1">
                <a:latin typeface="Calibri" panose="020F0502020204030204" pitchFamily="34" charset="0"/>
                <a:cs typeface="Calibri" panose="020F0502020204030204" pitchFamily="34" charset="0"/>
              </a:rPr>
              <a:t>does not need to occupy a single continuous block</a:t>
            </a:r>
            <a:r>
              <a:rPr lang="en-US" altLang="en-US" sz="1800">
                <a:latin typeface="Calibri" panose="020F0502020204030204" pitchFamily="34" charset="0"/>
                <a:cs typeface="Calibri" panose="020F0502020204030204" pitchFamily="34" charset="0"/>
              </a:rPr>
              <a:t> of physical memory.</a:t>
            </a:r>
          </a:p>
          <a:p>
            <a:pPr algn="l" defTabSz="685800">
              <a:lnSpc>
                <a:spcPct val="20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>
                <a:latin typeface="Calibri" panose="020F0502020204030204" pitchFamily="34" charset="0"/>
                <a:cs typeface="Calibri" panose="020F0502020204030204" pitchFamily="34" charset="0"/>
              </a:rPr>
              <a:t>The process is </a:t>
            </a:r>
            <a:r>
              <a:rPr lang="en-US" altLang="en-US" sz="1800" b="1">
                <a:latin typeface="Calibri" panose="020F0502020204030204" pitchFamily="34" charset="0"/>
                <a:cs typeface="Calibri" panose="020F0502020204030204" pitchFamily="34" charset="0"/>
              </a:rPr>
              <a:t>divided into parts (segments or pages)</a:t>
            </a:r>
            <a:r>
              <a:rPr lang="en-US" altLang="en-US" sz="1800">
                <a:latin typeface="Calibri" panose="020F0502020204030204" pitchFamily="34" charset="0"/>
                <a:cs typeface="Calibri" panose="020F0502020204030204" pitchFamily="34" charset="0"/>
              </a:rPr>
              <a:t> that can be stored </a:t>
            </a:r>
            <a:r>
              <a:rPr lang="en-US" altLang="en-US" sz="1800" b="1">
                <a:latin typeface="Calibri" panose="020F0502020204030204" pitchFamily="34" charset="0"/>
                <a:cs typeface="Calibri" panose="020F0502020204030204" pitchFamily="34" charset="0"/>
              </a:rPr>
              <a:t>in different locations</a:t>
            </a:r>
            <a:r>
              <a:rPr lang="en-US" altLang="en-US" sz="1800">
                <a:latin typeface="Calibri" panose="020F0502020204030204" pitchFamily="34" charset="0"/>
                <a:cs typeface="Calibri" panose="020F0502020204030204" pitchFamily="34" charset="0"/>
              </a:rPr>
              <a:t> in main memory.</a:t>
            </a:r>
          </a:p>
          <a:p>
            <a:pPr algn="l" defTabSz="685800">
              <a:lnSpc>
                <a:spcPct val="20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>
                <a:latin typeface="Calibri" panose="020F0502020204030204" pitchFamily="34" charset="0"/>
                <a:cs typeface="Calibri" panose="020F0502020204030204" pitchFamily="34" charset="0"/>
              </a:rPr>
              <a:t>Increases </a:t>
            </a:r>
            <a:r>
              <a:rPr lang="en-US" altLang="en-US" sz="1800" b="1">
                <a:latin typeface="Calibri" panose="020F0502020204030204" pitchFamily="34" charset="0"/>
                <a:cs typeface="Calibri" panose="020F0502020204030204" pitchFamily="34" charset="0"/>
              </a:rPr>
              <a:t>flexibility</a:t>
            </a:r>
            <a:r>
              <a:rPr lang="en-US" altLang="en-US" sz="180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altLang="en-US" sz="1800" b="1">
                <a:latin typeface="Calibri" panose="020F0502020204030204" pitchFamily="34" charset="0"/>
                <a:cs typeface="Calibri" panose="020F0502020204030204" pitchFamily="34" charset="0"/>
              </a:rPr>
              <a:t>reduces external fragmentation</a:t>
            </a:r>
            <a:r>
              <a:rPr lang="en-US" altLang="en-US" sz="200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69636" name="Picture 2">
            <a:extLst>
              <a:ext uri="{FF2B5EF4-FFF2-40B4-BE49-F238E27FC236}">
                <a16:creationId xmlns:a16="http://schemas.microsoft.com/office/drawing/2014/main" id="{93684DC7-5862-3E6C-9496-78D30C18F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129088"/>
            <a:ext cx="6553200" cy="242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ubtitle 2">
            <a:extLst>
              <a:ext uri="{FF2B5EF4-FFF2-40B4-BE49-F238E27FC236}">
                <a16:creationId xmlns:a16="http://schemas.microsoft.com/office/drawing/2014/main" id="{AB8B60E6-E55C-57F3-D0E3-B8362DD594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619375" y="1670050"/>
            <a:ext cx="6400800" cy="1314450"/>
          </a:xfrm>
        </p:spPr>
        <p:txBody>
          <a:bodyPr/>
          <a:lstStyle/>
          <a:p>
            <a:endParaRPr lang="en-IN" altLang="en-US" u="sng">
              <a:solidFill>
                <a:schemeClr val="accent2"/>
              </a:solidFill>
              <a:hlinkClick r:id="rId2"/>
            </a:endParaRPr>
          </a:p>
          <a:p>
            <a:endParaRPr lang="en-IN" altLang="en-US">
              <a:solidFill>
                <a:schemeClr val="accent2"/>
              </a:solidFill>
            </a:endParaRPr>
          </a:p>
        </p:txBody>
      </p:sp>
      <p:sp>
        <p:nvSpPr>
          <p:cNvPr id="70659" name="TextBox 4">
            <a:extLst>
              <a:ext uri="{FF2B5EF4-FFF2-40B4-BE49-F238E27FC236}">
                <a16:creationId xmlns:a16="http://schemas.microsoft.com/office/drawing/2014/main" id="{41BB3A34-65DC-9D8D-DCCD-4FB1A254E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131888"/>
            <a:ext cx="7315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IN" altLang="en-US" sz="3200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Non-Contiguous memory allocation</a:t>
            </a:r>
          </a:p>
        </p:txBody>
      </p:sp>
      <p:pic>
        <p:nvPicPr>
          <p:cNvPr id="70660" name="Picture 4" descr="Paging | Memory Management | Operating ...">
            <a:extLst>
              <a:ext uri="{FF2B5EF4-FFF2-40B4-BE49-F238E27FC236}">
                <a16:creationId xmlns:a16="http://schemas.microsoft.com/office/drawing/2014/main" id="{9F0F4D7A-CA50-03B2-75BF-3A50DDE1E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1525" y="2484439"/>
            <a:ext cx="829310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2DCB9-9C3E-2A1C-C1EA-2A33C33EA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4129"/>
            <a:ext cx="9144000" cy="953729"/>
          </a:xfrm>
        </p:spPr>
        <p:txBody>
          <a:bodyPr>
            <a:normAutofit/>
          </a:bodyPr>
          <a:lstStyle/>
          <a:p>
            <a:r>
              <a:rPr lang="en-IN" dirty="0"/>
              <a:t>Segmentation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D8D8E-84F3-5315-F3B0-4C9288065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7587" y="1297858"/>
            <a:ext cx="9940413" cy="3959942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Segmentation divides a user process into several segments of variable size, unlike paging, which uses equal-sized pages.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Segments correspond to logical structures in programs, such as main programs, functions, and variables.</a:t>
            </a:r>
          </a:p>
          <a:p>
            <a:pPr algn="l"/>
            <a:r>
              <a:rPr lang="en-US" sz="1800" dirty="0"/>
              <a:t>Segment Table and Address Translation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A segment table is used to manage segments, containing base addresses and limit values for each segment.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/>
              <a:t>Logical addresses are represented as tuples of segment number and offset, with conversion to physical addresses involving checks against limit values.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65EFC3-36CC-35FA-0220-FAAD89F1DD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28" t="27845" r="41473" b="38521"/>
          <a:stretch>
            <a:fillRect/>
          </a:stretch>
        </p:blipFill>
        <p:spPr>
          <a:xfrm>
            <a:off x="3097162" y="4215581"/>
            <a:ext cx="5781368" cy="199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202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4DF9-B688-F981-3909-8DE3047666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76F52C-D5A8-116C-575B-68FC8197D4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D416D0-3084-9EA9-2B41-8D7BBEA1F5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1" t="18351" r="12500" b="6953"/>
          <a:stretch>
            <a:fillRect/>
          </a:stretch>
        </p:blipFill>
        <p:spPr>
          <a:xfrm>
            <a:off x="1592827" y="948659"/>
            <a:ext cx="10048568" cy="512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496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1">
            <a:extLst>
              <a:ext uri="{FF2B5EF4-FFF2-40B4-BE49-F238E27FC236}">
                <a16:creationId xmlns:a16="http://schemas.microsoft.com/office/drawing/2014/main" id="{71BFD77B-487E-2D49-0B77-C6C730E6C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4162" y="-76200"/>
            <a:ext cx="746442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buClrTx/>
              <a:buFontTx/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+mn-lt"/>
              </a:rPr>
              <a:t>Segmentation Architecture</a:t>
            </a:r>
          </a:p>
        </p:txBody>
      </p:sp>
      <p:sp>
        <p:nvSpPr>
          <p:cNvPr id="94210" name="Text Box 2">
            <a:extLst>
              <a:ext uri="{FF2B5EF4-FFF2-40B4-BE49-F238E27FC236}">
                <a16:creationId xmlns:a16="http://schemas.microsoft.com/office/drawing/2014/main" id="{EFF6AF87-6BD2-5487-9515-D7CA8A78A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066800"/>
            <a:ext cx="8534400" cy="54102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 marL="331788" indent="-331788">
              <a:lnSpc>
                <a:spcPct val="93000"/>
              </a:lnSpc>
              <a:spcBef>
                <a:spcPts val="788"/>
              </a:spcBef>
              <a:buFont typeface="Times New Roman" pitchFamily="16" charset="0"/>
              <a:buChar char="•"/>
              <a:tabLst>
                <a:tab pos="331788" algn="l"/>
                <a:tab pos="779463" algn="l"/>
                <a:tab pos="1228725" algn="l"/>
                <a:tab pos="1677988" algn="l"/>
                <a:tab pos="2127250" algn="l"/>
                <a:tab pos="2576513" algn="l"/>
                <a:tab pos="3025775" algn="l"/>
                <a:tab pos="3475038" algn="l"/>
                <a:tab pos="3924300" algn="l"/>
                <a:tab pos="4373563" algn="l"/>
                <a:tab pos="4822825" algn="l"/>
                <a:tab pos="5272088" algn="l"/>
                <a:tab pos="5721350" algn="l"/>
                <a:tab pos="6170613" algn="l"/>
                <a:tab pos="6619875" algn="l"/>
                <a:tab pos="7069138" algn="l"/>
                <a:tab pos="7518400" algn="l"/>
                <a:tab pos="7967663" algn="l"/>
                <a:tab pos="8416925" algn="l"/>
                <a:tab pos="8866188" algn="l"/>
                <a:tab pos="9315450" algn="l"/>
              </a:tabLst>
              <a:defRPr/>
            </a:pPr>
            <a:r>
              <a:rPr lang="en-US" sz="2000" dirty="0">
                <a:solidFill>
                  <a:srgbClr val="000000"/>
                </a:solidFill>
              </a:rPr>
              <a:t>Each segment has a name and its length.</a:t>
            </a:r>
          </a:p>
          <a:p>
            <a:pPr marL="331788" indent="-331788">
              <a:lnSpc>
                <a:spcPct val="93000"/>
              </a:lnSpc>
              <a:spcBef>
                <a:spcPts val="788"/>
              </a:spcBef>
              <a:buFont typeface="Times New Roman" pitchFamily="16" charset="0"/>
              <a:buChar char="•"/>
              <a:tabLst>
                <a:tab pos="331788" algn="l"/>
                <a:tab pos="779463" algn="l"/>
                <a:tab pos="1228725" algn="l"/>
                <a:tab pos="1677988" algn="l"/>
                <a:tab pos="2127250" algn="l"/>
                <a:tab pos="2576513" algn="l"/>
                <a:tab pos="3025775" algn="l"/>
                <a:tab pos="3475038" algn="l"/>
                <a:tab pos="3924300" algn="l"/>
                <a:tab pos="4373563" algn="l"/>
                <a:tab pos="4822825" algn="l"/>
                <a:tab pos="5272088" algn="l"/>
                <a:tab pos="5721350" algn="l"/>
                <a:tab pos="6170613" algn="l"/>
                <a:tab pos="6619875" algn="l"/>
                <a:tab pos="7069138" algn="l"/>
                <a:tab pos="7518400" algn="l"/>
                <a:tab pos="7967663" algn="l"/>
                <a:tab pos="8416925" algn="l"/>
                <a:tab pos="8866188" algn="l"/>
                <a:tab pos="9315450" algn="l"/>
              </a:tabLst>
              <a:defRPr/>
            </a:pPr>
            <a:r>
              <a:rPr lang="en-US" sz="2000" dirty="0">
                <a:solidFill>
                  <a:srgbClr val="000000"/>
                </a:solidFill>
              </a:rPr>
              <a:t>Logical address consists of a two tuple:</a:t>
            </a:r>
          </a:p>
          <a:p>
            <a:pPr marL="342900" indent="-331788">
              <a:lnSpc>
                <a:spcPct val="93000"/>
              </a:lnSpc>
              <a:spcBef>
                <a:spcPts val="788"/>
              </a:spcBef>
              <a:tabLst>
                <a:tab pos="331788" algn="l"/>
                <a:tab pos="779463" algn="l"/>
                <a:tab pos="1228725" algn="l"/>
                <a:tab pos="1677988" algn="l"/>
                <a:tab pos="2127250" algn="l"/>
                <a:tab pos="2576513" algn="l"/>
                <a:tab pos="3025775" algn="l"/>
                <a:tab pos="3475038" algn="l"/>
                <a:tab pos="3924300" algn="l"/>
                <a:tab pos="4373563" algn="l"/>
                <a:tab pos="4822825" algn="l"/>
                <a:tab pos="5272088" algn="l"/>
                <a:tab pos="5721350" algn="l"/>
                <a:tab pos="6170613" algn="l"/>
                <a:tab pos="6619875" algn="l"/>
                <a:tab pos="7069138" algn="l"/>
                <a:tab pos="7518400" algn="l"/>
                <a:tab pos="7967663" algn="l"/>
                <a:tab pos="8416925" algn="l"/>
                <a:tab pos="8866188" algn="l"/>
                <a:tab pos="9315450" algn="l"/>
              </a:tabLst>
              <a:defRPr/>
            </a:pPr>
            <a:r>
              <a:rPr lang="en-US" sz="2000" dirty="0">
                <a:solidFill>
                  <a:srgbClr val="000000"/>
                </a:solidFill>
              </a:rPr>
              <a:t>		&lt;segment-number, offset&gt;,</a:t>
            </a:r>
          </a:p>
          <a:p>
            <a:pPr marL="331788" indent="-331788">
              <a:lnSpc>
                <a:spcPct val="93000"/>
              </a:lnSpc>
              <a:spcBef>
                <a:spcPts val="788"/>
              </a:spcBef>
              <a:buFont typeface="Times New Roman" pitchFamily="16" charset="0"/>
              <a:buChar char="•"/>
              <a:tabLst>
                <a:tab pos="331788" algn="l"/>
                <a:tab pos="779463" algn="l"/>
                <a:tab pos="1228725" algn="l"/>
                <a:tab pos="1677988" algn="l"/>
                <a:tab pos="2127250" algn="l"/>
                <a:tab pos="2576513" algn="l"/>
                <a:tab pos="3025775" algn="l"/>
                <a:tab pos="3475038" algn="l"/>
                <a:tab pos="3924300" algn="l"/>
                <a:tab pos="4373563" algn="l"/>
                <a:tab pos="4822825" algn="l"/>
                <a:tab pos="5272088" algn="l"/>
                <a:tab pos="5721350" algn="l"/>
                <a:tab pos="6170613" algn="l"/>
                <a:tab pos="6619875" algn="l"/>
                <a:tab pos="7069138" algn="l"/>
                <a:tab pos="7518400" algn="l"/>
                <a:tab pos="7967663" algn="l"/>
                <a:tab pos="8416925" algn="l"/>
                <a:tab pos="8866188" algn="l"/>
                <a:tab pos="9315450" algn="l"/>
              </a:tabLst>
              <a:defRPr/>
            </a:pPr>
            <a:r>
              <a:rPr lang="en-US" sz="2000" b="1" dirty="0">
                <a:solidFill>
                  <a:srgbClr val="A50021"/>
                </a:solidFill>
              </a:rPr>
              <a:t>Segment table</a:t>
            </a:r>
            <a:r>
              <a:rPr lang="en-US" sz="2000" dirty="0">
                <a:solidFill>
                  <a:srgbClr val="000000"/>
                </a:solidFill>
              </a:rPr>
              <a:t> – maps physical addresses; each table entry has:</a:t>
            </a:r>
          </a:p>
          <a:p>
            <a:pPr marL="731838" lvl="1" indent="-274638">
              <a:lnSpc>
                <a:spcPct val="93000"/>
              </a:lnSpc>
              <a:spcBef>
                <a:spcPts val="788"/>
              </a:spcBef>
              <a:buFont typeface="Times New Roman" pitchFamily="16" charset="0"/>
              <a:buChar char="–"/>
              <a:tabLst>
                <a:tab pos="331788" algn="l"/>
                <a:tab pos="779463" algn="l"/>
                <a:tab pos="1228725" algn="l"/>
                <a:tab pos="1677988" algn="l"/>
                <a:tab pos="2127250" algn="l"/>
                <a:tab pos="2576513" algn="l"/>
                <a:tab pos="3025775" algn="l"/>
                <a:tab pos="3475038" algn="l"/>
                <a:tab pos="3924300" algn="l"/>
                <a:tab pos="4373563" algn="l"/>
                <a:tab pos="4822825" algn="l"/>
                <a:tab pos="5272088" algn="l"/>
                <a:tab pos="5721350" algn="l"/>
                <a:tab pos="6170613" algn="l"/>
                <a:tab pos="6619875" algn="l"/>
                <a:tab pos="7069138" algn="l"/>
                <a:tab pos="7518400" algn="l"/>
                <a:tab pos="7967663" algn="l"/>
                <a:tab pos="8416925" algn="l"/>
                <a:tab pos="8866188" algn="l"/>
                <a:tab pos="9315450" algn="l"/>
              </a:tabLst>
              <a:defRPr/>
            </a:pPr>
            <a:r>
              <a:rPr lang="en-US" sz="2000" dirty="0">
                <a:solidFill>
                  <a:srgbClr val="000000"/>
                </a:solidFill>
              </a:rPr>
              <a:t>base – contains the starting physical address where the segments reside in memory</a:t>
            </a:r>
          </a:p>
          <a:p>
            <a:pPr marL="731838" lvl="1" indent="-274638">
              <a:lnSpc>
                <a:spcPct val="93000"/>
              </a:lnSpc>
              <a:spcBef>
                <a:spcPts val="788"/>
              </a:spcBef>
              <a:buFont typeface="Times New Roman" pitchFamily="16" charset="0"/>
              <a:buChar char="–"/>
              <a:tabLst>
                <a:tab pos="331788" algn="l"/>
                <a:tab pos="779463" algn="l"/>
                <a:tab pos="1228725" algn="l"/>
                <a:tab pos="1677988" algn="l"/>
                <a:tab pos="2127250" algn="l"/>
                <a:tab pos="2576513" algn="l"/>
                <a:tab pos="3025775" algn="l"/>
                <a:tab pos="3475038" algn="l"/>
                <a:tab pos="3924300" algn="l"/>
                <a:tab pos="4373563" algn="l"/>
                <a:tab pos="4822825" algn="l"/>
                <a:tab pos="5272088" algn="l"/>
                <a:tab pos="5721350" algn="l"/>
                <a:tab pos="6170613" algn="l"/>
                <a:tab pos="6619875" algn="l"/>
                <a:tab pos="7069138" algn="l"/>
                <a:tab pos="7518400" algn="l"/>
                <a:tab pos="7967663" algn="l"/>
                <a:tab pos="8416925" algn="l"/>
                <a:tab pos="8866188" algn="l"/>
                <a:tab pos="9315450" algn="l"/>
              </a:tabLst>
              <a:defRPr/>
            </a:pPr>
            <a:r>
              <a:rPr lang="en-US" sz="2000" i="1" dirty="0">
                <a:solidFill>
                  <a:srgbClr val="000000"/>
                </a:solidFill>
              </a:rPr>
              <a:t>limit</a:t>
            </a:r>
            <a:r>
              <a:rPr lang="en-US" sz="2000" dirty="0">
                <a:solidFill>
                  <a:srgbClr val="000000"/>
                </a:solidFill>
              </a:rPr>
              <a:t> – specifies the length of the segment</a:t>
            </a:r>
          </a:p>
          <a:p>
            <a:pPr marL="331788" indent="-331788">
              <a:lnSpc>
                <a:spcPct val="93000"/>
              </a:lnSpc>
              <a:spcBef>
                <a:spcPts val="788"/>
              </a:spcBef>
              <a:buFont typeface="Times New Roman" pitchFamily="16" charset="0"/>
              <a:buChar char="•"/>
              <a:tabLst>
                <a:tab pos="331788" algn="l"/>
                <a:tab pos="779463" algn="l"/>
                <a:tab pos="1228725" algn="l"/>
                <a:tab pos="1677988" algn="l"/>
                <a:tab pos="2127250" algn="l"/>
                <a:tab pos="2576513" algn="l"/>
                <a:tab pos="3025775" algn="l"/>
                <a:tab pos="3475038" algn="l"/>
                <a:tab pos="3924300" algn="l"/>
                <a:tab pos="4373563" algn="l"/>
                <a:tab pos="4822825" algn="l"/>
                <a:tab pos="5272088" algn="l"/>
                <a:tab pos="5721350" algn="l"/>
                <a:tab pos="6170613" algn="l"/>
                <a:tab pos="6619875" algn="l"/>
                <a:tab pos="7069138" algn="l"/>
                <a:tab pos="7518400" algn="l"/>
                <a:tab pos="7967663" algn="l"/>
                <a:tab pos="8416925" algn="l"/>
                <a:tab pos="8866188" algn="l"/>
                <a:tab pos="9315450" algn="l"/>
              </a:tabLst>
              <a:defRPr/>
            </a:pPr>
            <a:r>
              <a:rPr lang="en-US" sz="2000" b="1" i="1" dirty="0">
                <a:solidFill>
                  <a:srgbClr val="000000"/>
                </a:solidFill>
              </a:rPr>
              <a:t>Segment-table base register (STBR)</a:t>
            </a:r>
            <a:r>
              <a:rPr lang="en-US" sz="2000" dirty="0">
                <a:solidFill>
                  <a:srgbClr val="000000"/>
                </a:solidFill>
              </a:rPr>
              <a:t> points to the segment table’s location in memory</a:t>
            </a:r>
          </a:p>
          <a:p>
            <a:pPr marL="331788" indent="-331788">
              <a:lnSpc>
                <a:spcPct val="93000"/>
              </a:lnSpc>
              <a:spcBef>
                <a:spcPts val="788"/>
              </a:spcBef>
              <a:buFont typeface="Times New Roman" pitchFamily="16" charset="0"/>
              <a:buChar char="•"/>
              <a:tabLst>
                <a:tab pos="331788" algn="l"/>
                <a:tab pos="779463" algn="l"/>
                <a:tab pos="1228725" algn="l"/>
                <a:tab pos="1677988" algn="l"/>
                <a:tab pos="2127250" algn="l"/>
                <a:tab pos="2576513" algn="l"/>
                <a:tab pos="3025775" algn="l"/>
                <a:tab pos="3475038" algn="l"/>
                <a:tab pos="3924300" algn="l"/>
                <a:tab pos="4373563" algn="l"/>
                <a:tab pos="4822825" algn="l"/>
                <a:tab pos="5272088" algn="l"/>
                <a:tab pos="5721350" algn="l"/>
                <a:tab pos="6170613" algn="l"/>
                <a:tab pos="6619875" algn="l"/>
                <a:tab pos="7069138" algn="l"/>
                <a:tab pos="7518400" algn="l"/>
                <a:tab pos="7967663" algn="l"/>
                <a:tab pos="8416925" algn="l"/>
                <a:tab pos="8866188" algn="l"/>
                <a:tab pos="9315450" algn="l"/>
              </a:tabLst>
              <a:defRPr/>
            </a:pPr>
            <a:r>
              <a:rPr lang="en-US" sz="2000" b="1" i="1" dirty="0">
                <a:solidFill>
                  <a:srgbClr val="000000"/>
                </a:solidFill>
              </a:rPr>
              <a:t>Segment-table length register (STLR)</a:t>
            </a:r>
            <a:r>
              <a:rPr lang="en-US" sz="2000" dirty="0">
                <a:solidFill>
                  <a:srgbClr val="000000"/>
                </a:solidFill>
              </a:rPr>
              <a:t> indicates number of segments used by a program;</a:t>
            </a:r>
          </a:p>
          <a:p>
            <a:pPr marL="342900" indent="-331788">
              <a:lnSpc>
                <a:spcPct val="93000"/>
              </a:lnSpc>
              <a:spcBef>
                <a:spcPts val="788"/>
              </a:spcBef>
              <a:tabLst>
                <a:tab pos="331788" algn="l"/>
                <a:tab pos="779463" algn="l"/>
                <a:tab pos="1228725" algn="l"/>
                <a:tab pos="1677988" algn="l"/>
                <a:tab pos="2127250" algn="l"/>
                <a:tab pos="2576513" algn="l"/>
                <a:tab pos="3025775" algn="l"/>
                <a:tab pos="3475038" algn="l"/>
                <a:tab pos="3924300" algn="l"/>
                <a:tab pos="4373563" algn="l"/>
                <a:tab pos="4822825" algn="l"/>
                <a:tab pos="5272088" algn="l"/>
                <a:tab pos="5721350" algn="l"/>
                <a:tab pos="6170613" algn="l"/>
                <a:tab pos="6619875" algn="l"/>
                <a:tab pos="7069138" algn="l"/>
                <a:tab pos="7518400" algn="l"/>
                <a:tab pos="7967663" algn="l"/>
                <a:tab pos="8416925" algn="l"/>
                <a:tab pos="8866188" algn="l"/>
                <a:tab pos="9315450" algn="l"/>
              </a:tabLst>
              <a:defRPr/>
            </a:pPr>
            <a:r>
              <a:rPr lang="en-US" sz="2000" dirty="0">
                <a:solidFill>
                  <a:srgbClr val="000000"/>
                </a:solidFill>
              </a:rPr>
              <a:t>	                  </a:t>
            </a:r>
            <a:r>
              <a:rPr lang="en-US" sz="2000" b="1" dirty="0">
                <a:solidFill>
                  <a:srgbClr val="000000"/>
                </a:solidFill>
              </a:rPr>
              <a:t>segment number </a:t>
            </a:r>
            <a:r>
              <a:rPr lang="en-US" sz="2000" b="1" i="1" dirty="0">
                <a:solidFill>
                  <a:srgbClr val="000000"/>
                </a:solidFill>
              </a:rPr>
              <a:t>s</a:t>
            </a:r>
            <a:r>
              <a:rPr lang="en-US" sz="2000" b="1" dirty="0">
                <a:solidFill>
                  <a:srgbClr val="000000"/>
                </a:solidFill>
              </a:rPr>
              <a:t> is legal if </a:t>
            </a:r>
            <a:r>
              <a:rPr lang="en-US" sz="2000" b="1" i="1" dirty="0">
                <a:solidFill>
                  <a:srgbClr val="000000"/>
                </a:solidFill>
              </a:rPr>
              <a:t>s</a:t>
            </a:r>
            <a:r>
              <a:rPr lang="en-US" sz="2000" b="1" dirty="0">
                <a:solidFill>
                  <a:srgbClr val="000000"/>
                </a:solidFill>
              </a:rPr>
              <a:t> &lt; STLR</a:t>
            </a:r>
          </a:p>
          <a:p>
            <a:pPr marL="341313" indent="-331788">
              <a:lnSpc>
                <a:spcPct val="93000"/>
              </a:lnSpc>
              <a:spcBef>
                <a:spcPts val="788"/>
              </a:spcBef>
              <a:tabLst>
                <a:tab pos="331788" algn="l"/>
                <a:tab pos="779463" algn="l"/>
                <a:tab pos="1228725" algn="l"/>
                <a:tab pos="1677988" algn="l"/>
                <a:tab pos="2127250" algn="l"/>
                <a:tab pos="2576513" algn="l"/>
                <a:tab pos="3025775" algn="l"/>
                <a:tab pos="3475038" algn="l"/>
                <a:tab pos="3924300" algn="l"/>
                <a:tab pos="4373563" algn="l"/>
                <a:tab pos="4822825" algn="l"/>
                <a:tab pos="5272088" algn="l"/>
                <a:tab pos="5721350" algn="l"/>
                <a:tab pos="6170613" algn="l"/>
                <a:tab pos="6619875" algn="l"/>
                <a:tab pos="7069138" algn="l"/>
                <a:tab pos="7518400" algn="l"/>
                <a:tab pos="7967663" algn="l"/>
                <a:tab pos="8416925" algn="l"/>
                <a:tab pos="8866188" algn="l"/>
                <a:tab pos="9315450" algn="l"/>
              </a:tabLst>
              <a:defRPr/>
            </a:pPr>
            <a:endParaRPr lang="en-US" sz="2200" b="1" dirty="0">
              <a:solidFill>
                <a:srgbClr val="000000"/>
              </a:solidFill>
              <a:latin typeface="Arial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7BF9-1323-70CE-F7B8-53629C00A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107"/>
          </a:xfrm>
        </p:spPr>
        <p:txBody>
          <a:bodyPr>
            <a:normAutofit fontScale="90000"/>
          </a:bodyPr>
          <a:lstStyle/>
          <a:p>
            <a:r>
              <a:rPr lang="en-IN" dirty="0"/>
              <a:t>                                        Paging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EEB63-13EA-3B6C-4FB0-C206F8FB3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2555"/>
            <a:ext cx="10515600" cy="5470320"/>
          </a:xfrm>
        </p:spPr>
        <p:txBody>
          <a:bodyPr/>
          <a:lstStyle/>
          <a:p>
            <a:r>
              <a:rPr lang="en-US" dirty="0"/>
              <a:t>Paging is a </a:t>
            </a:r>
            <a:r>
              <a:rPr lang="en-US" b="1" dirty="0"/>
              <a:t>memory management scheme</a:t>
            </a:r>
            <a:r>
              <a:rPr lang="en-US" dirty="0"/>
              <a:t> that eliminates the need for contiguous allocation of physical memory.</a:t>
            </a:r>
            <a:br>
              <a:rPr lang="en-US" dirty="0"/>
            </a:br>
            <a:r>
              <a:rPr lang="en-US" dirty="0"/>
              <a:t>It allows a process’s </a:t>
            </a:r>
            <a:r>
              <a:rPr lang="en-US" b="1" dirty="0"/>
              <a:t>logical address space</a:t>
            </a:r>
            <a:r>
              <a:rPr lang="en-US" dirty="0"/>
              <a:t> to be </a:t>
            </a:r>
            <a:r>
              <a:rPr lang="en-US" b="1" dirty="0"/>
              <a:t>non-contiguous</a:t>
            </a:r>
            <a:r>
              <a:rPr lang="en-US" dirty="0"/>
              <a:t>, thus avoiding external fragmentation and efficiently using memory.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19426-EFA6-D1E7-C065-6A9EC66C7E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81" t="17386" r="44274" b="16272"/>
          <a:stretch>
            <a:fillRect/>
          </a:stretch>
        </p:blipFill>
        <p:spPr>
          <a:xfrm>
            <a:off x="2802194" y="2862333"/>
            <a:ext cx="6164825" cy="3728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06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D501B-E457-E80F-47E3-DD3D054C16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0709F8-1CC5-4FE0-A36B-80CB31843E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46EAA3-2522-8820-BD5B-7031CF8217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5" b="6237"/>
          <a:stretch>
            <a:fillRect/>
          </a:stretch>
        </p:blipFill>
        <p:spPr>
          <a:xfrm>
            <a:off x="68826" y="0"/>
            <a:ext cx="12123174" cy="643029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0070FD7-9925-5124-BDAB-87AB9C70B246}"/>
              </a:ext>
            </a:extLst>
          </p:cNvPr>
          <p:cNvSpPr/>
          <p:nvPr/>
        </p:nvSpPr>
        <p:spPr>
          <a:xfrm>
            <a:off x="9773265" y="157316"/>
            <a:ext cx="2202425" cy="11012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180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95A413-1C13-E5CD-9CF5-4C8E1A6E33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887" b="12545"/>
          <a:stretch>
            <a:fillRect/>
          </a:stretch>
        </p:blipFill>
        <p:spPr>
          <a:xfrm>
            <a:off x="1868129" y="275303"/>
            <a:ext cx="7757651" cy="599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79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43CB3-C39D-8205-6491-750EA364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E207E9A-B2AF-7E20-91B7-3E77E867E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9959" b="13158"/>
          <a:stretch>
            <a:fillRect/>
          </a:stretch>
        </p:blipFill>
        <p:spPr>
          <a:xfrm>
            <a:off x="2228143" y="471948"/>
            <a:ext cx="8626669" cy="602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58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7D9B-8B6C-14A5-7070-BBE17F000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solidFill>
                  <a:srgbClr val="0F1114"/>
                </a:solidFill>
                <a:effectLst/>
                <a:latin typeface="Source Sans Pro" panose="020F0502020204030204" pitchFamily="34" charset="0"/>
              </a:rPr>
              <a:t>Paging Scheme</a:t>
            </a:r>
            <a:br>
              <a:rPr lang="en-US" b="0" dirty="0">
                <a:solidFill>
                  <a:srgbClr val="0F1114"/>
                </a:solidFill>
                <a:effectLst/>
                <a:latin typeface="Source Sans Pro" panose="020F0502020204030204" pitchFamily="34" charset="0"/>
              </a:rPr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592DEB-93EF-5201-2795-2C36B5B25BDE}"/>
              </a:ext>
            </a:extLst>
          </p:cNvPr>
          <p:cNvSpPr txBox="1"/>
          <p:nvPr/>
        </p:nvSpPr>
        <p:spPr>
          <a:xfrm>
            <a:off x="137652" y="2143431"/>
            <a:ext cx="10515600" cy="2949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F1114"/>
                </a:solidFill>
                <a:effectLst/>
                <a:latin typeface="+mj-lt"/>
              </a:rPr>
              <a:t>Paging helps eliminate external fragmentation and reduces internal fragmentation by allowing non-contiguous physical address spaces.</a:t>
            </a:r>
          </a:p>
          <a:p>
            <a:pPr algn="l">
              <a:lnSpc>
                <a:spcPts val="1800"/>
              </a:lnSpc>
            </a:pPr>
            <a:endParaRPr lang="en-US" sz="2000" b="0" i="0" dirty="0">
              <a:solidFill>
                <a:srgbClr val="0F1114"/>
              </a:solidFill>
              <a:effectLst/>
              <a:latin typeface="+mj-lt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F1114"/>
                </a:solidFill>
                <a:effectLst/>
                <a:latin typeface="+mj-lt"/>
              </a:rPr>
              <a:t>Memory is divided into fixed size pages (logical memory) and frames (physical memory), with a page table that maps logical pages to physical frames.</a:t>
            </a:r>
          </a:p>
          <a:p>
            <a:pPr algn="l">
              <a:lnSpc>
                <a:spcPts val="1800"/>
              </a:lnSpc>
            </a:pPr>
            <a:endParaRPr lang="en-US" sz="2000" b="0" i="0" dirty="0">
              <a:solidFill>
                <a:srgbClr val="0F1114"/>
              </a:solidFill>
              <a:effectLst/>
              <a:latin typeface="+mj-lt"/>
            </a:endParaRPr>
          </a:p>
          <a:p>
            <a:pPr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2000" b="0" dirty="0">
                <a:solidFill>
                  <a:srgbClr val="0F1114"/>
                </a:solidFill>
                <a:effectLst/>
                <a:latin typeface="+mj-lt"/>
              </a:rPr>
              <a:t>Address Translation and Page Size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F1114"/>
                </a:solidFill>
                <a:effectLst/>
                <a:latin typeface="+mj-lt"/>
              </a:rPr>
              <a:t>Logical addresses consist of a page number and an offset, which are used to find the corresponding physical address through the page table.</a:t>
            </a: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F1114"/>
              </a:solidFill>
              <a:latin typeface="+mj-lt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F1114"/>
              </a:solidFill>
              <a:effectLst/>
              <a:latin typeface="+mj-lt"/>
            </a:endParaRPr>
          </a:p>
          <a:p>
            <a:pPr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n-US" sz="2000" b="0" i="0" dirty="0">
              <a:solidFill>
                <a:srgbClr val="0F1114"/>
              </a:solidFill>
              <a:effectLst/>
              <a:latin typeface="+mj-lt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47B3E33-8FA1-0FE8-2746-AF8730046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55772"/>
            <a:ext cx="11493910" cy="10341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final physical address is formed by combining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frame number (f)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(from the page table)with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displacement (d)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(from the logical address).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results in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physical address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in RAM that the CPU can use to access the correct data.</a:t>
            </a:r>
          </a:p>
        </p:txBody>
      </p:sp>
    </p:spTree>
    <p:extLst>
      <p:ext uri="{BB962C8B-B14F-4D97-AF65-F5344CB8AC3E}">
        <p14:creationId xmlns:p14="http://schemas.microsoft.com/office/powerpoint/2010/main" val="3565636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DBF679-7281-3904-078F-03DC4DF09F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40087" b="14288"/>
          <a:stretch>
            <a:fillRect/>
          </a:stretch>
        </p:blipFill>
        <p:spPr>
          <a:xfrm>
            <a:off x="2841523" y="365125"/>
            <a:ext cx="6705599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139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F7BB1-F0E3-A9E3-B7DA-3F905F2F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0785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+mn-lt"/>
              </a:rPr>
              <a:t>Example Question: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0CFCAC-2D25-0E55-6DAC-74D56E8724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73394"/>
                <a:ext cx="10515600" cy="5203569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sz="2900" dirty="0"/>
                  <a:t>Consider a logical address space of </a:t>
                </a:r>
                <a:r>
                  <a:rPr lang="en-US" sz="2900" b="1" dirty="0"/>
                  <a:t>64 pages</a:t>
                </a:r>
                <a:r>
                  <a:rPr lang="en-US" sz="2900" dirty="0"/>
                  <a:t> of </a:t>
                </a:r>
                <a:r>
                  <a:rPr lang="en-US" sz="2900" b="1" dirty="0"/>
                  <a:t>1,024 words</a:t>
                </a:r>
                <a:r>
                  <a:rPr lang="en-US" sz="2900" dirty="0"/>
                  <a:t> each, mapped onto a </a:t>
                </a:r>
                <a:r>
                  <a:rPr lang="en-US" sz="2900" b="1" dirty="0"/>
                  <a:t>physical memory</a:t>
                </a:r>
                <a:r>
                  <a:rPr lang="en-US" sz="2900" dirty="0"/>
                  <a:t> of </a:t>
                </a:r>
                <a:r>
                  <a:rPr lang="en-US" sz="2900" b="1" dirty="0"/>
                  <a:t>32 frames</a:t>
                </a:r>
                <a:r>
                  <a:rPr lang="en-US" sz="2900" dirty="0"/>
                  <a:t>.</a:t>
                </a:r>
              </a:p>
              <a:p>
                <a:r>
                  <a:rPr lang="en-US" sz="2900" dirty="0"/>
                  <a:t>We need to find:</a:t>
                </a:r>
                <a:br>
                  <a:rPr lang="en-US" sz="2900" dirty="0"/>
                </a:br>
                <a:r>
                  <a:rPr lang="en-US" sz="2900" dirty="0"/>
                  <a:t>(a) How many bits are there in the </a:t>
                </a:r>
                <a:r>
                  <a:rPr lang="en-US" sz="2900" b="1" dirty="0"/>
                  <a:t>logical address</a:t>
                </a:r>
                <a:r>
                  <a:rPr lang="en-US" sz="2900" dirty="0"/>
                  <a:t>?</a:t>
                </a:r>
                <a:br>
                  <a:rPr lang="en-US" sz="2900" dirty="0"/>
                </a:br>
                <a:r>
                  <a:rPr lang="en-US" sz="2900" dirty="0"/>
                  <a:t>(b) How many bits are there in the </a:t>
                </a:r>
                <a:r>
                  <a:rPr lang="en-US" sz="2900" b="1" dirty="0"/>
                  <a:t>physical address</a:t>
                </a:r>
                <a:r>
                  <a:rPr lang="en-US" sz="2900" dirty="0"/>
                  <a:t>?</a:t>
                </a:r>
              </a:p>
              <a:p>
                <a:r>
                  <a:rPr lang="en-IN" sz="2900" dirty="0"/>
                  <a:t>Solution:</a:t>
                </a:r>
                <a:r>
                  <a:rPr lang="en-IN" sz="2900" b="1" dirty="0"/>
                  <a:t> (a) Bits in Logical Address</a:t>
                </a:r>
              </a:p>
              <a:p>
                <a:r>
                  <a:rPr lang="en-IN" sz="2900" b="1" dirty="0"/>
                  <a:t>Step 1:</a:t>
                </a:r>
                <a:br>
                  <a:rPr lang="en-IN" sz="2900" dirty="0"/>
                </a:br>
                <a:r>
                  <a:rPr lang="en-IN" sz="2900" dirty="0"/>
                  <a:t>Logical memory size = Number of pages × Page size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29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900"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90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900">
                        <a:latin typeface="Cambria Math" panose="02040503050406030204" pitchFamily="18" charset="0"/>
                      </a:rPr>
                      <m:t>1024</m:t>
                    </m:r>
                    <m:r>
                      <a:rPr lang="en-IN" sz="29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900"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9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2900" b="0" i="1" smtClean="0">
                        <a:latin typeface="Cambria Math" panose="02040503050406030204" pitchFamily="18" charset="0"/>
                      </a:rPr>
                      <m:t>      (</m:t>
                    </m:r>
                    <m:r>
                      <m:rPr>
                        <m:nor/>
                      </m:rPr>
                      <a:rPr lang="en-IN" sz="2900" smtClean="0"/>
                      <m:t>1 </m:t>
                    </m:r>
                    <m:r>
                      <m:rPr>
                        <m:nor/>
                      </m:rPr>
                      <a:rPr lang="en-IN" sz="2900" smtClean="0"/>
                      <m:t>Kilobyte</m:t>
                    </m:r>
                    <m:r>
                      <m:rPr>
                        <m:nor/>
                      </m:rPr>
                      <a:rPr lang="en-IN" sz="2900" smtClean="0"/>
                      <m:t>=</m:t>
                    </m:r>
                    <m:r>
                      <m:rPr>
                        <m:nor/>
                      </m:rPr>
                      <a:rPr lang="en-IN" sz="2900" smtClean="0"/>
                      <m:t>1024</m:t>
                    </m:r>
                  </m:oMath>
                </a14:m>
                <a:r>
                  <a:rPr lang="en-IN" sz="2900" b="0" dirty="0"/>
                  <a:t>bytes)</a:t>
                </a:r>
              </a:p>
              <a:p>
                <a:r>
                  <a:rPr lang="en-IN" sz="2900" b="1" dirty="0"/>
                  <a:t>Step 2:</a:t>
                </a:r>
                <a:br>
                  <a:rPr lang="en-IN" sz="2900" dirty="0"/>
                </a:br>
                <a:r>
                  <a:rPr lang="en-IN" sz="2900" dirty="0"/>
                  <a:t>Let the number of bits required to address the logical memory be </a:t>
                </a:r>
                <a:r>
                  <a:rPr lang="en-IN" sz="2900" b="1" dirty="0"/>
                  <a:t>n</a:t>
                </a:r>
                <a:r>
                  <a:rPr lang="en-IN" sz="2900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9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ar-AE" sz="29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ar-AE" sz="29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900">
                          <a:latin typeface="Cambria Math" panose="02040503050406030204" pitchFamily="18" charset="0"/>
                        </a:rPr>
                        <m:t>64</m:t>
                      </m:r>
                      <m:r>
                        <a:rPr lang="ar-AE" sz="29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ar-AE" sz="29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9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ar-AE" sz="2900">
                              <a:latin typeface="Cambria Math" panose="02040503050406030204" pitchFamily="18" charset="0"/>
                            </a:rPr>
                            <m:t>16</m:t>
                          </m:r>
                        </m:sup>
                      </m:sSup>
                    </m:oMath>
                  </m:oMathPara>
                </a14:m>
                <a:endParaRPr lang="ar-AE" sz="2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90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ar-AE" sz="29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ar-AE" sz="29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900">
                          <a:latin typeface="Cambria Math" panose="02040503050406030204" pitchFamily="18" charset="0"/>
                        </a:rPr>
                        <m:t>16</m:t>
                      </m:r>
                      <m:r>
                        <m:rPr>
                          <m:nor/>
                        </m:rPr>
                        <a:rPr lang="ar-AE" sz="2900" i="1"/>
                        <m:t> </m:t>
                      </m:r>
                      <m:r>
                        <m:rPr>
                          <m:nor/>
                        </m:rPr>
                        <a:rPr lang="en-IN" sz="2900" i="1"/>
                        <m:t>bits</m:t>
                      </m:r>
                    </m:oMath>
                  </m:oMathPara>
                </a14:m>
                <a:endParaRPr lang="en-IN" sz="2900" b="0" dirty="0"/>
              </a:p>
              <a:p>
                <a:pPr marL="0" indent="0">
                  <a:buNone/>
                </a:pPr>
                <a:r>
                  <a:rPr lang="en-IN" sz="2900" b="1" dirty="0"/>
                  <a:t>(b) Bits in Physical Address</a:t>
                </a:r>
              </a:p>
              <a:p>
                <a:r>
                  <a:rPr lang="en-IN" sz="2900" b="1" dirty="0"/>
                  <a:t>Step 1:</a:t>
                </a:r>
                <a:br>
                  <a:rPr lang="en-IN" sz="2900" dirty="0"/>
                </a:br>
                <a:r>
                  <a:rPr lang="en-IN" sz="2900" dirty="0"/>
                  <a:t>Physical memory size = Number of frames × Frame size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9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900">
                          <a:latin typeface="Cambria Math" panose="02040503050406030204" pitchFamily="18" charset="0"/>
                        </a:rPr>
                        <m:t>32</m:t>
                      </m:r>
                      <m:r>
                        <a:rPr lang="en-IN" sz="29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900">
                          <a:latin typeface="Cambria Math" panose="02040503050406030204" pitchFamily="18" charset="0"/>
                        </a:rPr>
                        <m:t>1024</m:t>
                      </m:r>
                      <m:r>
                        <a:rPr lang="en-IN" sz="29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900">
                          <a:latin typeface="Cambria Math" panose="02040503050406030204" pitchFamily="18" charset="0"/>
                        </a:rPr>
                        <m:t>32</m:t>
                      </m:r>
                      <m:r>
                        <a:rPr lang="en-IN" sz="29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IN" sz="2900" dirty="0"/>
              </a:p>
              <a:p>
                <a:r>
                  <a:rPr lang="en-IN" sz="2900" b="1" dirty="0"/>
                  <a:t>Step 2:</a:t>
                </a:r>
                <a:br>
                  <a:rPr lang="en-IN" sz="2900" dirty="0"/>
                </a:br>
                <a:r>
                  <a:rPr lang="en-IN" sz="2900" dirty="0"/>
                  <a:t>Let number of bits to address physical memory be </a:t>
                </a:r>
                <a:r>
                  <a:rPr lang="en-IN" sz="2900" b="1" dirty="0"/>
                  <a:t>m</a:t>
                </a:r>
                <a:endParaRPr lang="en-IN" sz="2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9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ar-AE" sz="29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ar-AE" sz="29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900">
                          <a:latin typeface="Cambria Math" panose="02040503050406030204" pitchFamily="18" charset="0"/>
                        </a:rPr>
                        <m:t>32</m:t>
                      </m:r>
                      <m:r>
                        <a:rPr lang="ar-AE" sz="29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ar-AE" sz="29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9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ar-AE" sz="290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</m:sSup>
                    </m:oMath>
                  </m:oMathPara>
                </a14:m>
                <a:endParaRPr lang="ar-AE" sz="29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90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ar-AE" sz="29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ar-AE" sz="29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900">
                          <a:latin typeface="Cambria Math" panose="02040503050406030204" pitchFamily="18" charset="0"/>
                        </a:rPr>
                        <m:t>15</m:t>
                      </m:r>
                      <m:r>
                        <m:rPr>
                          <m:nor/>
                        </m:rPr>
                        <a:rPr lang="ar-AE" sz="2900" i="1"/>
                        <m:t> </m:t>
                      </m:r>
                      <m:r>
                        <m:rPr>
                          <m:nor/>
                        </m:rPr>
                        <a:rPr lang="en-IN" sz="2900" i="1"/>
                        <m:t>bits</m:t>
                      </m:r>
                    </m:oMath>
                  </m:oMathPara>
                </a14:m>
                <a:endParaRPr lang="en-IN" sz="2900" b="0" dirty="0"/>
              </a:p>
              <a:p>
                <a:pPr marL="0" indent="0">
                  <a:buNone/>
                </a:pPr>
                <a:endParaRPr lang="en-IN" sz="2900" dirty="0"/>
              </a:p>
              <a:p>
                <a:endParaRPr lang="en-US" sz="1600" b="1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0CFCAC-2D25-0E55-6DAC-74D56E8724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73394"/>
                <a:ext cx="10515600" cy="5203569"/>
              </a:xfrm>
              <a:blipFill>
                <a:blip r:embed="rId3"/>
                <a:stretch>
                  <a:fillRect l="-348" t="-15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90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FF86B-D4F4-A517-2AA9-9DA49FC8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rmAutofit fontScale="90000"/>
          </a:bodyPr>
          <a:lstStyle/>
          <a:p>
            <a:r>
              <a:rPr lang="en-IN" sz="2400" dirty="0">
                <a:latin typeface="+mn-lt"/>
              </a:rPr>
              <a:t>                                                                 Page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DA8D6-883B-2AC9-91DC-911BB5E31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35" y="757084"/>
            <a:ext cx="10763865" cy="5419879"/>
          </a:xfrm>
        </p:spPr>
        <p:txBody>
          <a:bodyPr>
            <a:noAutofit/>
          </a:bodyPr>
          <a:lstStyle/>
          <a:p>
            <a:r>
              <a:rPr lang="en-US" sz="1600" dirty="0"/>
              <a:t>The </a:t>
            </a:r>
            <a:r>
              <a:rPr lang="en-US" sz="1600" b="1" dirty="0"/>
              <a:t>Page Table</a:t>
            </a:r>
            <a:r>
              <a:rPr lang="en-US" sz="1600" dirty="0"/>
              <a:t> is kept in </a:t>
            </a:r>
            <a:r>
              <a:rPr lang="en-US" sz="1600" b="1" dirty="0"/>
              <a:t>main memory (RAM)</a:t>
            </a:r>
            <a:r>
              <a:rPr lang="en-US" sz="1600" dirty="0"/>
              <a:t>.</a:t>
            </a:r>
          </a:p>
          <a:p>
            <a:r>
              <a:rPr lang="en-US" sz="1600" dirty="0"/>
              <a:t>Every process has its </a:t>
            </a:r>
            <a:r>
              <a:rPr lang="en-US" sz="1600" b="1" dirty="0"/>
              <a:t>own page table</a:t>
            </a:r>
            <a:r>
              <a:rPr lang="en-US" sz="1600" dirty="0"/>
              <a:t>.</a:t>
            </a:r>
          </a:p>
          <a:p>
            <a:r>
              <a:rPr lang="en-US" sz="1600" dirty="0"/>
              <a:t>The CPU needs to know </a:t>
            </a:r>
            <a:r>
              <a:rPr lang="en-US" sz="1600" b="1" dirty="0"/>
              <a:t>where the page table starts</a:t>
            </a:r>
            <a:r>
              <a:rPr lang="en-US" sz="1600" dirty="0"/>
              <a:t> — so there is a special register called:</a:t>
            </a:r>
          </a:p>
          <a:p>
            <a:pPr marL="0" indent="0">
              <a:buNone/>
            </a:pPr>
            <a:r>
              <a:rPr lang="en-US" sz="1600" b="1" dirty="0"/>
              <a:t> Page Table Base Register (PTBR)</a:t>
            </a:r>
          </a:p>
          <a:p>
            <a:r>
              <a:rPr lang="en-US" sz="1600" dirty="0"/>
              <a:t>The </a:t>
            </a:r>
            <a:r>
              <a:rPr lang="en-US" sz="1600" b="1" dirty="0"/>
              <a:t>PTBR</a:t>
            </a:r>
            <a:r>
              <a:rPr lang="en-US" sz="1600" dirty="0"/>
              <a:t> stores the </a:t>
            </a:r>
            <a:r>
              <a:rPr lang="en-US" sz="1600" b="1" dirty="0"/>
              <a:t>starting address (base address)</a:t>
            </a:r>
            <a:r>
              <a:rPr lang="en-US" sz="1600" dirty="0"/>
              <a:t> of the page table in memory.</a:t>
            </a:r>
          </a:p>
          <a:p>
            <a:r>
              <a:rPr lang="en-US" sz="1600" dirty="0"/>
              <a:t>Whenever the CPU generates a logical address, it uses the </a:t>
            </a:r>
            <a:r>
              <a:rPr lang="en-US" sz="1600" b="1" dirty="0"/>
              <a:t>PTBR</a:t>
            </a:r>
            <a:r>
              <a:rPr lang="en-US" sz="1600" dirty="0"/>
              <a:t> to find the correct page table and look up the </a:t>
            </a:r>
            <a:r>
              <a:rPr lang="en-US" sz="1600" b="1" dirty="0"/>
              <a:t>frame number</a:t>
            </a:r>
            <a:r>
              <a:rPr lang="en-US" sz="1600" dirty="0"/>
              <a:t>.</a:t>
            </a:r>
          </a:p>
          <a:p>
            <a:r>
              <a:rPr lang="en-US" sz="1600" b="1" dirty="0"/>
              <a:t>The Performance Issue: "Two Memory Accesses"</a:t>
            </a:r>
            <a:endParaRPr lang="en-US" sz="1600" dirty="0"/>
          </a:p>
          <a:p>
            <a:r>
              <a:rPr lang="en-US" sz="1600" dirty="0"/>
              <a:t>The CPU generates a </a:t>
            </a:r>
            <a:r>
              <a:rPr lang="en-US" sz="1600" b="1" dirty="0"/>
              <a:t>logical address</a:t>
            </a:r>
            <a:r>
              <a:rPr lang="en-US" sz="1600" dirty="0"/>
              <a:t> (page number + offset).</a:t>
            </a:r>
          </a:p>
          <a:p>
            <a:r>
              <a:rPr lang="en-US" sz="1600" dirty="0"/>
              <a:t>It must first </a:t>
            </a:r>
            <a:r>
              <a:rPr lang="en-US" sz="1600" b="1" dirty="0"/>
              <a:t>access the page table</a:t>
            </a:r>
            <a:r>
              <a:rPr lang="en-US" sz="1600" dirty="0"/>
              <a:t> in memory (using PTBR) to find the </a:t>
            </a:r>
            <a:r>
              <a:rPr lang="en-US" sz="1600" b="1" dirty="0"/>
              <a:t>frame number</a:t>
            </a:r>
            <a:r>
              <a:rPr lang="en-US" sz="1600" dirty="0"/>
              <a:t>.</a:t>
            </a:r>
          </a:p>
          <a:p>
            <a:r>
              <a:rPr lang="en-US" sz="1600" dirty="0"/>
              <a:t>Then, it </a:t>
            </a:r>
            <a:r>
              <a:rPr lang="en-US" sz="1600" b="1" dirty="0"/>
              <a:t>accesses the actual data</a:t>
            </a:r>
            <a:r>
              <a:rPr lang="en-US" sz="1600" dirty="0"/>
              <a:t> in physical memory using that frame number.</a:t>
            </a:r>
          </a:p>
          <a:p>
            <a:r>
              <a:rPr lang="en-US" sz="1600" dirty="0"/>
              <a:t>That means:</a:t>
            </a:r>
          </a:p>
          <a:p>
            <a:r>
              <a:rPr lang="en-US" sz="1600" dirty="0"/>
              <a:t>🔹 One memory access for the page table</a:t>
            </a:r>
            <a:br>
              <a:rPr lang="en-US" sz="1600" dirty="0"/>
            </a:br>
            <a:r>
              <a:rPr lang="en-US" sz="1600" dirty="0"/>
              <a:t>🔹 One memory access for the actual data</a:t>
            </a:r>
          </a:p>
          <a:p>
            <a:r>
              <a:rPr lang="en-US" sz="1600" dirty="0"/>
              <a:t>So total = </a:t>
            </a:r>
            <a:r>
              <a:rPr lang="en-US" sz="1600" b="1" dirty="0"/>
              <a:t>2 memory accesses</a:t>
            </a:r>
            <a:r>
              <a:rPr lang="en-US" sz="1600" dirty="0"/>
              <a:t> per instruction.</a:t>
            </a:r>
          </a:p>
          <a:p>
            <a:r>
              <a:rPr lang="en-US" sz="1600" dirty="0"/>
              <a:t>❌ This makes memory access </a:t>
            </a:r>
            <a:r>
              <a:rPr lang="en-US" sz="1600" b="1" dirty="0"/>
              <a:t>slower</a:t>
            </a:r>
            <a:r>
              <a:rPr lang="en-US" sz="1600" dirty="0"/>
              <a:t> — because everything takes </a:t>
            </a:r>
            <a:r>
              <a:rPr lang="en-US" sz="1600" i="1" dirty="0"/>
              <a:t>twice as long</a:t>
            </a:r>
            <a:r>
              <a:rPr lang="en-US" sz="1600" dirty="0"/>
              <a:t>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12440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A74DE-BB01-CD52-6D6F-56796CC3B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Solution: Use a Translation Lookaside Buffer (TLB)</a:t>
            </a:r>
            <a:br>
              <a:rPr lang="en-US" sz="2400" b="1" dirty="0"/>
            </a:br>
            <a:r>
              <a:rPr lang="en-US" sz="2400" dirty="0"/>
              <a:t>A </a:t>
            </a:r>
            <a:r>
              <a:rPr lang="en-US" sz="2400" b="1" dirty="0"/>
              <a:t>TLB</a:t>
            </a:r>
            <a:r>
              <a:rPr lang="en-US" sz="2400" dirty="0"/>
              <a:t> is a special </a:t>
            </a:r>
            <a:r>
              <a:rPr lang="en-US" sz="2400" b="1" dirty="0"/>
              <a:t>cache</a:t>
            </a:r>
            <a:r>
              <a:rPr lang="en-US" sz="2400" dirty="0"/>
              <a:t> (high-speed memory) inside the CPU that stores </a:t>
            </a:r>
            <a:r>
              <a:rPr lang="en-US" sz="2400" b="1" dirty="0"/>
              <a:t>recently used page table entries</a:t>
            </a:r>
            <a:r>
              <a:rPr lang="en-US" sz="2400" dirty="0"/>
              <a:t>.</a:t>
            </a:r>
            <a:br>
              <a:rPr lang="en-US" sz="2400" dirty="0"/>
            </a:b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8A716-B28C-1BD8-2448-9C05505A2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How It Works:</a:t>
            </a:r>
          </a:p>
          <a:p>
            <a:r>
              <a:rPr lang="en-US" sz="2000" dirty="0"/>
              <a:t>When the CPU generates a logical address:</a:t>
            </a:r>
          </a:p>
          <a:p>
            <a:pPr lvl="1"/>
            <a:r>
              <a:rPr lang="en-US" sz="2000" dirty="0"/>
              <a:t>It first checks the </a:t>
            </a:r>
            <a:r>
              <a:rPr lang="en-US" sz="2000" b="1" dirty="0"/>
              <a:t>TLB</a:t>
            </a:r>
            <a:r>
              <a:rPr lang="en-US" sz="2000" dirty="0"/>
              <a:t> to see if the page number is already there.</a:t>
            </a:r>
          </a:p>
          <a:p>
            <a:r>
              <a:rPr lang="en-US" sz="2000" dirty="0"/>
              <a:t>If </a:t>
            </a:r>
            <a:r>
              <a:rPr lang="en-US" sz="2000" b="1" dirty="0"/>
              <a:t>found (TLB hit)</a:t>
            </a:r>
            <a:r>
              <a:rPr lang="en-US" sz="2000" dirty="0"/>
              <a:t> →</a:t>
            </a:r>
          </a:p>
          <a:p>
            <a:pPr lvl="1"/>
            <a:r>
              <a:rPr lang="en-US" sz="2000" dirty="0"/>
              <a:t>The corresponding frame number is fetched </a:t>
            </a:r>
            <a:r>
              <a:rPr lang="en-US" sz="2000" b="1" dirty="0"/>
              <a:t>instantly</a:t>
            </a:r>
            <a:r>
              <a:rPr lang="en-US" sz="2000" dirty="0"/>
              <a:t> from the TLB.</a:t>
            </a:r>
          </a:p>
          <a:p>
            <a:pPr lvl="1"/>
            <a:r>
              <a:rPr lang="en-US" sz="2000" dirty="0"/>
              <a:t>Only </a:t>
            </a:r>
            <a:r>
              <a:rPr lang="en-US" sz="2000" b="1" dirty="0"/>
              <a:t>1 memory access</a:t>
            </a:r>
            <a:r>
              <a:rPr lang="en-US" sz="2000" dirty="0"/>
              <a:t> is needed (for the data).</a:t>
            </a:r>
          </a:p>
          <a:p>
            <a:r>
              <a:rPr lang="en-US" sz="2000" dirty="0"/>
              <a:t>If </a:t>
            </a:r>
            <a:r>
              <a:rPr lang="en-US" sz="2000" b="1" dirty="0"/>
              <a:t>not found (TLB miss)</a:t>
            </a:r>
            <a:r>
              <a:rPr lang="en-US" sz="2000" dirty="0"/>
              <a:t> →</a:t>
            </a:r>
          </a:p>
          <a:p>
            <a:pPr lvl="1"/>
            <a:r>
              <a:rPr lang="en-US" sz="2000" dirty="0"/>
              <a:t>The CPU accesses the </a:t>
            </a:r>
            <a:r>
              <a:rPr lang="en-US" sz="2000" b="1" dirty="0"/>
              <a:t>page table</a:t>
            </a:r>
            <a:r>
              <a:rPr lang="en-US" sz="2000" dirty="0"/>
              <a:t> in main memory (2 memory accesses).</a:t>
            </a:r>
          </a:p>
          <a:p>
            <a:pPr lvl="1"/>
            <a:r>
              <a:rPr lang="en-US" sz="2000" dirty="0"/>
              <a:t>Then it </a:t>
            </a:r>
            <a:r>
              <a:rPr lang="en-US" sz="2000" b="1" dirty="0"/>
              <a:t>adds</a:t>
            </a:r>
            <a:r>
              <a:rPr lang="en-US" sz="2000" dirty="0"/>
              <a:t> that entry to the TLB for future use.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00091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Box 5">
            <a:extLst>
              <a:ext uri="{FF2B5EF4-FFF2-40B4-BE49-F238E27FC236}">
                <a16:creationId xmlns:a16="http://schemas.microsoft.com/office/drawing/2014/main" id="{D268E051-FA91-C2CF-1CEE-7EC208EB4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609600"/>
            <a:ext cx="822960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Question 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:In a paged memory, the page hit ratio is 0.35. The time required to access a page in secondary memory is equal to 100 ns. The time required to access a page in primary memory is 10 ns. The average time required to access a page is?</a:t>
            </a: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a) 3.0 ns</a:t>
            </a: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b) 68.0 ns</a:t>
            </a: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c) 68.5 ns</a:t>
            </a:r>
            <a:b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d) 78.5 ns</a:t>
            </a:r>
          </a:p>
          <a:p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Solution: Page hit ratio: 0.35</a:t>
            </a:r>
          </a:p>
          <a:p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Page Miss :1-0.35 =0.65</a:t>
            </a:r>
          </a:p>
          <a:p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Secondary memory access time= 100ns</a:t>
            </a:r>
          </a:p>
          <a:p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Primary memory access time =10ns</a:t>
            </a:r>
          </a:p>
          <a:p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Average time to access page=</a:t>
            </a:r>
            <a:r>
              <a:rPr lang="en-US" altLang="en-US" sz="2000" dirty="0"/>
              <a:t>(Hit </a:t>
            </a:r>
            <a:r>
              <a:rPr lang="en-US" altLang="en-US" sz="2000" dirty="0" err="1"/>
              <a:t>ratio×Primary</a:t>
            </a:r>
            <a:r>
              <a:rPr lang="en-US" altLang="en-US" sz="2000" dirty="0"/>
              <a:t> access time)+(Miss ratio×(</a:t>
            </a:r>
            <a:r>
              <a:rPr lang="en-US" altLang="en-US" sz="2000" dirty="0" err="1"/>
              <a:t>Primary+Secondary</a:t>
            </a:r>
            <a:r>
              <a:rPr lang="en-US" altLang="en-US" sz="2000" dirty="0"/>
              <a:t> access time))</a:t>
            </a:r>
          </a:p>
          <a:p>
            <a:r>
              <a:rPr lang="en-I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(0.35×10)+(0.65×(10+100))=75.0 ns (close to 78.5ns)</a:t>
            </a:r>
          </a:p>
          <a:p>
            <a:endParaRPr lang="en-I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altLang="en-US" sz="2000" dirty="0"/>
              <a:t>Because on a miss, you must first access the secondary memory and then bring it to primary memory.</a:t>
            </a:r>
            <a:endParaRPr lang="en-I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alt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7546-AB40-D61C-8358-4DABE8F88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1791"/>
          </a:xfrm>
        </p:spPr>
        <p:txBody>
          <a:bodyPr>
            <a:normAutofit fontScale="90000"/>
          </a:bodyPr>
          <a:lstStyle/>
          <a:p>
            <a:r>
              <a:rPr lang="en-IN" sz="2400" dirty="0">
                <a:latin typeface="+mn-lt"/>
              </a:rPr>
              <a:t>                                                      </a:t>
            </a:r>
            <a:r>
              <a:rPr lang="en-IN" sz="3600" dirty="0">
                <a:latin typeface="+mn-lt"/>
              </a:rPr>
              <a:t>VIRTUAL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33A2D-A98E-C60E-8339-9BE85354A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5239"/>
            <a:ext cx="10515600" cy="5311724"/>
          </a:xfrm>
        </p:spPr>
        <p:txBody>
          <a:bodyPr>
            <a:normAutofit/>
          </a:bodyPr>
          <a:lstStyle/>
          <a:p>
            <a:r>
              <a:rPr lang="en-US" sz="1800" b="1" dirty="0"/>
              <a:t>Virtual Memory</a:t>
            </a:r>
            <a:r>
              <a:rPr lang="en-US" sz="1800" dirty="0"/>
              <a:t> is a memory management technique that gives an </a:t>
            </a:r>
            <a:r>
              <a:rPr lang="en-US" sz="1800" b="1" dirty="0"/>
              <a:t>illusion of a very large main memory (RAM)</a:t>
            </a:r>
            <a:r>
              <a:rPr lang="en-US" sz="1800" dirty="0"/>
              <a:t> by temporarily using a part of the </a:t>
            </a:r>
            <a:r>
              <a:rPr lang="en-US" sz="1800" b="1" dirty="0"/>
              <a:t>hard disk</a:t>
            </a:r>
            <a:r>
              <a:rPr lang="en-US" sz="1800" dirty="0"/>
              <a:t> as an extension of RAM.</a:t>
            </a:r>
          </a:p>
          <a:p>
            <a:r>
              <a:rPr lang="en-US" sz="1800" dirty="0"/>
              <a:t>It allows programs that are </a:t>
            </a:r>
            <a:r>
              <a:rPr lang="en-US" sz="1800" b="1" dirty="0"/>
              <a:t>larger than physical memory</a:t>
            </a:r>
            <a:r>
              <a:rPr lang="en-US" sz="1800" dirty="0"/>
              <a:t> to execute efficiently.</a:t>
            </a:r>
          </a:p>
          <a:p>
            <a:pPr marL="0" indent="0">
              <a:buNone/>
            </a:pPr>
            <a:r>
              <a:rPr lang="en-US" sz="1800" b="1" dirty="0"/>
              <a:t>How It Works</a:t>
            </a:r>
          </a:p>
          <a:p>
            <a:r>
              <a:rPr lang="en-US" sz="1800" dirty="0"/>
              <a:t>When a process is executed, it is divided into </a:t>
            </a:r>
            <a:r>
              <a:rPr lang="en-US" sz="1800" b="1" dirty="0"/>
              <a:t>pages</a:t>
            </a:r>
            <a:r>
              <a:rPr lang="en-US" sz="1800" dirty="0"/>
              <a:t>.</a:t>
            </a:r>
          </a:p>
          <a:p>
            <a:r>
              <a:rPr lang="en-US" sz="1800" dirty="0"/>
              <a:t>Only a few of these pages are </a:t>
            </a:r>
            <a:r>
              <a:rPr lang="en-US" sz="1800" b="1" dirty="0"/>
              <a:t>kept in RAM</a:t>
            </a:r>
            <a:r>
              <a:rPr lang="en-US" sz="1800" dirty="0"/>
              <a:t> at a time.</a:t>
            </a:r>
          </a:p>
          <a:p>
            <a:r>
              <a:rPr lang="en-US" sz="1800" dirty="0"/>
              <a:t>The </a:t>
            </a:r>
            <a:r>
              <a:rPr lang="en-US" sz="1800" b="1" dirty="0"/>
              <a:t>rest of the pages</a:t>
            </a:r>
            <a:r>
              <a:rPr lang="en-US" sz="1800" dirty="0"/>
              <a:t> are kept on the </a:t>
            </a:r>
            <a:r>
              <a:rPr lang="en-US" sz="1800" b="1" dirty="0"/>
              <a:t>hard disk (secondary storage)</a:t>
            </a:r>
            <a:r>
              <a:rPr lang="en-US" sz="1800" dirty="0"/>
              <a:t> in a space called the </a:t>
            </a:r>
            <a:r>
              <a:rPr lang="en-US" sz="1800" b="1" dirty="0"/>
              <a:t>swap area</a:t>
            </a:r>
            <a:r>
              <a:rPr lang="en-US" sz="1800" dirty="0"/>
              <a:t> or </a:t>
            </a:r>
            <a:r>
              <a:rPr lang="en-US" sz="1800" b="1" dirty="0"/>
              <a:t>page file</a:t>
            </a:r>
            <a:r>
              <a:rPr lang="en-US" sz="1800" dirty="0"/>
              <a:t>.</a:t>
            </a:r>
          </a:p>
          <a:p>
            <a:r>
              <a:rPr lang="en-US" sz="1800" dirty="0"/>
              <a:t>When the CPU needs a page that’s not in memory, a </a:t>
            </a:r>
            <a:r>
              <a:rPr lang="en-US" sz="1800" b="1" dirty="0"/>
              <a:t>page fault</a:t>
            </a:r>
            <a:r>
              <a:rPr lang="en-US" sz="1800" dirty="0"/>
              <a:t> occurs:</a:t>
            </a:r>
          </a:p>
          <a:p>
            <a:pPr lvl="1"/>
            <a:r>
              <a:rPr lang="en-US" sz="1800" dirty="0"/>
              <a:t>The OS </a:t>
            </a:r>
            <a:r>
              <a:rPr lang="en-US" sz="1800" b="1" dirty="0"/>
              <a:t>swaps out</a:t>
            </a:r>
            <a:r>
              <a:rPr lang="en-US" sz="1800" dirty="0"/>
              <a:t> an unused page from RAM (if necessary),</a:t>
            </a:r>
          </a:p>
          <a:p>
            <a:pPr lvl="1"/>
            <a:r>
              <a:rPr lang="en-US" sz="1800" dirty="0"/>
              <a:t>And </a:t>
            </a:r>
            <a:r>
              <a:rPr lang="en-US" sz="1800" b="1" dirty="0"/>
              <a:t>loads the required page</a:t>
            </a:r>
            <a:r>
              <a:rPr lang="en-US" sz="1800" dirty="0"/>
              <a:t> from disk into RAM.</a:t>
            </a:r>
          </a:p>
          <a:p>
            <a:r>
              <a:rPr lang="en-US" sz="1800" dirty="0"/>
              <a:t>This process is called </a:t>
            </a:r>
            <a:r>
              <a:rPr lang="en-US" sz="1800" b="1" dirty="0"/>
              <a:t>paging in and paging out</a:t>
            </a:r>
            <a:r>
              <a:rPr lang="en-US" sz="1800" dirty="0"/>
              <a:t>.</a:t>
            </a:r>
          </a:p>
          <a:p>
            <a:pPr marL="168275" indent="-168275" algn="just">
              <a:spcBef>
                <a:spcPts val="750"/>
              </a:spcBef>
              <a:buClr>
                <a:srgbClr val="000000"/>
              </a:buClr>
              <a:buSzPct val="100000"/>
              <a:buFont typeface="Arial" charset="0"/>
              <a:buChar char="•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1800" dirty="0">
                <a:solidFill>
                  <a:srgbClr val="000000"/>
                </a:solidFill>
              </a:rPr>
              <a:t>Less I/O would be needed to load or swap each user program into memory, Virtual memory can be implemented via:</a:t>
            </a:r>
          </a:p>
          <a:p>
            <a:pPr marL="511175" lvl="1" indent="-169863" algn="just">
              <a:spcBef>
                <a:spcPts val="375"/>
              </a:spcBef>
              <a:buClr>
                <a:srgbClr val="000000"/>
              </a:buClr>
              <a:buSzPct val="100000"/>
              <a:buFont typeface="Arial" charset="0"/>
              <a:buChar char="•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1800" dirty="0">
                <a:solidFill>
                  <a:srgbClr val="000000"/>
                </a:solidFill>
              </a:rPr>
              <a:t>Demand paging </a:t>
            </a:r>
          </a:p>
          <a:p>
            <a:endParaRPr lang="en-US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857379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>
            <a:extLst>
              <a:ext uri="{FF2B5EF4-FFF2-40B4-BE49-F238E27FC236}">
                <a16:creationId xmlns:a16="http://schemas.microsoft.com/office/drawing/2014/main" id="{EE11491F-0140-5A3B-A5E1-AEB39176B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650" y="365126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en-US" sz="3300">
                <a:solidFill>
                  <a:srgbClr val="000000"/>
                </a:solidFill>
                <a:latin typeface="Calibri Light" panose="020F0302020204030204" pitchFamily="34" charset="0"/>
              </a:rPr>
              <a:t>Demand Paging</a:t>
            </a:r>
          </a:p>
        </p:txBody>
      </p:sp>
      <p:sp>
        <p:nvSpPr>
          <p:cNvPr id="9218" name="Text Box 2">
            <a:extLst>
              <a:ext uri="{FF2B5EF4-FFF2-40B4-BE49-F238E27FC236}">
                <a16:creationId xmlns:a16="http://schemas.microsoft.com/office/drawing/2014/main" id="{96F1952C-5252-2C1A-D5B4-46A896FE1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650" y="1825625"/>
            <a:ext cx="7886700" cy="4351338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168275" indent="-1682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Arial" charset="0"/>
              <a:buChar char="•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latin typeface="Calibri" pitchFamily="32" charset="0"/>
              </a:rPr>
              <a:t>Bring a page into memory only when it is needed</a:t>
            </a:r>
          </a:p>
          <a:p>
            <a:pPr marL="511175" lvl="1" indent="-169863">
              <a:lnSpc>
                <a:spcPct val="90000"/>
              </a:lnSpc>
              <a:spcBef>
                <a:spcPts val="375"/>
              </a:spcBef>
              <a:buClr>
                <a:srgbClr val="000000"/>
              </a:buClr>
              <a:buSzPct val="100000"/>
              <a:buFont typeface="Arial" charset="0"/>
              <a:buChar char="•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latin typeface="Calibri" pitchFamily="32" charset="0"/>
              </a:rPr>
              <a:t>Less I/O needed</a:t>
            </a:r>
          </a:p>
          <a:p>
            <a:pPr marL="511175" lvl="1" indent="-169863">
              <a:lnSpc>
                <a:spcPct val="90000"/>
              </a:lnSpc>
              <a:spcBef>
                <a:spcPts val="375"/>
              </a:spcBef>
              <a:buClr>
                <a:srgbClr val="000000"/>
              </a:buClr>
              <a:buSzPct val="100000"/>
              <a:buFont typeface="Arial" charset="0"/>
              <a:buChar char="•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latin typeface="Calibri" pitchFamily="32" charset="0"/>
              </a:rPr>
              <a:t>Less memory needed </a:t>
            </a:r>
          </a:p>
          <a:p>
            <a:pPr marL="511175" lvl="1" indent="-169863">
              <a:lnSpc>
                <a:spcPct val="90000"/>
              </a:lnSpc>
              <a:spcBef>
                <a:spcPts val="375"/>
              </a:spcBef>
              <a:buClr>
                <a:srgbClr val="000000"/>
              </a:buClr>
              <a:buSzPct val="100000"/>
              <a:buFont typeface="Arial" charset="0"/>
              <a:buChar char="•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latin typeface="Calibri" pitchFamily="32" charset="0"/>
              </a:rPr>
              <a:t>Faster response</a:t>
            </a:r>
          </a:p>
          <a:p>
            <a:pPr marL="511175" lvl="1" indent="-169863">
              <a:lnSpc>
                <a:spcPct val="90000"/>
              </a:lnSpc>
              <a:spcBef>
                <a:spcPts val="375"/>
              </a:spcBef>
              <a:buClr>
                <a:srgbClr val="000000"/>
              </a:buClr>
              <a:buSzPct val="100000"/>
              <a:buFont typeface="Arial" charset="0"/>
              <a:buChar char="•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latin typeface="Calibri" pitchFamily="32" charset="0"/>
              </a:rPr>
              <a:t>More users</a:t>
            </a:r>
            <a:br>
              <a:rPr lang="en-US" sz="2400" dirty="0">
                <a:solidFill>
                  <a:srgbClr val="000000"/>
                </a:solidFill>
                <a:latin typeface="Calibri" pitchFamily="32" charset="0"/>
              </a:rPr>
            </a:br>
            <a:endParaRPr lang="en-US" sz="2400" dirty="0">
              <a:solidFill>
                <a:srgbClr val="000000"/>
              </a:solidFill>
              <a:latin typeface="Calibri" pitchFamily="32" charset="0"/>
            </a:endParaRPr>
          </a:p>
          <a:p>
            <a:pPr marL="168275" indent="-1682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Arial" charset="0"/>
              <a:buChar char="•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latin typeface="Calibri" pitchFamily="32" charset="0"/>
              </a:rPr>
              <a:t>Page is needed </a:t>
            </a:r>
            <a:r>
              <a:rPr lang="en-US" sz="2400" dirty="0">
                <a:solidFill>
                  <a:srgbClr val="000000"/>
                </a:solidFill>
                <a:latin typeface="Symbol" pitchFamily="16" charset="2"/>
                <a:ea typeface="Symbol" pitchFamily="16" charset="2"/>
                <a:cs typeface="Symbol" pitchFamily="16" charset="2"/>
              </a:rPr>
              <a:t></a:t>
            </a:r>
            <a:r>
              <a:rPr lang="en-US" sz="2400" dirty="0">
                <a:solidFill>
                  <a:srgbClr val="000000"/>
                </a:solidFill>
                <a:latin typeface="Calibri" pitchFamily="32" charset="0"/>
              </a:rPr>
              <a:t> reference to it</a:t>
            </a:r>
          </a:p>
          <a:p>
            <a:pPr marL="511175" lvl="1" indent="-169863">
              <a:lnSpc>
                <a:spcPct val="90000"/>
              </a:lnSpc>
              <a:spcBef>
                <a:spcPts val="375"/>
              </a:spcBef>
              <a:buClr>
                <a:srgbClr val="000000"/>
              </a:buClr>
              <a:buSzPct val="100000"/>
              <a:buFont typeface="Arial" charset="0"/>
              <a:buChar char="•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2400" dirty="0">
                <a:solidFill>
                  <a:srgbClr val="000000"/>
                </a:solidFill>
                <a:latin typeface="Calibri" pitchFamily="32" charset="0"/>
              </a:rPr>
              <a:t>not-in-memory </a:t>
            </a:r>
            <a:r>
              <a:rPr lang="en-US" sz="2400" dirty="0">
                <a:solidFill>
                  <a:srgbClr val="000000"/>
                </a:solidFill>
                <a:latin typeface="Symbol" pitchFamily="16" charset="2"/>
                <a:ea typeface="Symbol" pitchFamily="16" charset="2"/>
                <a:cs typeface="Symbol" pitchFamily="16" charset="2"/>
              </a:rPr>
              <a:t></a:t>
            </a:r>
            <a:r>
              <a:rPr lang="en-US" sz="2400" dirty="0">
                <a:solidFill>
                  <a:srgbClr val="000000"/>
                </a:solidFill>
                <a:latin typeface="Calibri" pitchFamily="32" charset="0"/>
              </a:rPr>
              <a:t> bring to memory</a:t>
            </a:r>
          </a:p>
          <a:p>
            <a:pPr marL="514350" lvl="1" indent="-168275">
              <a:lnSpc>
                <a:spcPct val="90000"/>
              </a:lnSpc>
              <a:spcBef>
                <a:spcPts val="375"/>
              </a:spcBef>
              <a:buSzPct val="100000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endParaRPr lang="en-US" sz="2400" b="1" dirty="0">
              <a:solidFill>
                <a:srgbClr val="3366FF"/>
              </a:solidFill>
              <a:latin typeface="Calibri" pitchFamily="32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">
            <a:extLst>
              <a:ext uri="{FF2B5EF4-FFF2-40B4-BE49-F238E27FC236}">
                <a16:creationId xmlns:a16="http://schemas.microsoft.com/office/drawing/2014/main" id="{626AFDBA-93DB-2665-7901-9775E3B37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650" y="365126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en-US" sz="3300">
                <a:solidFill>
                  <a:srgbClr val="000000"/>
                </a:solidFill>
                <a:latin typeface="Calibri Light" panose="020F0302020204030204" pitchFamily="34" charset="0"/>
              </a:rPr>
              <a:t>Valid-Invalid Bit</a:t>
            </a:r>
          </a:p>
        </p:txBody>
      </p:sp>
      <p:sp>
        <p:nvSpPr>
          <p:cNvPr id="10242" name="Text Box 2">
            <a:extLst>
              <a:ext uri="{FF2B5EF4-FFF2-40B4-BE49-F238E27FC236}">
                <a16:creationId xmlns:a16="http://schemas.microsoft.com/office/drawing/2014/main" id="{33DCD02D-3FF5-1912-F6D9-CA6DE4632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850" y="1282700"/>
            <a:ext cx="7245350" cy="571500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168275" indent="-1682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Arial" charset="0"/>
              <a:buChar char="•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>
                <a:solidFill>
                  <a:srgbClr val="000000"/>
                </a:solidFill>
                <a:latin typeface="Calibri" pitchFamily="32" charset="0"/>
              </a:rPr>
              <a:t>With each page table entry a valid–invalid bit is associated</a:t>
            </a: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r>
              <a:rPr lang="en-US">
                <a:solidFill>
                  <a:srgbClr val="000000"/>
                </a:solidFill>
                <a:latin typeface="Calibri" pitchFamily="32" charset="0"/>
              </a:rPr>
              <a:t>(</a:t>
            </a:r>
            <a:r>
              <a:rPr lang="en-US" b="1">
                <a:solidFill>
                  <a:srgbClr val="FF0000"/>
                </a:solidFill>
                <a:latin typeface="Calibri" pitchFamily="32" charset="0"/>
              </a:rPr>
              <a:t>v</a:t>
            </a:r>
            <a:r>
              <a:rPr lang="en-US">
                <a:solidFill>
                  <a:srgbClr val="000000"/>
                </a:solidFill>
                <a:latin typeface="Calibri" pitchFamily="32" charset="0"/>
              </a:rPr>
              <a:t> </a:t>
            </a:r>
            <a:r>
              <a:rPr lang="en-US">
                <a:solidFill>
                  <a:srgbClr val="000000"/>
                </a:solidFill>
                <a:latin typeface="Symbol" pitchFamily="16" charset="2"/>
                <a:ea typeface="Symbol" pitchFamily="16" charset="2"/>
                <a:cs typeface="Symbol" pitchFamily="16" charset="2"/>
              </a:rPr>
              <a:t></a:t>
            </a:r>
            <a:r>
              <a:rPr lang="en-US">
                <a:solidFill>
                  <a:srgbClr val="000000"/>
                </a:solidFill>
                <a:latin typeface="Calibri" pitchFamily="32" charset="0"/>
              </a:rPr>
              <a:t> in-memory,</a:t>
            </a:r>
            <a:r>
              <a:rPr lang="en-US">
                <a:solidFill>
                  <a:srgbClr val="FF0000"/>
                </a:solidFill>
                <a:latin typeface="Calibri" pitchFamily="32" charset="0"/>
              </a:rPr>
              <a:t> </a:t>
            </a:r>
            <a:r>
              <a:rPr lang="en-US" b="1">
                <a:solidFill>
                  <a:srgbClr val="FF0000"/>
                </a:solidFill>
                <a:latin typeface="Calibri" pitchFamily="32" charset="0"/>
              </a:rPr>
              <a:t>i</a:t>
            </a:r>
            <a:r>
              <a:rPr lang="en-US">
                <a:solidFill>
                  <a:srgbClr val="000000"/>
                </a:solidFill>
                <a:latin typeface="Calibri" pitchFamily="32" charset="0"/>
              </a:rPr>
              <a:t> </a:t>
            </a:r>
            <a:r>
              <a:rPr lang="en-US">
                <a:solidFill>
                  <a:srgbClr val="000000"/>
                </a:solidFill>
                <a:latin typeface="Symbol" pitchFamily="16" charset="2"/>
                <a:ea typeface="Symbol" pitchFamily="16" charset="2"/>
                <a:cs typeface="Symbol" pitchFamily="16" charset="2"/>
              </a:rPr>
              <a:t></a:t>
            </a:r>
            <a:r>
              <a:rPr lang="en-US">
                <a:solidFill>
                  <a:srgbClr val="000000"/>
                </a:solidFill>
                <a:latin typeface="Calibri" pitchFamily="32" charset="0"/>
              </a:rPr>
              <a:t> not-in-memory)</a:t>
            </a:r>
          </a:p>
          <a:p>
            <a:pPr marL="168275" indent="-1682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Arial" charset="0"/>
              <a:buChar char="•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>
                <a:solidFill>
                  <a:srgbClr val="000000"/>
                </a:solidFill>
                <a:latin typeface="Calibri" pitchFamily="32" charset="0"/>
              </a:rPr>
              <a:t>Initially valid–invalid bit is set to</a:t>
            </a:r>
            <a:r>
              <a:rPr lang="en-US" b="1">
                <a:solidFill>
                  <a:srgbClr val="FF0000"/>
                </a:solidFill>
                <a:latin typeface="Calibri" pitchFamily="32" charset="0"/>
              </a:rPr>
              <a:t> i </a:t>
            </a:r>
            <a:r>
              <a:rPr lang="en-US">
                <a:solidFill>
                  <a:srgbClr val="000000"/>
                </a:solidFill>
                <a:latin typeface="Calibri" pitchFamily="32" charset="0"/>
              </a:rPr>
              <a:t>on all entries</a:t>
            </a:r>
          </a:p>
          <a:p>
            <a:pPr marL="168275" indent="-1682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Arial" charset="0"/>
              <a:buChar char="•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>
                <a:solidFill>
                  <a:srgbClr val="000000"/>
                </a:solidFill>
                <a:latin typeface="Calibri" pitchFamily="32" charset="0"/>
              </a:rPr>
              <a:t>Example of a page table snapshot:</a:t>
            </a: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br>
              <a:rPr lang="en-US">
                <a:solidFill>
                  <a:srgbClr val="000000"/>
                </a:solidFill>
                <a:latin typeface="Calibri" pitchFamily="32" charset="0"/>
              </a:rPr>
            </a:br>
            <a:r>
              <a:rPr lang="en-US">
                <a:solidFill>
                  <a:srgbClr val="000000"/>
                </a:solidFill>
                <a:latin typeface="Calibri" pitchFamily="32" charset="0"/>
              </a:rPr>
              <a:t>During address translation, if valid–invalid bit in page table entry</a:t>
            </a:r>
          </a:p>
          <a:p>
            <a:pPr marL="171450" indent="-168275">
              <a:lnSpc>
                <a:spcPct val="90000"/>
              </a:lnSpc>
              <a:spcBef>
                <a:spcPts val="750"/>
              </a:spcBef>
              <a:buSzPct val="100000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>
                <a:solidFill>
                  <a:srgbClr val="000000"/>
                </a:solidFill>
                <a:latin typeface="Calibri" pitchFamily="32" charset="0"/>
              </a:rPr>
              <a:t>      is</a:t>
            </a:r>
            <a:r>
              <a:rPr lang="en-US" b="1">
                <a:solidFill>
                  <a:srgbClr val="FF0000"/>
                </a:solidFill>
                <a:latin typeface="Calibri" pitchFamily="32" charset="0"/>
              </a:rPr>
              <a:t> I</a:t>
            </a:r>
            <a:r>
              <a:rPr lang="en-US">
                <a:solidFill>
                  <a:srgbClr val="000000"/>
                </a:solidFill>
                <a:latin typeface="Calibri" pitchFamily="32" charset="0"/>
              </a:rPr>
              <a:t> </a:t>
            </a:r>
            <a:r>
              <a:rPr lang="en-US">
                <a:solidFill>
                  <a:srgbClr val="000000"/>
                </a:solidFill>
                <a:latin typeface="Symbol" pitchFamily="16" charset="2"/>
                <a:ea typeface="Symbol" pitchFamily="16" charset="2"/>
                <a:cs typeface="Symbol" pitchFamily="16" charset="2"/>
              </a:rPr>
              <a:t></a:t>
            </a:r>
            <a:r>
              <a:rPr lang="en-US">
                <a:solidFill>
                  <a:srgbClr val="000000"/>
                </a:solidFill>
                <a:latin typeface="Calibri" pitchFamily="32" charset="0"/>
              </a:rPr>
              <a:t> page fault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BE89F9D-14CA-8661-9FCC-8A5B497B6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5163" y="2867025"/>
            <a:ext cx="1878012" cy="2667000"/>
          </a:xfrm>
          <a:prstGeom prst="rect">
            <a:avLst/>
          </a:prstGeom>
          <a:solidFill>
            <a:srgbClr val="FFFFFF"/>
          </a:solidFill>
          <a:ln w="57240" cap="sq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6389" name="Line 4">
            <a:extLst>
              <a:ext uri="{FF2B5EF4-FFF2-40B4-BE49-F238E27FC236}">
                <a16:creationId xmlns:a16="http://schemas.microsoft.com/office/drawing/2014/main" id="{EE5DC638-4DF6-E6A4-A329-71067EDA42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5950" y="3151189"/>
            <a:ext cx="1905000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90" name="Line 5">
            <a:extLst>
              <a:ext uri="{FF2B5EF4-FFF2-40B4-BE49-F238E27FC236}">
                <a16:creationId xmlns:a16="http://schemas.microsoft.com/office/drawing/2014/main" id="{3E3DE7D2-8CD3-C3F4-3061-247FE02BE0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5950" y="3455989"/>
            <a:ext cx="1905000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91" name="Line 6">
            <a:extLst>
              <a:ext uri="{FF2B5EF4-FFF2-40B4-BE49-F238E27FC236}">
                <a16:creationId xmlns:a16="http://schemas.microsoft.com/office/drawing/2014/main" id="{CC529DCC-846E-86EB-1D17-3CD6B94373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5950" y="3760789"/>
            <a:ext cx="1905000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92" name="Line 7">
            <a:extLst>
              <a:ext uri="{FF2B5EF4-FFF2-40B4-BE49-F238E27FC236}">
                <a16:creationId xmlns:a16="http://schemas.microsoft.com/office/drawing/2014/main" id="{BFECB7C7-24D2-0619-A80A-04DAD3E77B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5950" y="4065589"/>
            <a:ext cx="1905000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93" name="Line 8">
            <a:extLst>
              <a:ext uri="{FF2B5EF4-FFF2-40B4-BE49-F238E27FC236}">
                <a16:creationId xmlns:a16="http://schemas.microsoft.com/office/drawing/2014/main" id="{255EF6DB-A291-C19C-FD5A-34AB59BD968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5950" y="4370389"/>
            <a:ext cx="1905000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94" name="Line 9">
            <a:extLst>
              <a:ext uri="{FF2B5EF4-FFF2-40B4-BE49-F238E27FC236}">
                <a16:creationId xmlns:a16="http://schemas.microsoft.com/office/drawing/2014/main" id="{BC9D36CC-225F-750D-8E04-093F8E973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5950" y="4927600"/>
            <a:ext cx="1905000" cy="1588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95" name="Line 10">
            <a:extLst>
              <a:ext uri="{FF2B5EF4-FFF2-40B4-BE49-F238E27FC236}">
                <a16:creationId xmlns:a16="http://schemas.microsoft.com/office/drawing/2014/main" id="{EDB47EF3-93B6-9283-7FE2-0668DD0B66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5950" y="5208589"/>
            <a:ext cx="1905000" cy="1587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96" name="Line 11">
            <a:extLst>
              <a:ext uri="{FF2B5EF4-FFF2-40B4-BE49-F238E27FC236}">
                <a16:creationId xmlns:a16="http://schemas.microsoft.com/office/drawing/2014/main" id="{1D8D4C7E-95A4-6AEA-7C99-5FB17FC412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73750" y="2541588"/>
            <a:ext cx="1588" cy="2971800"/>
          </a:xfrm>
          <a:prstGeom prst="line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397" name="Text Box 12">
            <a:extLst>
              <a:ext uri="{FF2B5EF4-FFF2-40B4-BE49-F238E27FC236}">
                <a16:creationId xmlns:a16="http://schemas.microsoft.com/office/drawing/2014/main" id="{F5024B26-ABAB-0E0C-AFA6-FA03F3537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9733" y="2814620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1125"/>
              </a:spcBef>
              <a:buClrTx/>
            </a:pPr>
            <a:r>
              <a:rPr lang="en-US" altLang="en-US" b="1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16398" name="Text Box 13">
            <a:extLst>
              <a:ext uri="{FF2B5EF4-FFF2-40B4-BE49-F238E27FC236}">
                <a16:creationId xmlns:a16="http://schemas.microsoft.com/office/drawing/2014/main" id="{64B12A12-1283-5856-D50E-1546B2295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320" y="3116245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1125"/>
              </a:spcBef>
              <a:buClrTx/>
            </a:pPr>
            <a:r>
              <a:rPr lang="en-US" altLang="en-US" b="1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16399" name="Text Box 14">
            <a:extLst>
              <a:ext uri="{FF2B5EF4-FFF2-40B4-BE49-F238E27FC236}">
                <a16:creationId xmlns:a16="http://schemas.microsoft.com/office/drawing/2014/main" id="{8D260F79-8719-EB5D-FEFD-C544B4732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9733" y="3416283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1125"/>
              </a:spcBef>
              <a:buClrTx/>
            </a:pPr>
            <a:r>
              <a:rPr lang="en-US" altLang="en-US" b="1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16400" name="Text Box 15">
            <a:extLst>
              <a:ext uri="{FF2B5EF4-FFF2-40B4-BE49-F238E27FC236}">
                <a16:creationId xmlns:a16="http://schemas.microsoft.com/office/drawing/2014/main" id="{892843D4-61AF-15BA-439A-25E0A37C5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320" y="3744895"/>
            <a:ext cx="30999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1125"/>
              </a:spcBef>
              <a:buClrTx/>
            </a:pPr>
            <a:r>
              <a:rPr lang="en-US" altLang="en-US" b="1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16401" name="Text Box 16">
            <a:extLst>
              <a:ext uri="{FF2B5EF4-FFF2-40B4-BE49-F238E27FC236}">
                <a16:creationId xmlns:a16="http://schemas.microsoft.com/office/drawing/2014/main" id="{062B1E01-6DBA-4A2B-B884-812CE752D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289" y="4064000"/>
            <a:ext cx="244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1125"/>
              </a:spcBef>
              <a:buClrTx/>
            </a:pPr>
            <a:r>
              <a:rPr lang="en-US" altLang="en-US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6402" name="Text Box 17">
            <a:extLst>
              <a:ext uri="{FF2B5EF4-FFF2-40B4-BE49-F238E27FC236}">
                <a16:creationId xmlns:a16="http://schemas.microsoft.com/office/drawing/2014/main" id="{EDCEE5DE-100B-05F8-F7CC-211EE3411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289" y="4903788"/>
            <a:ext cx="244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1125"/>
              </a:spcBef>
              <a:buClrTx/>
            </a:pPr>
            <a:r>
              <a:rPr lang="en-US" altLang="en-US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6403" name="Text Box 18">
            <a:extLst>
              <a:ext uri="{FF2B5EF4-FFF2-40B4-BE49-F238E27FC236}">
                <a16:creationId xmlns:a16="http://schemas.microsoft.com/office/drawing/2014/main" id="{12DEE4DC-7128-4BB4-EA3B-2A5319CA2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289" y="5207000"/>
            <a:ext cx="244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1125"/>
              </a:spcBef>
              <a:buClrTx/>
            </a:pPr>
            <a:r>
              <a:rPr lang="en-US" altLang="en-US" b="1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6404" name="Text Box 19">
            <a:extLst>
              <a:ext uri="{FF2B5EF4-FFF2-40B4-BE49-F238E27FC236}">
                <a16:creationId xmlns:a16="http://schemas.microsoft.com/office/drawing/2014/main" id="{D1F682F9-7A4A-0BA6-C4A6-69ACC5E46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9189" y="4446588"/>
            <a:ext cx="4730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1125"/>
              </a:spcBef>
              <a:buClrTx/>
            </a:pPr>
            <a:r>
              <a:rPr lang="en-US" altLang="en-US">
                <a:solidFill>
                  <a:srgbClr val="000000"/>
                </a:solidFill>
              </a:rPr>
              <a:t>….</a:t>
            </a:r>
          </a:p>
        </p:txBody>
      </p:sp>
      <p:sp>
        <p:nvSpPr>
          <p:cNvPr id="16405" name="Text Box 20">
            <a:extLst>
              <a:ext uri="{FF2B5EF4-FFF2-40B4-BE49-F238E27FC236}">
                <a16:creationId xmlns:a16="http://schemas.microsoft.com/office/drawing/2014/main" id="{92CCE27E-720F-DC40-AA2A-0890A3FF5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0323" y="2538215"/>
            <a:ext cx="847004" cy="309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875"/>
              </a:spcBef>
              <a:buClrTx/>
            </a:pPr>
            <a:r>
              <a:rPr lang="en-US" altLang="en-US" sz="1400">
                <a:solidFill>
                  <a:srgbClr val="000000"/>
                </a:solidFill>
              </a:rPr>
              <a:t>Frame #</a:t>
            </a:r>
          </a:p>
        </p:txBody>
      </p:sp>
      <p:sp>
        <p:nvSpPr>
          <p:cNvPr id="16406" name="Text Box 21">
            <a:extLst>
              <a:ext uri="{FF2B5EF4-FFF2-40B4-BE49-F238E27FC236}">
                <a16:creationId xmlns:a16="http://schemas.microsoft.com/office/drawing/2014/main" id="{4ACEA009-BD05-D194-87D0-1AE4EB5A3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3872" y="2538215"/>
            <a:ext cx="1356759" cy="309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875"/>
              </a:spcBef>
              <a:buClrTx/>
            </a:pPr>
            <a:r>
              <a:rPr lang="en-US" altLang="en-US" sz="1400">
                <a:solidFill>
                  <a:srgbClr val="000000"/>
                </a:solidFill>
              </a:rPr>
              <a:t>valid-invalid bit</a:t>
            </a:r>
          </a:p>
        </p:txBody>
      </p:sp>
      <p:sp>
        <p:nvSpPr>
          <p:cNvPr id="16407" name="Text Box 22">
            <a:extLst>
              <a:ext uri="{FF2B5EF4-FFF2-40B4-BE49-F238E27FC236}">
                <a16:creationId xmlns:a16="http://schemas.microsoft.com/office/drawing/2014/main" id="{1449C695-AE6E-C70B-94B1-F55E05A59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3971" y="5510015"/>
            <a:ext cx="1016923" cy="309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algn="ctr">
              <a:spcBef>
                <a:spcPts val="875"/>
              </a:spcBef>
              <a:buClrTx/>
            </a:pPr>
            <a:r>
              <a:rPr lang="en-US" altLang="en-US" sz="1400">
                <a:solidFill>
                  <a:srgbClr val="000000"/>
                </a:solidFill>
              </a:rPr>
              <a:t>page table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>
            <a:extLst>
              <a:ext uri="{FF2B5EF4-FFF2-40B4-BE49-F238E27FC236}">
                <a16:creationId xmlns:a16="http://schemas.microsoft.com/office/drawing/2014/main" id="{63F70493-4423-0C67-1D78-D0D3990EF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0113" y="0"/>
            <a:ext cx="836136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Calibri Light" panose="020F0302020204030204" pitchFamily="34" charset="0"/>
              </a:rPr>
              <a:t>Page Table When Some Pages Are Not in Main Memory</a:t>
            </a: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B04A41B7-FC15-A656-C053-371831670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297" y="1321914"/>
            <a:ext cx="5272548" cy="5092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>
            <a:extLst>
              <a:ext uri="{FF2B5EF4-FFF2-40B4-BE49-F238E27FC236}">
                <a16:creationId xmlns:a16="http://schemas.microsoft.com/office/drawing/2014/main" id="{F8FE018E-2CBF-8B92-DD0F-98C3AB4BA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650" y="365126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Droid Sans Fallback" charset="0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en-US" sz="3300" dirty="0">
                <a:solidFill>
                  <a:srgbClr val="000000"/>
                </a:solidFill>
                <a:latin typeface="Calibri Light" panose="020F0302020204030204" pitchFamily="34" charset="0"/>
              </a:rPr>
              <a:t>Page Fault</a:t>
            </a:r>
          </a:p>
        </p:txBody>
      </p:sp>
      <p:sp>
        <p:nvSpPr>
          <p:cNvPr id="12290" name="Text Box 2">
            <a:extLst>
              <a:ext uri="{FF2B5EF4-FFF2-40B4-BE49-F238E27FC236}">
                <a16:creationId xmlns:a16="http://schemas.microsoft.com/office/drawing/2014/main" id="{1DD3EA20-14F2-219F-B6E3-AAC5C1FC6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5214" y="1349375"/>
            <a:ext cx="7951787" cy="4210050"/>
          </a:xfrm>
          <a:prstGeom prst="rect">
            <a:avLst/>
          </a:prstGeom>
          <a:noFill/>
          <a:ln w="9525" cap="flat">
            <a:noFill/>
            <a:round/>
            <a:headEnd/>
            <a:tailEnd/>
          </a:ln>
          <a:effectLst/>
        </p:spPr>
        <p:txBody>
          <a:bodyPr/>
          <a:lstStyle/>
          <a:p>
            <a:pPr marL="168275" indent="-1682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Arial" charset="0"/>
              <a:buChar char="•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latin typeface="Calibri" pitchFamily="32" charset="0"/>
              </a:rPr>
              <a:t>If the required page is not available in Physical Memory: </a:t>
            </a:r>
            <a:r>
              <a:rPr lang="en-US" sz="1600" b="1" dirty="0">
                <a:solidFill>
                  <a:srgbClr val="000000"/>
                </a:solidFill>
                <a:latin typeface="Calibri" pitchFamily="32" charset="0"/>
              </a:rPr>
              <a:t>Page Fault</a:t>
            </a:r>
          </a:p>
          <a:p>
            <a:pPr marL="285750" indent="-285750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1600" dirty="0"/>
              <a:t>A </a:t>
            </a:r>
            <a:r>
              <a:rPr lang="en-US" sz="1600" b="1" dirty="0"/>
              <a:t>page reference</a:t>
            </a:r>
            <a:r>
              <a:rPr lang="en-US" sz="1600" dirty="0"/>
              <a:t> is a </a:t>
            </a:r>
            <a:r>
              <a:rPr lang="en-US" sz="1600" b="1" dirty="0"/>
              <a:t>request made by the CPU</a:t>
            </a:r>
            <a:r>
              <a:rPr lang="en-US" sz="1600" dirty="0"/>
              <a:t> to access data or instructions from a specific </a:t>
            </a:r>
            <a:r>
              <a:rPr lang="en-US" sz="1600" b="1" dirty="0"/>
              <a:t>page</a:t>
            </a:r>
            <a:r>
              <a:rPr lang="en-US" sz="1600" dirty="0"/>
              <a:t>.</a:t>
            </a:r>
            <a:endParaRPr lang="en-US" sz="1600" b="1" dirty="0">
              <a:solidFill>
                <a:srgbClr val="3366FF"/>
              </a:solidFill>
              <a:latin typeface="Calibri" pitchFamily="32" charset="0"/>
            </a:endParaRPr>
          </a:p>
          <a:p>
            <a:pPr marL="171450" indent="-168275">
              <a:lnSpc>
                <a:spcPct val="90000"/>
              </a:lnSpc>
              <a:spcBef>
                <a:spcPts val="750"/>
              </a:spcBef>
              <a:buSzPct val="100000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endParaRPr lang="en-US" sz="1600" dirty="0">
              <a:solidFill>
                <a:srgbClr val="000000"/>
              </a:solidFill>
              <a:latin typeface="Calibri" pitchFamily="32" charset="0"/>
            </a:endParaRPr>
          </a:p>
          <a:p>
            <a:pPr marL="168275" indent="-1682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Calibri" pitchFamily="32" charset="0"/>
              <a:buAutoNum type="arabicPeriod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latin typeface="Calibri" pitchFamily="32" charset="0"/>
              </a:rPr>
              <a:t>Get empty frame</a:t>
            </a:r>
          </a:p>
          <a:p>
            <a:pPr marL="168275" indent="-1682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Calibri" pitchFamily="32" charset="0"/>
              <a:buAutoNum type="arabicPeriod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latin typeface="Calibri" pitchFamily="32" charset="0"/>
              </a:rPr>
              <a:t>Swap page into frame</a:t>
            </a:r>
          </a:p>
          <a:p>
            <a:pPr marL="168275" indent="-1682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Calibri" pitchFamily="32" charset="0"/>
              <a:buAutoNum type="arabicPeriod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latin typeface="Calibri" pitchFamily="32" charset="0"/>
              </a:rPr>
              <a:t>Reset tables</a:t>
            </a:r>
          </a:p>
          <a:p>
            <a:pPr marL="168275" indent="-1682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Calibri" pitchFamily="32" charset="0"/>
              <a:buAutoNum type="arabicPeriod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latin typeface="Calibri" pitchFamily="32" charset="0"/>
              </a:rPr>
              <a:t>Set validation bit = </a:t>
            </a:r>
            <a:r>
              <a:rPr lang="en-US" sz="1600" b="1" dirty="0">
                <a:solidFill>
                  <a:srgbClr val="FF0000"/>
                </a:solidFill>
                <a:latin typeface="Calibri" pitchFamily="32" charset="0"/>
              </a:rPr>
              <a:t>v</a:t>
            </a:r>
          </a:p>
          <a:p>
            <a:pPr marL="168275" indent="-1682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Calibri" pitchFamily="32" charset="0"/>
              <a:buAutoNum type="arabicPeriod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r>
              <a:rPr lang="en-US" sz="1600" dirty="0">
                <a:solidFill>
                  <a:srgbClr val="000000"/>
                </a:solidFill>
                <a:latin typeface="Calibri" pitchFamily="32" charset="0"/>
              </a:rPr>
              <a:t>Restart the instruction that caused the page fault</a:t>
            </a:r>
          </a:p>
          <a:p>
            <a:r>
              <a:rPr lang="en-IN" sz="1600" dirty="0"/>
              <a:t>Suppose a program accesses </a:t>
            </a:r>
            <a:r>
              <a:rPr lang="en-IN" sz="1600" b="1" dirty="0"/>
              <a:t>Page 7</a:t>
            </a:r>
            <a:r>
              <a:rPr lang="en-IN" sz="1600" dirty="0"/>
              <a:t>, but Page 7 is not in memory.</a:t>
            </a:r>
          </a:p>
          <a:p>
            <a:r>
              <a:rPr lang="en-IN" sz="1600" dirty="0"/>
              <a:t>➡️ Page Fault occurs</a:t>
            </a:r>
            <a:br>
              <a:rPr lang="en-IN" sz="1600" dirty="0"/>
            </a:br>
            <a:r>
              <a:rPr lang="en-IN" sz="1600" dirty="0"/>
              <a:t>➡️ OS finds a free frame (say Frame 3)</a:t>
            </a:r>
            <a:br>
              <a:rPr lang="en-IN" sz="1600" dirty="0"/>
            </a:br>
            <a:r>
              <a:rPr lang="en-IN" sz="1600" dirty="0"/>
              <a:t>➡️ Page 7 is loaded from disk into Frame 3</a:t>
            </a:r>
            <a:br>
              <a:rPr lang="en-IN" sz="1600" dirty="0"/>
            </a:br>
            <a:r>
              <a:rPr lang="en-IN" sz="1600" dirty="0"/>
              <a:t>➡️ Page Table updated: Page 7 → Frame 3, Valid = 1</a:t>
            </a:r>
            <a:br>
              <a:rPr lang="en-IN" sz="1600" dirty="0"/>
            </a:br>
            <a:r>
              <a:rPr lang="en-IN" sz="1600" dirty="0"/>
              <a:t>➡️ CPU restarts the instruction successfully </a:t>
            </a:r>
          </a:p>
          <a:p>
            <a:pPr marL="168275" indent="-1682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ct val="100000"/>
              <a:buFont typeface="Calibri" pitchFamily="32" charset="0"/>
              <a:buAutoNum type="arabicPeriod"/>
              <a:tabLst>
                <a:tab pos="168275" algn="l"/>
                <a:tab pos="615950" algn="l"/>
                <a:tab pos="1065213" algn="l"/>
                <a:tab pos="1514475" algn="l"/>
                <a:tab pos="1963738" algn="l"/>
                <a:tab pos="2413000" algn="l"/>
                <a:tab pos="2862263" algn="l"/>
                <a:tab pos="3311525" algn="l"/>
                <a:tab pos="3760788" algn="l"/>
                <a:tab pos="4210050" algn="l"/>
                <a:tab pos="4659313" algn="l"/>
                <a:tab pos="5108575" algn="l"/>
                <a:tab pos="5557838" algn="l"/>
                <a:tab pos="6007100" algn="l"/>
                <a:tab pos="6456363" algn="l"/>
                <a:tab pos="6905625" algn="l"/>
                <a:tab pos="7354888" algn="l"/>
                <a:tab pos="7804150" algn="l"/>
                <a:tab pos="8253413" algn="l"/>
                <a:tab pos="8702675" algn="l"/>
                <a:tab pos="9151938" algn="l"/>
              </a:tabLst>
              <a:defRPr/>
            </a:pPr>
            <a:endParaRPr lang="en-US" sz="1600" dirty="0">
              <a:solidFill>
                <a:srgbClr val="000000"/>
              </a:solidFill>
              <a:latin typeface="Calibri" pitchFamily="32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4BB137-DEAF-CA80-A34C-D631D0064598}"/>
              </a:ext>
            </a:extLst>
          </p:cNvPr>
          <p:cNvSpPr txBox="1"/>
          <p:nvPr/>
        </p:nvSpPr>
        <p:spPr>
          <a:xfrm>
            <a:off x="3667432" y="196645"/>
            <a:ext cx="5476568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What happens if there is no free frame?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0649C-E473-61A8-ED4E-82DE40BEF567}"/>
              </a:ext>
            </a:extLst>
          </p:cNvPr>
          <p:cNvSpPr txBox="1"/>
          <p:nvPr/>
        </p:nvSpPr>
        <p:spPr>
          <a:xfrm>
            <a:off x="609600" y="538278"/>
            <a:ext cx="8534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If </a:t>
            </a:r>
            <a:r>
              <a:rPr lang="en-US" b="1" dirty="0"/>
              <a:t>all frames in physical memory are already occupied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the OS cannot directly load the new page.</a:t>
            </a:r>
          </a:p>
          <a:p>
            <a:pPr>
              <a:buNone/>
            </a:pPr>
            <a:r>
              <a:rPr lang="en-US" dirty="0"/>
              <a:t>So the OS must </a:t>
            </a:r>
            <a:r>
              <a:rPr lang="en-US" b="1" dirty="0"/>
              <a:t>free up a frame</a:t>
            </a:r>
            <a:r>
              <a:rPr lang="en-US" dirty="0"/>
              <a:t> by </a:t>
            </a:r>
            <a:r>
              <a:rPr lang="en-US" b="1" dirty="0"/>
              <a:t>removing (replacing)</a:t>
            </a:r>
            <a:r>
              <a:rPr lang="en-US" dirty="0"/>
              <a:t> one of the pages currently in memory.</a:t>
            </a:r>
          </a:p>
          <a:p>
            <a:pPr>
              <a:buNone/>
            </a:pPr>
            <a:r>
              <a:rPr lang="en-IN" dirty="0"/>
              <a:t>Solution: Page Replacement</a:t>
            </a:r>
          </a:p>
          <a:p>
            <a:pPr>
              <a:buNone/>
            </a:pPr>
            <a:endParaRPr lang="en-IN" dirty="0"/>
          </a:p>
          <a:p>
            <a:r>
              <a:rPr lang="en-US" dirty="0"/>
              <a:t>Step1:The OS must </a:t>
            </a:r>
            <a:r>
              <a:rPr lang="en-US" b="1" dirty="0"/>
              <a:t>select a victim frame</a:t>
            </a:r>
            <a:r>
              <a:rPr lang="en-US" dirty="0"/>
              <a:t> using a </a:t>
            </a:r>
            <a:r>
              <a:rPr lang="en-US" b="1" dirty="0"/>
              <a:t>Page Replacement Algorithm</a:t>
            </a:r>
            <a:r>
              <a:rPr lang="en-US" dirty="0"/>
              <a:t>, such as: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04E2224-224E-2783-E250-19F93736B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147495"/>
              </p:ext>
            </p:extLst>
          </p:nvPr>
        </p:nvGraphicFramePr>
        <p:xfrm>
          <a:off x="838200" y="2995454"/>
          <a:ext cx="10515600" cy="28346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06547174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061873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319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FIFO (First-In-First-Out)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Replace the oldest loaded page.(</a:t>
                      </a:r>
                      <a:r>
                        <a:rPr lang="en-US" b="1" dirty="0"/>
                        <a:t>Disadvantage:</a:t>
                      </a:r>
                      <a:r>
                        <a:rPr lang="en-US" dirty="0"/>
                        <a:t> Can remove frequently used pages → leads to </a:t>
                      </a:r>
                      <a:r>
                        <a:rPr lang="en-US" b="1" i="1" dirty="0" err="1"/>
                        <a:t>Belady’s</a:t>
                      </a:r>
                      <a:r>
                        <a:rPr lang="en-US" b="1" i="1" dirty="0"/>
                        <a:t> Anomaly</a:t>
                      </a:r>
                      <a:r>
                        <a:rPr lang="en-US" b="1" dirty="0"/>
                        <a:t> </a:t>
                      </a:r>
                      <a:r>
                        <a:rPr lang="en-US" dirty="0"/>
                        <a:t>(more frames cause more page faults).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876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LRU (Least Recently Used)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Replace the page that has not been used for the longest time.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7554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Optimal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Replace the page that will not be used for the longest time in the future (</a:t>
                      </a:r>
                      <a:r>
                        <a:rPr lang="en-US" altLang="en-US" sz="1800" dirty="0">
                          <a:solidFill>
                            <a:srgbClr val="000000"/>
                          </a:solidFill>
                          <a:latin typeface="Calibri Light" panose="020F0302020204030204" pitchFamily="34" charset="0"/>
                        </a:rPr>
                        <a:t>Called OPT or </a:t>
                      </a:r>
                      <a:r>
                        <a:rPr lang="en-US" altLang="en-US" sz="1800" dirty="0" err="1">
                          <a:solidFill>
                            <a:srgbClr val="000000"/>
                          </a:solidFill>
                          <a:latin typeface="Calibri Light" panose="020F0302020204030204" pitchFamily="34" charset="0"/>
                        </a:rPr>
                        <a:t>MIN,</a:t>
                      </a:r>
                      <a:r>
                        <a:rPr lang="en-US" dirty="0" err="1"/>
                        <a:t>used</a:t>
                      </a:r>
                      <a:r>
                        <a:rPr lang="en-US" dirty="0"/>
                        <a:t> in theory).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91603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121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361B38-C5D4-3468-90C7-E62EADF655B7}"/>
              </a:ext>
            </a:extLst>
          </p:cNvPr>
          <p:cNvSpPr txBox="1"/>
          <p:nvPr/>
        </p:nvSpPr>
        <p:spPr>
          <a:xfrm>
            <a:off x="776748" y="560439"/>
            <a:ext cx="83672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Example Question:</a:t>
            </a:r>
          </a:p>
          <a:p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Consider page reference string 1, 3, 0, 3, 5, 6, 3 with 3-page frames. Find the number of page faults using FIFO Page Replacement Algorithm.</a:t>
            </a:r>
            <a:endParaRPr lang="en-IN" dirty="0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A709E86B-4DFF-B706-BB6B-28D1C8370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632" y="1509713"/>
            <a:ext cx="7305368" cy="3838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921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395215-6DE1-4E42-A957-7696216D82DF}"/>
              </a:ext>
            </a:extLst>
          </p:cNvPr>
          <p:cNvSpPr txBox="1"/>
          <p:nvPr/>
        </p:nvSpPr>
        <p:spPr>
          <a:xfrm>
            <a:off x="776747" y="206477"/>
            <a:ext cx="107859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Example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Consider the page reference string 7, 0, 1, 2, 0, 3, 0, 4, 2, 3, 0, 3, 2, 3 with 4-page frames. Find number of page faults using LRU Page Replacement Algorithm.</a:t>
            </a:r>
            <a:endParaRPr lang="en-IN" dirty="0"/>
          </a:p>
        </p:txBody>
      </p:sp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748DCA2B-89F5-64BF-8640-C239E68F64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23"/>
          <a:stretch>
            <a:fillRect/>
          </a:stretch>
        </p:blipFill>
        <p:spPr bwMode="auto">
          <a:xfrm>
            <a:off x="1443038" y="1147763"/>
            <a:ext cx="9305925" cy="420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851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32EEDA-F296-9A1D-2789-7D5E65BF9CDD}"/>
              </a:ext>
            </a:extLst>
          </p:cNvPr>
          <p:cNvSpPr txBox="1"/>
          <p:nvPr/>
        </p:nvSpPr>
        <p:spPr>
          <a:xfrm>
            <a:off x="668594" y="619432"/>
            <a:ext cx="847540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2:Check if the Page Is Modified (Dirty Bit)</a:t>
            </a:r>
          </a:p>
          <a:p>
            <a:r>
              <a:rPr lang="en-US" dirty="0"/>
              <a:t>Each page has a </a:t>
            </a:r>
            <a:r>
              <a:rPr lang="en-US" b="1" dirty="0"/>
              <a:t>dirty bit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Dirty bit = 1:</a:t>
            </a:r>
            <a:r>
              <a:rPr lang="en-US" dirty="0"/>
              <a:t> Page has been modified → must be </a:t>
            </a:r>
            <a:r>
              <a:rPr lang="en-US" b="1" dirty="0"/>
              <a:t>written back to disk</a:t>
            </a:r>
            <a:r>
              <a:rPr lang="en-US" dirty="0"/>
              <a:t> before replacement.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Dirty bit = 0:</a:t>
            </a:r>
            <a:r>
              <a:rPr lang="en-US" dirty="0"/>
              <a:t> Page unchanged → can be directly replaced.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Step 3: Swap In the New Page</a:t>
            </a:r>
          </a:p>
          <a:p>
            <a:r>
              <a:rPr lang="en-US" dirty="0"/>
              <a:t>The OS brings the </a:t>
            </a:r>
            <a:r>
              <a:rPr lang="en-US" b="1" dirty="0"/>
              <a:t>required page</a:t>
            </a:r>
            <a:r>
              <a:rPr lang="en-US" dirty="0"/>
              <a:t> from disk.</a:t>
            </a:r>
          </a:p>
          <a:p>
            <a:r>
              <a:rPr lang="en-US" dirty="0"/>
              <a:t>Places it into the </a:t>
            </a:r>
            <a:r>
              <a:rPr lang="en-US" b="1" dirty="0"/>
              <a:t>newly freed frame</a:t>
            </a:r>
            <a:r>
              <a:rPr lang="en-US" dirty="0"/>
              <a:t>.</a:t>
            </a:r>
          </a:p>
          <a:p>
            <a:r>
              <a:rPr lang="en-US" b="1" dirty="0"/>
              <a:t>Step 4: Update the Page Table </a:t>
            </a:r>
            <a:r>
              <a:rPr lang="en-US" b="1" dirty="0" err="1"/>
              <a:t>enteries</a:t>
            </a:r>
            <a:r>
              <a:rPr lang="en-US" b="1" dirty="0"/>
              <a:t>.</a:t>
            </a:r>
          </a:p>
          <a:p>
            <a:r>
              <a:rPr lang="en-US" b="1" dirty="0"/>
              <a:t>Step 5: Restart the Instruction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2211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A060EF-91A7-391D-EF33-0282DAA2F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" t="1535" r="693" b="1535"/>
          <a:stretch>
            <a:fillRect/>
          </a:stretch>
        </p:blipFill>
        <p:spPr bwMode="auto">
          <a:xfrm>
            <a:off x="1563329" y="639258"/>
            <a:ext cx="9222659" cy="5866009"/>
          </a:xfrm>
          <a:prstGeom prst="rect">
            <a:avLst/>
          </a:prstGeom>
          <a:noFill/>
          <a:ln w="38160" cap="sq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369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18EB79-4139-A04F-4013-94C3021767CC}"/>
              </a:ext>
            </a:extLst>
          </p:cNvPr>
          <p:cNvSpPr txBox="1"/>
          <p:nvPr/>
        </p:nvSpPr>
        <p:spPr>
          <a:xfrm>
            <a:off x="963561" y="462116"/>
            <a:ext cx="818043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What is Thrashing?</a:t>
            </a:r>
          </a:p>
          <a:p>
            <a:endParaRPr lang="en-IN" dirty="0"/>
          </a:p>
          <a:p>
            <a:r>
              <a:rPr lang="en-US" b="1" dirty="0"/>
              <a:t>Thrashing</a:t>
            </a:r>
            <a:r>
              <a:rPr lang="en-US" dirty="0"/>
              <a:t> occurs when a process (or multiple processes) spends </a:t>
            </a:r>
            <a:r>
              <a:rPr lang="en-US" b="1" dirty="0"/>
              <a:t>more time swapping pages in and out of memory</a:t>
            </a:r>
            <a:r>
              <a:rPr lang="en-US" dirty="0"/>
              <a:t> than </a:t>
            </a:r>
            <a:r>
              <a:rPr lang="en-US" b="1" dirty="0"/>
              <a:t>executing actual instructions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667126-174C-DA16-85E3-19AD886B6666}"/>
              </a:ext>
            </a:extLst>
          </p:cNvPr>
          <p:cNvSpPr txBox="1"/>
          <p:nvPr/>
        </p:nvSpPr>
        <p:spPr>
          <a:xfrm>
            <a:off x="865239" y="1759974"/>
            <a:ext cx="82787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Thrashing is a condition where the CPU utilization drops drastically because the operating system is constantly busy handling </a:t>
            </a:r>
            <a:r>
              <a:rPr lang="en-US" b="1" dirty="0"/>
              <a:t>page faults</a:t>
            </a:r>
            <a:r>
              <a:rPr lang="en-US" dirty="0"/>
              <a:t> (loading and removing pages) instead of running useful programs.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41DB34C-E3EC-4A3D-1DE1-246C4A91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" t="12083" r="856" b="12083"/>
          <a:stretch>
            <a:fillRect/>
          </a:stretch>
        </p:blipFill>
        <p:spPr bwMode="auto">
          <a:xfrm>
            <a:off x="2840550" y="2914136"/>
            <a:ext cx="5962650" cy="3435350"/>
          </a:xfrm>
          <a:prstGeom prst="rect">
            <a:avLst/>
          </a:prstGeom>
          <a:noFill/>
          <a:ln w="38160" cap="sq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2808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29F-442E-5C43-E743-9B22547B7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1" y="762002"/>
            <a:ext cx="7758113" cy="380999"/>
          </a:xfrm>
        </p:spPr>
        <p:txBody>
          <a:bodyPr>
            <a:normAutofit fontScale="90000"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Question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9D2DAA-E6DB-5049-8E81-B1C61678F7C1}"/>
                  </a:ext>
                </a:extLst>
              </p:cNvPr>
              <p:cNvSpPr txBox="1"/>
              <p:nvPr/>
            </p:nvSpPr>
            <p:spPr>
              <a:xfrm>
                <a:off x="1790700" y="976614"/>
                <a:ext cx="8610600" cy="4462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endParaRPr lang="en-US" sz="2000" dirty="0"/>
              </a:p>
              <a:p>
                <a:pPr>
                  <a:buNone/>
                </a:pPr>
                <a:r>
                  <a:rPr lang="en-US" sz="2000" dirty="0"/>
                  <a:t>A system uses a </a:t>
                </a:r>
                <a:r>
                  <a:rPr lang="en-US" sz="2000" b="1" dirty="0"/>
                  <a:t>36-bit virtual address space</a:t>
                </a:r>
                <a:r>
                  <a:rPr lang="en-US" sz="2000" dirty="0"/>
                  <a:t> and a </a:t>
                </a:r>
                <a:r>
                  <a:rPr lang="en-US" sz="2000" b="1" dirty="0"/>
                  <a:t>page size of 8 KB</a:t>
                </a:r>
                <a:r>
                  <a:rPr lang="en-US" sz="2000" dirty="0"/>
                  <a:t>. How many entries are there in a </a:t>
                </a:r>
                <a:r>
                  <a:rPr lang="en-US" sz="2000" b="1" dirty="0"/>
                  <a:t>single-level page table</a:t>
                </a:r>
                <a:r>
                  <a:rPr lang="en-US" sz="2000" dirty="0"/>
                  <a:t>?</a:t>
                </a:r>
              </a:p>
              <a:p>
                <a:pPr>
                  <a:buNone/>
                </a:pPr>
                <a:r>
                  <a:rPr lang="en-US" sz="2000" dirty="0"/>
                  <a:t>A) 2¹⁰</a:t>
                </a:r>
                <a:br>
                  <a:rPr lang="en-US" sz="2000" dirty="0"/>
                </a:br>
                <a:r>
                  <a:rPr lang="en-US" sz="2000" dirty="0"/>
                  <a:t>B) 2¹⁸</a:t>
                </a:r>
                <a:br>
                  <a:rPr lang="en-US" sz="2000" dirty="0"/>
                </a:br>
                <a:r>
                  <a:rPr lang="en-US" sz="2000" dirty="0"/>
                  <a:t>C) 2²³</a:t>
                </a:r>
                <a:br>
                  <a:rPr lang="en-US" sz="2000" dirty="0"/>
                </a:br>
                <a:r>
                  <a:rPr lang="en-US" sz="2000" dirty="0"/>
                  <a:t>D) 2²⁸</a:t>
                </a:r>
              </a:p>
              <a:p>
                <a:pPr>
                  <a:buNone/>
                </a:pPr>
                <a:endParaRPr lang="en-US" sz="2000" dirty="0"/>
              </a:p>
              <a:p>
                <a:pPr>
                  <a:buNone/>
                </a:pPr>
                <a:r>
                  <a:rPr lang="en-US" sz="2000" dirty="0"/>
                  <a:t>Solution:</a:t>
                </a:r>
              </a:p>
              <a:p>
                <a:pPr>
                  <a:buNone/>
                </a:pPr>
                <a:r>
                  <a:rPr lang="en-IN" sz="2000" dirty="0"/>
                  <a:t>Page size = 8 KB = 2¹³ bytes</a:t>
                </a:r>
              </a:p>
              <a:p>
                <a:pPr>
                  <a:buNone/>
                </a:pPr>
                <a:r>
                  <a:rPr lang="en-IN" sz="2000" dirty="0"/>
                  <a:t>Virtual address = 36 bits</a:t>
                </a:r>
              </a:p>
              <a:p>
                <a:pPr>
                  <a:buNone/>
                </a:pPr>
                <a:r>
                  <a:rPr lang="en-IN" sz="2000" dirty="0"/>
                  <a:t>the total </a:t>
                </a:r>
                <a:r>
                  <a:rPr lang="en-IN" sz="2000" b="1" dirty="0"/>
                  <a:t>virtual address space</a:t>
                </a:r>
                <a:r>
                  <a:rPr lang="en-IN" sz="20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36</m:t>
                        </m:r>
                      </m:sup>
                    </m:sSup>
                  </m:oMath>
                </a14:m>
                <a:r>
                  <a:rPr lang="en-IN" sz="2000" dirty="0"/>
                  <a:t>bytes.</a:t>
                </a:r>
              </a:p>
              <a:p>
                <a:pPr>
                  <a:buNone/>
                </a:pPr>
                <a:r>
                  <a:rPr lang="en-US" sz="2000" dirty="0"/>
                  <a:t>Number of pages = 2³⁶ / 2¹³ = 2²³</a:t>
                </a:r>
              </a:p>
              <a:p>
                <a:pPr>
                  <a:buNone/>
                </a:pPr>
                <a:r>
                  <a:rPr lang="en-US" sz="2000" dirty="0"/>
                  <a:t>Hence, the page table has </a:t>
                </a:r>
                <a:r>
                  <a:rPr lang="en-US" sz="2000" b="1" dirty="0"/>
                  <a:t>2²³ entries</a:t>
                </a:r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9D2DAA-E6DB-5049-8E81-B1C61678F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700" y="976614"/>
                <a:ext cx="8610600" cy="4462760"/>
              </a:xfrm>
              <a:prstGeom prst="rect">
                <a:avLst/>
              </a:prstGeom>
              <a:blipFill>
                <a:blip r:embed="rId2"/>
                <a:stretch>
                  <a:fillRect l="-779" b="-1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9193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2096</Words>
  <Application>Microsoft Office PowerPoint</Application>
  <PresentationFormat>Widescreen</PresentationFormat>
  <Paragraphs>239</Paragraphs>
  <Slides>28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DejaVu Sans</vt:lpstr>
      <vt:lpstr>Nunito</vt:lpstr>
      <vt:lpstr>Source Sans Pro</vt:lpstr>
      <vt:lpstr>Symbol</vt:lpstr>
      <vt:lpstr>Times New Roman</vt:lpstr>
      <vt:lpstr>Office Theme</vt:lpstr>
      <vt:lpstr>Memory Management</vt:lpstr>
      <vt:lpstr>Non-contiguous Memory Allocation</vt:lpstr>
      <vt:lpstr>PowerPoint Presentation</vt:lpstr>
      <vt:lpstr>Segmentation</vt:lpstr>
      <vt:lpstr>PowerPoint Presentation</vt:lpstr>
      <vt:lpstr>PowerPoint Presentation</vt:lpstr>
      <vt:lpstr>                                        Paging</vt:lpstr>
      <vt:lpstr>PowerPoint Presentation</vt:lpstr>
      <vt:lpstr>PowerPoint Presentation</vt:lpstr>
      <vt:lpstr>PowerPoint Presentation</vt:lpstr>
      <vt:lpstr>Paging Scheme </vt:lpstr>
      <vt:lpstr>PowerPoint Presentation</vt:lpstr>
      <vt:lpstr>Example Question:</vt:lpstr>
      <vt:lpstr>                                                                 Page Table</vt:lpstr>
      <vt:lpstr>Solution: Use a Translation Lookaside Buffer (TLB) A TLB is a special cache (high-speed memory) inside the CPU that stores recently used page table entries. </vt:lpstr>
      <vt:lpstr>PowerPoint Presentation</vt:lpstr>
      <vt:lpstr>                                                      VIRTUAL MEMORY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Sample 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kritimathur90@outlook.com</dc:creator>
  <cp:lastModifiedBy>kritimathur90@outlook.com</cp:lastModifiedBy>
  <cp:revision>52</cp:revision>
  <dcterms:created xsi:type="dcterms:W3CDTF">2025-11-08T16:42:06Z</dcterms:created>
  <dcterms:modified xsi:type="dcterms:W3CDTF">2025-11-13T07:13:45Z</dcterms:modified>
</cp:coreProperties>
</file>