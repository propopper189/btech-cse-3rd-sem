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4"/>
  </p:notesMasterIdLst>
  <p:sldIdLst>
    <p:sldId id="313" r:id="rId2"/>
    <p:sldId id="257" r:id="rId3"/>
    <p:sldId id="278" r:id="rId4"/>
    <p:sldId id="258" r:id="rId5"/>
    <p:sldId id="259" r:id="rId6"/>
    <p:sldId id="260" r:id="rId7"/>
    <p:sldId id="279" r:id="rId8"/>
    <p:sldId id="28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81" r:id="rId17"/>
    <p:sldId id="282" r:id="rId18"/>
    <p:sldId id="283" r:id="rId19"/>
    <p:sldId id="284" r:id="rId20"/>
    <p:sldId id="285" r:id="rId21"/>
    <p:sldId id="286" r:id="rId22"/>
    <p:sldId id="270" r:id="rId23"/>
    <p:sldId id="451" r:id="rId24"/>
    <p:sldId id="275" r:id="rId25"/>
    <p:sldId id="272" r:id="rId26"/>
    <p:sldId id="444" r:id="rId27"/>
    <p:sldId id="273" r:id="rId28"/>
    <p:sldId id="445" r:id="rId29"/>
    <p:sldId id="314" r:id="rId30"/>
    <p:sldId id="446" r:id="rId31"/>
    <p:sldId id="447" r:id="rId32"/>
    <p:sldId id="448" r:id="rId33"/>
    <p:sldId id="449" r:id="rId34"/>
    <p:sldId id="450" r:id="rId35"/>
    <p:sldId id="277" r:id="rId36"/>
    <p:sldId id="287" r:id="rId37"/>
    <p:sldId id="288" r:id="rId38"/>
    <p:sldId id="289" r:id="rId39"/>
    <p:sldId id="290" r:id="rId40"/>
    <p:sldId id="269" r:id="rId41"/>
    <p:sldId id="296" r:id="rId42"/>
    <p:sldId id="297" r:id="rId43"/>
    <p:sldId id="298" r:id="rId44"/>
    <p:sldId id="302" r:id="rId45"/>
    <p:sldId id="307" r:id="rId46"/>
    <p:sldId id="303" r:id="rId47"/>
    <p:sldId id="305" r:id="rId48"/>
    <p:sldId id="308" r:id="rId49"/>
    <p:sldId id="291" r:id="rId50"/>
    <p:sldId id="292" r:id="rId51"/>
    <p:sldId id="311" r:id="rId52"/>
    <p:sldId id="456" r:id="rId53"/>
    <p:sldId id="462" r:id="rId54"/>
    <p:sldId id="294" r:id="rId55"/>
    <p:sldId id="295" r:id="rId56"/>
    <p:sldId id="312" r:id="rId57"/>
    <p:sldId id="452" r:id="rId58"/>
    <p:sldId id="453" r:id="rId59"/>
    <p:sldId id="316" r:id="rId60"/>
    <p:sldId id="317" r:id="rId61"/>
    <p:sldId id="457" r:id="rId62"/>
    <p:sldId id="454" r:id="rId63"/>
    <p:sldId id="455" r:id="rId64"/>
    <p:sldId id="318" r:id="rId65"/>
    <p:sldId id="458" r:id="rId66"/>
    <p:sldId id="319" r:id="rId67"/>
    <p:sldId id="459" r:id="rId68"/>
    <p:sldId id="320" r:id="rId69"/>
    <p:sldId id="460" r:id="rId70"/>
    <p:sldId id="322" r:id="rId71"/>
    <p:sldId id="461" r:id="rId72"/>
    <p:sldId id="443" r:id="rId7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5" roundtripDataSignature="AMtx7mh1x3FPyNzeq7Tpq5/oQn+ftPky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60"/>
  </p:normalViewPr>
  <p:slideViewPr>
    <p:cSldViewPr snapToGrid="0">
      <p:cViewPr varScale="1">
        <p:scale>
          <a:sx n="78" d="100"/>
          <a:sy n="78" d="100"/>
        </p:scale>
        <p:origin x="792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64189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User </a:t>
            </a:r>
            <a:endParaRPr/>
          </a:p>
        </p:txBody>
      </p:sp>
      <p:sp>
        <p:nvSpPr>
          <p:cNvPr id="172" name="Google Shape;17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35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696913"/>
            <a:ext cx="6196013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6" name="Google Shape;206;p22:notes"/>
          <p:cNvSpPr txBox="1">
            <a:spLocks noGrp="1"/>
          </p:cNvSpPr>
          <p:nvPr>
            <p:ph type="body" idx="1"/>
          </p:nvPr>
        </p:nvSpPr>
        <p:spPr>
          <a:xfrm>
            <a:off x="688975" y="4416425"/>
            <a:ext cx="5503863" cy="418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4:notes"/>
          <p:cNvSpPr txBox="1">
            <a:spLocks noGrp="1"/>
          </p:cNvSpPr>
          <p:nvPr>
            <p:ph type="body" idx="1"/>
          </p:nvPr>
        </p:nvSpPr>
        <p:spPr>
          <a:xfrm>
            <a:off x="1255712" y="3482975"/>
            <a:ext cx="7116762" cy="3302000"/>
          </a:xfrm>
          <a:prstGeom prst="rect">
            <a:avLst/>
          </a:prstGeom>
        </p:spPr>
        <p:txBody>
          <a:bodyPr spcFirstLastPara="1" wrap="square" lIns="95025" tIns="47500" rIns="95025" bIns="475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6" name="Google Shape;216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541338"/>
            <a:ext cx="4908550" cy="27622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" name="Google Shape;19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191" name="Google Shape;191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59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61627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Content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5"/>
          <p:cNvSpPr txBox="1"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5"/>
          <p:cNvSpPr txBox="1"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仅标题页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                                                   Slide </a:t>
            </a:r>
            <a:fld id="{00000000-1234-1234-1234-123412341234}" type="slidenum">
              <a:rPr lang="en-US"/>
              <a:t>‹#›</a:t>
            </a:fld>
            <a:r>
              <a:rPr lang="en-US"/>
              <a:t> of 21</a:t>
            </a:r>
            <a:endParaRPr b="0" i="0" u="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标题和内容">
  <p:cSld name="标题和内容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body" idx="1"/>
          </p:nvPr>
        </p:nvSpPr>
        <p:spPr>
          <a:xfrm>
            <a:off x="669925" y="1130299"/>
            <a:ext cx="10850563" cy="500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节标题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6098599" y="2657929"/>
            <a:ext cx="541918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6099715" y="3553279"/>
            <a:ext cx="5419185" cy="1015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末尾幻灯片">
  <p:cSld name="末尾幻灯片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0"/>
          <p:cNvSpPr/>
          <p:nvPr/>
        </p:nvSpPr>
        <p:spPr>
          <a:xfrm flipH="1">
            <a:off x="0" y="0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0"/>
          <p:cNvSpPr txBox="1">
            <a:spLocks noGrp="1"/>
          </p:cNvSpPr>
          <p:nvPr>
            <p:ph type="ctrTitle"/>
          </p:nvPr>
        </p:nvSpPr>
        <p:spPr>
          <a:xfrm>
            <a:off x="674690" y="2484892"/>
            <a:ext cx="6999739" cy="143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8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3"/>
          <p:cNvCxnSpPr/>
          <p:nvPr/>
        </p:nvCxnSpPr>
        <p:spPr>
          <a:xfrm>
            <a:off x="669924" y="1028700"/>
            <a:ext cx="10850563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3"/>
          <p:cNvSpPr txBox="1">
            <a:spLocks noGrp="1"/>
          </p:cNvSpPr>
          <p:nvPr>
            <p:ph type="dt" idx="10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ftr" idx="11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sldNum" idx="12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</a:t>
            </a:r>
            <a:fld id="{00000000-1234-1234-1234-123412341234}" type="slidenum">
              <a:rPr lang="en-US"/>
              <a:t>‹#›</a:t>
            </a:fld>
            <a:r>
              <a:rPr lang="en-US"/>
              <a:t>/21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torialspoint.com/operating_system/os_process_scheduling_algorithms.htm" TargetMode="External"/><Relationship Id="rId2" Type="http://schemas.openxmlformats.org/officeDocument/2006/relationships/hyperlink" Target="https://www.geeksforgeeks.org/cpu-scheduling-in-operating-systems/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BB6F-DA0B-548B-88A1-6C75933B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76203"/>
            <a:ext cx="10165224" cy="1939409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Interrupt/System Calls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C07AB1-454B-342E-B572-2D79030AE9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               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6A2591-D5AC-78B7-D044-F40C09F4D1EC}"/>
              </a:ext>
            </a:extLst>
          </p:cNvPr>
          <p:cNvSpPr txBox="1"/>
          <p:nvPr/>
        </p:nvSpPr>
        <p:spPr>
          <a:xfrm>
            <a:off x="7423355" y="4630994"/>
            <a:ext cx="5191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Kriti Mathur</a:t>
            </a:r>
            <a:endParaRPr lang="en-IN" sz="360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942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>
            <a:spLocks noGrp="1"/>
          </p:cNvSpPr>
          <p:nvPr>
            <p:ph type="title"/>
          </p:nvPr>
        </p:nvSpPr>
        <p:spPr>
          <a:xfrm>
            <a:off x="669924" y="76204"/>
            <a:ext cx="10850563" cy="952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Interrupt</a:t>
            </a:r>
            <a:endParaRPr/>
          </a:p>
        </p:txBody>
      </p:sp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81316" y="887414"/>
            <a:ext cx="9839171" cy="571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endParaRPr lang="en-US" sz="2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/>
              <a:t>  Definition:</a:t>
            </a:r>
            <a:r>
              <a:rPr lang="en-US" sz="2400" dirty="0"/>
              <a:t> An </a:t>
            </a:r>
            <a:r>
              <a:rPr lang="en-US" sz="2400" b="1" dirty="0"/>
              <a:t>interrupt</a:t>
            </a:r>
            <a:r>
              <a:rPr lang="en-US" sz="2400" dirty="0"/>
              <a:t> is a signal to the processor emitted by hardware or     software indicating an event that needs immediate attention.</a:t>
            </a:r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endParaRPr lang="en-US" sz="2400" dirty="0"/>
          </a:p>
          <a:p>
            <a:pPr marL="342900" lvl="0" indent="-3429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endParaRPr lang="en-US" sz="2400" dirty="0"/>
          </a:p>
          <a:p>
            <a:pPr marL="514350" lvl="0" indent="-3619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/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US" sz="2400" b="1" dirty="0"/>
              <a:t>Handled by:</a:t>
            </a:r>
            <a:r>
              <a:rPr lang="en-US" sz="2400" dirty="0"/>
              <a:t> </a:t>
            </a:r>
            <a:r>
              <a:rPr lang="en-US" sz="2400" b="1" dirty="0"/>
              <a:t>Interrupt Service Routines (ISRs)</a:t>
            </a:r>
            <a:r>
              <a:rPr lang="en-US" sz="2400" dirty="0"/>
              <a:t> — special functions in the OS.</a:t>
            </a:r>
          </a:p>
          <a:p>
            <a:pPr marL="114300" indent="0">
              <a:buNone/>
            </a:pPr>
            <a:r>
              <a:rPr lang="en-US" sz="2400" b="1" dirty="0"/>
              <a:t>Example:</a:t>
            </a:r>
            <a:r>
              <a:rPr lang="en-US" sz="2400" dirty="0"/>
              <a:t> A </a:t>
            </a:r>
            <a:r>
              <a:rPr lang="en-US" sz="2400" b="1" dirty="0"/>
              <a:t>keyboard interrupt</a:t>
            </a:r>
            <a:r>
              <a:rPr lang="en-US" sz="2400" dirty="0"/>
              <a:t> is a </a:t>
            </a:r>
            <a:r>
              <a:rPr lang="en-US" sz="2400" b="1" dirty="0"/>
              <a:t>hardware interrupt</a:t>
            </a:r>
            <a:r>
              <a:rPr lang="en-US" sz="2400" dirty="0"/>
              <a:t> generated when you press or release a key on your keyboard.</a:t>
            </a:r>
          </a:p>
          <a:p>
            <a:pPr marL="342900" lvl="0" indent="-19050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8FAE6-D90F-5A72-6505-E4232932BF49}"/>
              </a:ext>
            </a:extLst>
          </p:cNvPr>
          <p:cNvSpPr txBox="1"/>
          <p:nvPr/>
        </p:nvSpPr>
        <p:spPr>
          <a:xfrm>
            <a:off x="1828800" y="2330246"/>
            <a:ext cx="7315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Purpose:</a:t>
            </a:r>
            <a:r>
              <a:rPr lang="en-US" sz="2400" dirty="0"/>
              <a:t> To alert the CPU to an urgent task that requires its attention, temporarily halting the current execution flow.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53F35-CF6E-2FED-8CC3-2240A343D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76203"/>
            <a:ext cx="10850563" cy="1654273"/>
          </a:xfrm>
        </p:spPr>
        <p:txBody>
          <a:bodyPr>
            <a:norm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Types Of Interrupts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8FC034F-30E1-2CBA-A880-1D026CBC55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4968" y="2100983"/>
            <a:ext cx="1147607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interrupts: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Triggered by hardware (e.g., keyboard input, mouse movement, disk I/O complete).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interrupts: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Triggered by a program, often to request a system-level service (e.g.,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INT 80h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x86 Linux).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19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1995488" y="5730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Hardware Interrupt</a:t>
            </a:r>
            <a:endParaRPr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1905000" y="1447800"/>
            <a:ext cx="9879011" cy="50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dirty="0"/>
              <a:t>Hardware interrupts are used by </a:t>
            </a:r>
            <a:r>
              <a:rPr lang="en-US" sz="2400" b="1" dirty="0"/>
              <a:t>devices</a:t>
            </a:r>
            <a:r>
              <a:rPr lang="en-US" sz="2400" dirty="0"/>
              <a:t> to communicate that they </a:t>
            </a:r>
            <a:r>
              <a:rPr lang="en-US" sz="2400" b="1" dirty="0"/>
              <a:t>require attention from the operating system</a:t>
            </a:r>
            <a:r>
              <a:rPr lang="en-US" sz="2400" dirty="0"/>
              <a:t>.</a:t>
            </a:r>
            <a:endParaRPr dirty="0"/>
          </a:p>
          <a:p>
            <a:pPr marL="514350" lvl="0" indent="-514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dirty="0"/>
              <a:t>Hardware interrupts by sending a signal to CPU </a:t>
            </a:r>
            <a:r>
              <a:rPr lang="en-US" sz="2400" b="1" dirty="0"/>
              <a:t>via a system bus.</a:t>
            </a:r>
            <a:endParaRPr dirty="0"/>
          </a:p>
          <a:p>
            <a:pPr marL="514350" lvl="0" indent="-514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dirty="0"/>
              <a:t>An interrupt number references hardware interrupts</a:t>
            </a:r>
            <a:r>
              <a:rPr lang="en-US" sz="2400" b="1" dirty="0"/>
              <a:t>. </a:t>
            </a:r>
            <a:endParaRPr dirty="0"/>
          </a:p>
          <a:p>
            <a:pPr marL="514350" lvl="0" indent="-514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dirty="0"/>
              <a:t>These numbers are mapped with </a:t>
            </a:r>
            <a:r>
              <a:rPr lang="en-US" sz="2400" dirty="0">
                <a:solidFill>
                  <a:srgbClr val="FF0000"/>
                </a:solidFill>
              </a:rPr>
              <a:t>hardware that created the interrupt.</a:t>
            </a:r>
            <a:r>
              <a:rPr lang="en-US" sz="2400" dirty="0"/>
              <a:t> </a:t>
            </a:r>
            <a:endParaRPr dirty="0"/>
          </a:p>
          <a:p>
            <a:pPr marL="514350" lvl="0" indent="-51435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rabicPeriod"/>
            </a:pPr>
            <a:r>
              <a:rPr lang="en-US" sz="2400" dirty="0"/>
              <a:t>Enabling the system to monitor/understand:</a:t>
            </a:r>
            <a:endParaRPr dirty="0"/>
          </a:p>
          <a:p>
            <a:pPr marL="400050" lvl="1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b="1" dirty="0"/>
              <a:t>	</a:t>
            </a:r>
            <a:r>
              <a:rPr lang="en-US" sz="2400" b="1" dirty="0"/>
              <a:t>which device created the interrupt and when it occurred</a:t>
            </a:r>
            <a:r>
              <a:rPr lang="en-US" sz="24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 txBox="1">
            <a:spLocks noGrp="1"/>
          </p:cNvSpPr>
          <p:nvPr>
            <p:ph type="title"/>
          </p:nvPr>
        </p:nvSpPr>
        <p:spPr>
          <a:xfrm>
            <a:off x="1981200" y="5699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Software Interrupt/ Trap</a:t>
            </a:r>
            <a:endParaRPr/>
          </a:p>
        </p:txBody>
      </p:sp>
      <p:sp>
        <p:nvSpPr>
          <p:cNvPr id="66" name="Google Shape;66;p4"/>
          <p:cNvSpPr txBox="1">
            <a:spLocks noGrp="1"/>
          </p:cNvSpPr>
          <p:nvPr>
            <p:ph type="body" idx="1"/>
          </p:nvPr>
        </p:nvSpPr>
        <p:spPr>
          <a:xfrm>
            <a:off x="1816100" y="1258889"/>
            <a:ext cx="8743950" cy="450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Interrupt generated </a:t>
            </a:r>
            <a:r>
              <a:rPr lang="en-US" sz="2800" dirty="0">
                <a:solidFill>
                  <a:srgbClr val="FF0000"/>
                </a:solidFill>
              </a:rPr>
              <a:t>by executing a instruction.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 dirty="0"/>
              <a:t>Software interrupts by a special operation called a </a:t>
            </a:r>
            <a:r>
              <a:rPr lang="en-US" sz="2800" dirty="0">
                <a:solidFill>
                  <a:srgbClr val="FF0000"/>
                </a:solidFill>
              </a:rPr>
              <a:t>System Call or Monitor Call</a:t>
            </a:r>
            <a:r>
              <a:rPr lang="en-US" sz="2800" dirty="0"/>
              <a:t>.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dirty="0"/>
              <a:t>Ex: 1. </a:t>
            </a:r>
            <a:r>
              <a:rPr lang="en-US" sz="2800" dirty="0" err="1"/>
              <a:t>cout</a:t>
            </a:r>
            <a:r>
              <a:rPr lang="en-US" sz="2800" dirty="0"/>
              <a:t> in C++ is a kind of interrupt because it would make a system to print something.</a:t>
            </a:r>
            <a:endParaRPr dirty="0"/>
          </a:p>
          <a:p>
            <a:pPr marL="342900" lvl="0" indent="-3429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dirty="0"/>
              <a:t>2. division by zero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 txBox="1">
            <a:spLocks noGrp="1"/>
          </p:cNvSpPr>
          <p:nvPr>
            <p:ph type="title"/>
          </p:nvPr>
        </p:nvSpPr>
        <p:spPr>
          <a:xfrm>
            <a:off x="1981200" y="463551"/>
            <a:ext cx="426085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I/O Interrupt</a:t>
            </a:r>
            <a:endParaRPr/>
          </a:p>
        </p:txBody>
      </p:sp>
      <p:sp>
        <p:nvSpPr>
          <p:cNvPr id="72" name="Google Shape;72;p5"/>
          <p:cNvSpPr txBox="1">
            <a:spLocks noGrp="1"/>
          </p:cNvSpPr>
          <p:nvPr>
            <p:ph type="body" idx="1"/>
          </p:nvPr>
        </p:nvSpPr>
        <p:spPr>
          <a:xfrm>
            <a:off x="1801814" y="1233489"/>
            <a:ext cx="8758237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800" b="1" dirty="0"/>
              <a:t>I/O Interrupt (Input/Output Interrupt)</a:t>
            </a:r>
          </a:p>
          <a:p>
            <a:pPr marL="114300" indent="0">
              <a:buNone/>
            </a:pPr>
            <a:endParaRPr lang="en-US" sz="2800" b="1" dirty="0"/>
          </a:p>
          <a:p>
            <a:r>
              <a:rPr lang="en-US" sz="2800" dirty="0"/>
              <a:t>An </a:t>
            </a:r>
            <a:r>
              <a:rPr lang="en-US" sz="2800" b="1" dirty="0"/>
              <a:t>I/O interrupt</a:t>
            </a:r>
            <a:r>
              <a:rPr lang="en-US" sz="2800" dirty="0"/>
              <a:t> is a type of </a:t>
            </a:r>
            <a:r>
              <a:rPr lang="en-US" sz="2800" b="1" dirty="0"/>
              <a:t>hardware interrupt</a:t>
            </a:r>
            <a:r>
              <a:rPr lang="en-US" sz="2800" dirty="0"/>
              <a:t> that occurs when an input or output device needs the CPU's attention — typically when it's done with a task like reading data or sending output.</a:t>
            </a:r>
          </a:p>
          <a:p>
            <a:pPr marL="342900" lvl="0" indent="-165100" algn="just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3D98-FCCB-F16E-2FEE-DE898E948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sz="3200" b="1" dirty="0"/>
              <a:t>1. Synchronous Interrupts</a:t>
            </a:r>
            <a:endParaRPr lang="en-IN" sz="3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37CA24-43C5-4E37-B5CE-C4FF887BD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8095639"/>
              </p:ext>
            </p:extLst>
          </p:nvPr>
        </p:nvGraphicFramePr>
        <p:xfrm>
          <a:off x="1376515" y="1370220"/>
          <a:ext cx="9829340" cy="4117559"/>
        </p:xfrm>
        <a:graphic>
          <a:graphicData uri="http://schemas.openxmlformats.org/drawingml/2006/table">
            <a:tbl>
              <a:tblPr/>
              <a:tblGrid>
                <a:gridCol w="4914670">
                  <a:extLst>
                    <a:ext uri="{9D8B030D-6E8A-4147-A177-3AD203B41FA5}">
                      <a16:colId xmlns:a16="http://schemas.microsoft.com/office/drawing/2014/main" val="2989335566"/>
                    </a:ext>
                  </a:extLst>
                </a:gridCol>
                <a:gridCol w="4914670">
                  <a:extLst>
                    <a:ext uri="{9D8B030D-6E8A-4147-A177-3AD203B41FA5}">
                      <a16:colId xmlns:a16="http://schemas.microsoft.com/office/drawing/2014/main" val="543073322"/>
                    </a:ext>
                  </a:extLst>
                </a:gridCol>
              </a:tblGrid>
              <a:tr h="544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Details</a:t>
                      </a:r>
                      <a:endParaRPr lang="en-IN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996843"/>
                  </a:ext>
                </a:extLst>
              </a:tr>
              <a:tr h="92555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Timing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Occur </a:t>
                      </a:r>
                      <a:r>
                        <a:rPr lang="en-US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at a specific point</a:t>
                      </a: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during instruction execution (predictable)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7245503"/>
                  </a:ext>
                </a:extLst>
              </a:tr>
              <a:tr h="544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Triggered by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Internal events</a:t>
                      </a:r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caused by the currently running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8614194"/>
                  </a:ext>
                </a:extLst>
              </a:tr>
              <a:tr h="544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Cause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Errors or exceptions in the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6981383"/>
                  </a:ext>
                </a:extLst>
              </a:tr>
              <a:tr h="544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Handling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CPU handles immediately after the faulty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9433720"/>
                  </a:ext>
                </a:extLst>
              </a:tr>
              <a:tr h="544443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Examples</a:t>
                      </a:r>
                      <a:endParaRPr lang="en-IN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- Divide by zero error- Invalid memory access- Illegal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982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5965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8B4F-1B6B-8B37-34FB-BA2111438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✅ </a:t>
            </a:r>
            <a:r>
              <a:rPr lang="en-IN" sz="2800" b="1" dirty="0"/>
              <a:t>2. Asynchronous Interrupts</a:t>
            </a:r>
            <a:endParaRPr lang="en-IN"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68F37A-265F-4221-3EB2-4B1723CC3C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175368"/>
              </p:ext>
            </p:extLst>
          </p:nvPr>
        </p:nvGraphicFramePr>
        <p:xfrm>
          <a:off x="1012723" y="1496040"/>
          <a:ext cx="10429106" cy="4412601"/>
        </p:xfrm>
        <a:graphic>
          <a:graphicData uri="http://schemas.openxmlformats.org/drawingml/2006/table">
            <a:tbl>
              <a:tblPr/>
              <a:tblGrid>
                <a:gridCol w="4355198">
                  <a:extLst>
                    <a:ext uri="{9D8B030D-6E8A-4147-A177-3AD203B41FA5}">
                      <a16:colId xmlns:a16="http://schemas.microsoft.com/office/drawing/2014/main" val="844987617"/>
                    </a:ext>
                  </a:extLst>
                </a:gridCol>
                <a:gridCol w="6073908">
                  <a:extLst>
                    <a:ext uri="{9D8B030D-6E8A-4147-A177-3AD203B41FA5}">
                      <a16:colId xmlns:a16="http://schemas.microsoft.com/office/drawing/2014/main" val="3443698786"/>
                    </a:ext>
                  </a:extLst>
                </a:gridCol>
              </a:tblGrid>
              <a:tr h="527002">
                <a:tc>
                  <a:txBody>
                    <a:bodyPr/>
                    <a:lstStyle/>
                    <a:p>
                      <a:r>
                        <a:rPr lang="en-US" sz="2400" b="1" dirty="0"/>
                        <a:t>Feature</a:t>
                      </a:r>
                      <a:endParaRPr lang="en-IN" sz="24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/>
                        <a:t>Details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8681074"/>
                  </a:ext>
                </a:extLst>
              </a:tr>
              <a:tr h="895904">
                <a:tc>
                  <a:txBody>
                    <a:bodyPr/>
                    <a:lstStyle/>
                    <a:p>
                      <a:r>
                        <a:rPr lang="en-IN" sz="2400" b="1" dirty="0"/>
                        <a:t>Timing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Occur </a:t>
                      </a:r>
                      <a:r>
                        <a:rPr lang="en-US" sz="2400" b="1"/>
                        <a:t>at any time</a:t>
                      </a:r>
                      <a:r>
                        <a:rPr lang="en-US" sz="2400"/>
                        <a:t>, unrelated to current instruction execution (unpredictable)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143496"/>
                  </a:ext>
                </a:extLst>
              </a:tr>
              <a:tr h="527002">
                <a:tc>
                  <a:txBody>
                    <a:bodyPr/>
                    <a:lstStyle/>
                    <a:p>
                      <a:r>
                        <a:rPr lang="en-IN" sz="2400" b="1" dirty="0"/>
                        <a:t>Triggered by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External events</a:t>
                      </a:r>
                      <a:r>
                        <a:rPr lang="en-US" sz="2400"/>
                        <a:t> from hardware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8283861"/>
                  </a:ext>
                </a:extLst>
              </a:tr>
              <a:tr h="527002">
                <a:tc>
                  <a:txBody>
                    <a:bodyPr/>
                    <a:lstStyle/>
                    <a:p>
                      <a:r>
                        <a:rPr lang="en-IN" sz="2400" b="1"/>
                        <a:t>Cause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Devices signaling completion or 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2683043"/>
                  </a:ext>
                </a:extLst>
              </a:tr>
              <a:tr h="527002">
                <a:tc>
                  <a:txBody>
                    <a:bodyPr/>
                    <a:lstStyle/>
                    <a:p>
                      <a:r>
                        <a:rPr lang="en-IN" sz="2400" b="1" dirty="0"/>
                        <a:t>Handling</a:t>
                      </a:r>
                      <a:endParaRPr lang="en-IN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 is interrupted after finishing the current instruction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332779"/>
                  </a:ext>
                </a:extLst>
              </a:tr>
              <a:tr h="1112731">
                <a:tc>
                  <a:txBody>
                    <a:bodyPr/>
                    <a:lstStyle/>
                    <a:p>
                      <a:r>
                        <a:rPr lang="en-IN" sz="2400" b="1"/>
                        <a:t>Examples</a:t>
                      </a:r>
                      <a:endParaRPr lang="en-IN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- Keyboard key pressed- Mouse moved- Disk I/O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405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656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76525" y="1200151"/>
            <a:ext cx="6618288" cy="37179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/>
          <p:nvPr/>
        </p:nvSpPr>
        <p:spPr>
          <a:xfrm>
            <a:off x="2490789" y="5208589"/>
            <a:ext cx="7439025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(a) Synchronous		(b) Asynchronous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 txBox="1">
            <a:spLocks noGrp="1"/>
          </p:cNvSpPr>
          <p:nvPr>
            <p:ph type="body" idx="1"/>
          </p:nvPr>
        </p:nvSpPr>
        <p:spPr>
          <a:xfrm>
            <a:off x="2252663" y="1311275"/>
            <a:ext cx="8083550" cy="5367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indent="0">
              <a:buNone/>
            </a:pPr>
            <a:r>
              <a:rPr lang="en-US" b="1" dirty="0"/>
              <a:t>🧠 What is a System Call?</a:t>
            </a:r>
          </a:p>
          <a:p>
            <a:pPr marL="114300" indent="0">
              <a:buNone/>
            </a:pPr>
            <a:endParaRPr lang="en-US" b="1" dirty="0"/>
          </a:p>
          <a:p>
            <a:r>
              <a:rPr lang="en-US" dirty="0"/>
              <a:t>A </a:t>
            </a:r>
            <a:r>
              <a:rPr lang="en-US" b="1" dirty="0"/>
              <a:t>System Call</a:t>
            </a:r>
            <a:r>
              <a:rPr lang="en-US" dirty="0"/>
              <a:t> is a </a:t>
            </a:r>
            <a:r>
              <a:rPr lang="en-IN" b="0" i="0" dirty="0">
                <a:solidFill>
                  <a:srgbClr val="273239"/>
                </a:solidFill>
                <a:effectLst/>
                <a:latin typeface="Nunito" pitchFamily="2" charset="0"/>
              </a:rPr>
              <a:t>programmatic </a:t>
            </a:r>
            <a:r>
              <a:rPr lang="en-US" dirty="0"/>
              <a:t>way in which computer  program to </a:t>
            </a:r>
            <a:r>
              <a:rPr lang="en-US" b="1" dirty="0"/>
              <a:t>request a service</a:t>
            </a:r>
            <a:r>
              <a:rPr lang="en-US" dirty="0"/>
              <a:t> from the operating system's </a:t>
            </a:r>
            <a:r>
              <a:rPr lang="en-US" b="1" dirty="0"/>
              <a:t>kernel</a:t>
            </a:r>
            <a:r>
              <a:rPr lang="en-US" dirty="0"/>
              <a:t>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endParaRPr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FAE81A-04A9-4DDD-C376-1D41B898D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>
            <a:spLocks noGrp="1"/>
          </p:cNvSpPr>
          <p:nvPr>
            <p:ph type="title"/>
          </p:nvPr>
        </p:nvSpPr>
        <p:spPr>
          <a:xfrm>
            <a:off x="1968500" y="1"/>
            <a:ext cx="656590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Working of System Call</a:t>
            </a:r>
            <a:endParaRPr/>
          </a:p>
        </p:txBody>
      </p:sp>
      <p:pic>
        <p:nvPicPr>
          <p:cNvPr id="92" name="Google Shape;92;p8" descr="A diagram explaining how system calls work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33600" y="762000"/>
            <a:ext cx="7620000" cy="544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>
            <a:spLocks noGrp="1"/>
          </p:cNvSpPr>
          <p:nvPr>
            <p:ph type="title"/>
          </p:nvPr>
        </p:nvSpPr>
        <p:spPr>
          <a:xfrm>
            <a:off x="1968500" y="1"/>
            <a:ext cx="6565900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System Calls</a:t>
            </a:r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body" idx="1"/>
          </p:nvPr>
        </p:nvSpPr>
        <p:spPr>
          <a:xfrm>
            <a:off x="1920875" y="755650"/>
            <a:ext cx="6997700" cy="106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dirty="0"/>
              <a:t>System call sequence to copy the contents of one file to another file</a:t>
            </a:r>
            <a:endParaRPr dirty="0"/>
          </a:p>
        </p:txBody>
      </p:sp>
      <p:pic>
        <p:nvPicPr>
          <p:cNvPr id="100" name="Google Shape;10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73289" y="2185988"/>
            <a:ext cx="7354887" cy="436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>
            <a:spLocks noGrp="1"/>
          </p:cNvSpPr>
          <p:nvPr>
            <p:ph type="title"/>
          </p:nvPr>
        </p:nvSpPr>
        <p:spPr>
          <a:xfrm>
            <a:off x="1652589" y="609599"/>
            <a:ext cx="7948611" cy="36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2800" dirty="0"/>
              <a:t>🔗 </a:t>
            </a:r>
            <a:r>
              <a:rPr lang="en-US" sz="2400" b="1" dirty="0"/>
              <a:t>Relationship: API – System Call – Operating System</a:t>
            </a:r>
            <a:endParaRPr sz="2400" dirty="0"/>
          </a:p>
        </p:txBody>
      </p:sp>
      <p:pic>
        <p:nvPicPr>
          <p:cNvPr id="107" name="Google Shape;107;p10" descr="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84120" y="1666220"/>
            <a:ext cx="6294120" cy="3261360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A9FBDD-8676-BB33-9FAD-3DC0A33CB4F9}"/>
              </a:ext>
            </a:extLst>
          </p:cNvPr>
          <p:cNvSpPr txBox="1"/>
          <p:nvPr/>
        </p:nvSpPr>
        <p:spPr>
          <a:xfrm>
            <a:off x="914400" y="1059180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API</a:t>
            </a:r>
            <a:r>
              <a:rPr lang="en-US" dirty="0"/>
              <a:t> is what </a:t>
            </a:r>
            <a:r>
              <a:rPr lang="en-US" b="1" dirty="0"/>
              <a:t>you write</a:t>
            </a:r>
            <a:r>
              <a:rPr lang="en-US" dirty="0"/>
              <a:t> in your code.</a:t>
            </a:r>
            <a:br>
              <a:rPr lang="en-US" dirty="0"/>
            </a:br>
            <a:r>
              <a:rPr lang="en-US" dirty="0"/>
              <a:t>It calls a </a:t>
            </a:r>
            <a:r>
              <a:rPr lang="en-US" b="1" dirty="0"/>
              <a:t>System Call</a:t>
            </a:r>
            <a:r>
              <a:rPr lang="en-US" dirty="0"/>
              <a:t>, which tells the </a:t>
            </a:r>
            <a:r>
              <a:rPr lang="en-US" b="1" dirty="0"/>
              <a:t>Operating System (OS)</a:t>
            </a:r>
            <a:r>
              <a:rPr lang="en-US" dirty="0"/>
              <a:t> to do the real work.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>
            <a:spLocks noGrp="1"/>
          </p:cNvSpPr>
          <p:nvPr>
            <p:ph type="title"/>
          </p:nvPr>
        </p:nvSpPr>
        <p:spPr>
          <a:xfrm>
            <a:off x="1981201" y="438151"/>
            <a:ext cx="6367463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Standard C Library Example</a:t>
            </a:r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body" idx="1"/>
          </p:nvPr>
        </p:nvSpPr>
        <p:spPr>
          <a:xfrm>
            <a:off x="2292351" y="1173163"/>
            <a:ext cx="7642225" cy="507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 program invoking printf() library call, which calls write() system call</a:t>
            </a:r>
            <a:endParaRPr/>
          </a:p>
        </p:txBody>
      </p:sp>
      <p:pic>
        <p:nvPicPr>
          <p:cNvPr id="115" name="Google Shape;115;p11"/>
          <p:cNvPicPr preferRelativeResize="0"/>
          <p:nvPr/>
        </p:nvPicPr>
        <p:blipFill rotWithShape="1">
          <a:blip r:embed="rId3">
            <a:alphaModFix/>
          </a:blip>
          <a:srcRect l="18286" t="2666" r="17346" b="1784"/>
          <a:stretch/>
        </p:blipFill>
        <p:spPr>
          <a:xfrm>
            <a:off x="4433888" y="1965325"/>
            <a:ext cx="6030912" cy="4286250"/>
          </a:xfrm>
          <a:prstGeom prst="rect">
            <a:avLst/>
          </a:prstGeom>
          <a:noFill/>
          <a:ln w="38100" cap="flat" cmpd="dbl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2"/>
          <p:cNvSpPr txBox="1">
            <a:spLocks noGrp="1"/>
          </p:cNvSpPr>
          <p:nvPr>
            <p:ph type="title"/>
          </p:nvPr>
        </p:nvSpPr>
        <p:spPr>
          <a:xfrm>
            <a:off x="1762125" y="277813"/>
            <a:ext cx="6838950" cy="75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System Call Parameter Passing</a:t>
            </a:r>
            <a:endParaRPr/>
          </a:p>
        </p:txBody>
      </p:sp>
      <p:sp>
        <p:nvSpPr>
          <p:cNvPr id="122" name="Google Shape;122;p12"/>
          <p:cNvSpPr txBox="1">
            <a:spLocks noGrp="1"/>
          </p:cNvSpPr>
          <p:nvPr>
            <p:ph type="body" idx="1"/>
          </p:nvPr>
        </p:nvSpPr>
        <p:spPr>
          <a:xfrm>
            <a:off x="1762126" y="1141414"/>
            <a:ext cx="8588375" cy="5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dirty="0"/>
              <a:t>Three general methods used to pass parameters to the operating system (OS) when a system call is made: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US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IN" sz="2400" dirty="0"/>
              <a:t>  1. Pass Parameters in Registers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1800" dirty="0"/>
              <a:t>       </a:t>
            </a:r>
            <a:r>
              <a:rPr lang="en-US" sz="2000" dirty="0"/>
              <a:t>When the number of parameters is small (typically </a:t>
            </a:r>
            <a:r>
              <a:rPr lang="en-US" sz="2000" b="1" dirty="0"/>
              <a:t>≤ 6</a:t>
            </a:r>
            <a:r>
              <a:rPr lang="en-US" sz="2000" dirty="0"/>
              <a:t>).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US" sz="20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dirty="0"/>
              <a:t>  2.</a:t>
            </a:r>
            <a:r>
              <a:rPr lang="en-US" sz="1400" dirty="0"/>
              <a:t> </a:t>
            </a:r>
            <a:r>
              <a:rPr lang="en-US" sz="2000" dirty="0"/>
              <a:t>Use a Memory Block (or Table)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1200" dirty="0"/>
              <a:t>           </a:t>
            </a:r>
            <a:r>
              <a:rPr lang="en-US" sz="2000" dirty="0"/>
              <a:t>When there are many parameters (typically </a:t>
            </a:r>
            <a:r>
              <a:rPr lang="en-US" sz="2000" b="1" dirty="0"/>
              <a:t>&gt; 6</a:t>
            </a:r>
            <a:r>
              <a:rPr lang="en-US" sz="2000" dirty="0"/>
              <a:t>).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US" sz="20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dirty="0"/>
              <a:t>  3.  Push Parameters onto the Stack.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r>
              <a:rPr lang="en-US" sz="2400" dirty="0"/>
              <a:t>        </a:t>
            </a:r>
            <a:r>
              <a:rPr lang="en-US" sz="2000" dirty="0"/>
              <a:t>Parameters placed, or </a:t>
            </a:r>
            <a:r>
              <a:rPr lang="en-US" sz="2000" i="1" dirty="0"/>
              <a:t>pushed, </a:t>
            </a:r>
            <a:r>
              <a:rPr lang="en-US" sz="2000" dirty="0"/>
              <a:t>onto the </a:t>
            </a:r>
            <a:r>
              <a:rPr lang="en-US" sz="2000" i="1" dirty="0"/>
              <a:t>stack </a:t>
            </a:r>
            <a:r>
              <a:rPr lang="en-US" sz="2000" dirty="0"/>
              <a:t>by the program and </a:t>
            </a:r>
            <a:r>
              <a:rPr lang="en-US" sz="2000" i="1" dirty="0"/>
              <a:t>popped </a:t>
            </a:r>
            <a:r>
              <a:rPr lang="en-US" sz="2000" dirty="0"/>
              <a:t>off the stack by the operating system.</a:t>
            </a:r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US" sz="24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US" sz="24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lang="en-IN" sz="2000" dirty="0"/>
          </a:p>
          <a:p>
            <a:pPr marL="3429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67D1E-EB1C-3AE8-02D0-9242CC629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4AEB2-8BEE-9964-4EB0-FD40F73F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FA422-341E-C4D9-92E3-A966ACB45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44298" y="2928169"/>
            <a:ext cx="10850563" cy="1044424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6CDE5D-0401-E1DF-3DFF-902786E0E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374" y="173211"/>
            <a:ext cx="6059351" cy="3719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72964" rIns="0" bIns="-4919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sohne"/>
              </a:rPr>
              <a:t>Types of system calls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18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      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4ADD61C1-4027-83FD-9B13-C65EE3753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524" y="654870"/>
            <a:ext cx="5676900" cy="4880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507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20286-9238-C35A-5381-22B872305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-12287"/>
            <a:ext cx="10850563" cy="1919744"/>
          </a:xfrm>
        </p:spPr>
        <p:txBody>
          <a:bodyPr>
            <a:normAutofit/>
          </a:bodyPr>
          <a:lstStyle/>
          <a:p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EE3F3B-CDC5-2CC9-19B3-E176DCCD24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44414" y="562830"/>
            <a:ext cx="74921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1. Process Control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E52F061-F71D-34BB-F36A-1B8722344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735" y="1726861"/>
            <a:ext cx="1141525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These system calls manage the execution of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Examples: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fork()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 a new process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execute a new program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exit()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terminate the current process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wait()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wait for a process to finish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getpid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get process ID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kill()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send a signal to a process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049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A5BC5-ADC1-6323-D406-80EFB21F4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501444"/>
            <a:ext cx="10850563" cy="757085"/>
          </a:xfrm>
        </p:spPr>
        <p:txBody>
          <a:bodyPr>
            <a:normAutofit fontScale="90000"/>
          </a:bodyPr>
          <a:lstStyle/>
          <a:p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lang="en-IN" dirty="0"/>
              <a:t>2. File Management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C3A9481-51BE-0BF9-A871-01A0BBCC2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9924" y="-202763"/>
            <a:ext cx="10548681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create, read, write, and manage files.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open() – open or create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read() – read from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write() – write to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close() – close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unlink() – delete a 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lseek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– move read/write file pointer 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lseek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(n,5,seek_cur))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chmod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– change file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339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E748B-CC00-D52B-0527-30A60B6B1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4" y="76203"/>
            <a:ext cx="10850563" cy="1732931"/>
          </a:xfrm>
        </p:spPr>
        <p:txBody>
          <a:bodyPr>
            <a:normAutofit/>
          </a:bodyPr>
          <a:lstStyle/>
          <a:p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Device Management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2A7B40-F705-EA54-AFE5-335D0CC568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70271" y="376601"/>
            <a:ext cx="10746657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 managing I/O devices.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ioctl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control device operations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read()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write()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also used for devices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open()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close()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same as file operations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mmap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map device or file into memory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7125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ED0CA-E58A-0242-7E45-F9916948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r>
              <a:rPr lang="en-IN" sz="3600" dirty="0"/>
              <a:t> 4. Information Maintenance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B5790C-E42A-6B2B-49E5-4373A0BFC8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9924" y="1787128"/>
            <a:ext cx="1006690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information about the system and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gettimeofday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get system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settimeofday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set system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uname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get system information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getuid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getgid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get user/group ID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alarm()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set a timer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sleep()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delay process execution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8307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5FE4-A1CF-52F5-A1FD-F39D1F5AC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79" y="550606"/>
            <a:ext cx="10850563" cy="1347020"/>
          </a:xfrm>
        </p:spPr>
        <p:txBody>
          <a:bodyPr>
            <a:noAutofit/>
          </a:bodyPr>
          <a:lstStyle/>
          <a:p>
            <a:b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</a:t>
            </a:r>
            <a:r>
              <a:rPr lang="fr-FR" sz="3600" dirty="0"/>
              <a:t> 5. Communication (Inter-process Communication - IPC)</a:t>
            </a:r>
            <a:endParaRPr lang="en-IN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2D0E6BC-8860-7827-18B8-EDD1A7DC9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69924" y="1787128"/>
            <a:ext cx="967604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for communication between processes.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Examples: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pipe()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 a communication pipe(output of one p1 used </a:t>
            </a: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as input to p2)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shmget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shmat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shared memory operations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msgget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msgsnd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msgrcv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message queues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semget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semop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semaphores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socket()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create network socket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bind()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listen()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/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connect()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– socket operations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02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5"/>
          <p:cNvGrpSpPr/>
          <p:nvPr/>
        </p:nvGrpSpPr>
        <p:grpSpPr>
          <a:xfrm>
            <a:off x="1722778" y="887897"/>
            <a:ext cx="8706677" cy="5671436"/>
            <a:chOff x="0" y="0"/>
            <a:chExt cx="8706677" cy="5671436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6704142" cy="1020858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5" name="Google Shape;145;p15"/>
            <p:cNvSpPr txBox="1"/>
            <p:nvPr/>
          </p:nvSpPr>
          <p:spPr>
            <a:xfrm>
              <a:off x="29900" y="29900"/>
              <a:ext cx="5483115" cy="961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HLL provide System Call Interface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500633" y="1162644"/>
              <a:ext cx="6704142" cy="1020858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7" name="Google Shape;147;p15"/>
            <p:cNvSpPr txBox="1"/>
            <p:nvPr/>
          </p:nvSpPr>
          <p:spPr>
            <a:xfrm>
              <a:off x="530533" y="1192544"/>
              <a:ext cx="5480149" cy="961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500"/>
                <a:buFont typeface="Calibri"/>
                <a:buNone/>
              </a:pPr>
              <a:r>
                <a:rPr lang="en-US" sz="25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Program makes </a:t>
              </a:r>
              <a:r>
                <a:rPr lang="en-US" sz="25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API Call </a:t>
              </a:r>
              <a:r>
                <a:rPr lang="en-US" sz="18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application programming interface)</a:t>
              </a:r>
              <a:endParaRPr sz="2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001267" y="2325289"/>
              <a:ext cx="6704142" cy="1020858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49" name="Google Shape;149;p15"/>
            <p:cNvSpPr txBox="1"/>
            <p:nvPr/>
          </p:nvSpPr>
          <p:spPr>
            <a:xfrm>
              <a:off x="1031167" y="2355189"/>
              <a:ext cx="5480149" cy="961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5250" tIns="95250" rIns="95250" bIns="95250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2500"/>
              </a:pPr>
              <a:r>
                <a:rPr lang="en-US" sz="25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API trapped by </a:t>
              </a:r>
              <a:r>
                <a:rPr lang="en-US" sz="25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RTL 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(run time library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(</a:t>
              </a: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glibc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</a:t>
              </a:r>
              <a:r>
                <a:rPr lang="en-US" sz="1800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linux</a:t>
              </a:r>
              <a:r>
                <a:rPr lang="en-US" sz="1800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25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501901" y="3487933"/>
              <a:ext cx="6704142" cy="1020858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1" name="Google Shape;151;p15"/>
            <p:cNvSpPr txBox="1"/>
            <p:nvPr/>
          </p:nvSpPr>
          <p:spPr>
            <a:xfrm>
              <a:off x="1531801" y="3517833"/>
              <a:ext cx="5480149" cy="961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RTL </a:t>
              </a:r>
              <a:r>
                <a:rPr lang="en-US" sz="2700" b="1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places system calls</a:t>
              </a:r>
              <a:r>
                <a:rPr lang="en-US" sz="27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register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(write()=system call number 4 in </a:t>
              </a:r>
              <a:r>
                <a:rPr lang="en-US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linux</a:t>
              </a:r>
              <a:r>
                <a:rPr lang="en-US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2002535" y="4650578"/>
              <a:ext cx="6704142" cy="1020858"/>
            </a:xfrm>
            <a:prstGeom prst="roundRect">
              <a:avLst>
                <a:gd name="adj" fmla="val 10000"/>
              </a:avLst>
            </a:prstGeom>
            <a:solidFill>
              <a:schemeClr val="lt1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4901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2032435" y="4680478"/>
              <a:ext cx="5480149" cy="961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ctr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Calibri"/>
                <a:buNone/>
              </a:pPr>
              <a:r>
                <a:rPr lang="en-US" sz="2700" b="1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Places parameters</a:t>
              </a:r>
              <a:r>
                <a:rPr lang="en-US" sz="27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in specific locations and Completes System Call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6040583" y="745793"/>
              <a:ext cx="663558" cy="66355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6189884" y="745793"/>
              <a:ext cx="364956" cy="49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6541217" y="1908438"/>
              <a:ext cx="663558" cy="66355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6690518" y="1908438"/>
              <a:ext cx="364956" cy="49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7041851" y="3054068"/>
              <a:ext cx="663558" cy="66355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7191152" y="3054068"/>
              <a:ext cx="364956" cy="49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7542485" y="4228056"/>
              <a:ext cx="663558" cy="663558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chemeClr val="lt1">
                <a:alpha val="89803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61" name="Google Shape;161;p15"/>
            <p:cNvSpPr txBox="1"/>
            <p:nvPr/>
          </p:nvSpPr>
          <p:spPr>
            <a:xfrm>
              <a:off x="7691786" y="4228056"/>
              <a:ext cx="364956" cy="4993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" tIns="38100" rIns="38100" bIns="381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000"/>
                <a:buFont typeface="Calibri"/>
                <a:buNone/>
              </a:pPr>
              <a:endPara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2" name="Google Shape;162;p15"/>
          <p:cNvSpPr txBox="1">
            <a:spLocks noGrp="1"/>
          </p:cNvSpPr>
          <p:nvPr>
            <p:ph type="title"/>
          </p:nvPr>
        </p:nvSpPr>
        <p:spPr>
          <a:xfrm>
            <a:off x="1874838" y="112712"/>
            <a:ext cx="7497762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System Call Implementation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E7CE-1807-8001-A59D-DF8BF6D3A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Simple Analogy for Students 🎓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F1222-5E47-3EAD-4312-AA2F2B6CBD1A}"/>
              </a:ext>
            </a:extLst>
          </p:cNvPr>
          <p:cNvSpPr txBox="1"/>
          <p:nvPr/>
        </p:nvSpPr>
        <p:spPr>
          <a:xfrm>
            <a:off x="845574" y="1366685"/>
            <a:ext cx="8298426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Think of it like ordering food at a restaurant: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HLL: You → want pizza 🍕 (write code).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API: You tell the waiter → “One pizza please” (API call).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RTL: Waiter understands menu &amp; kitchen rules → translates your request.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Call in Register: Waiter writes order on a slip (system call number).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Parameters: Size = Large, Toppings = Cheese (parameters).</a:t>
            </a: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Kernel (Kitchen): Prepares &amp; serves the pizza 🍕 (executes request).</a:t>
            </a:r>
          </a:p>
          <a:p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👉 So, students should </a:t>
            </a:r>
            <a:r>
              <a:rPr lang="en-IN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remember:We</a:t>
            </a: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call API → RTL converts → System call number goes to register → Parameters set → OS executes.</a:t>
            </a:r>
          </a:p>
        </p:txBody>
      </p:sp>
    </p:spTree>
    <p:extLst>
      <p:ext uri="{BB962C8B-B14F-4D97-AF65-F5344CB8AC3E}">
        <p14:creationId xmlns:p14="http://schemas.microsoft.com/office/powerpoint/2010/main" val="4144178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When a user initiates to execute a C program, CPU runs in ____ mode.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a) user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b) kernel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c) supervisory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dirty="0"/>
              <a:t>d) system</a:t>
            </a:r>
            <a:endParaRPr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4953-2993-F5DE-EB3D-255422407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D7587C-54E4-9BC5-B33D-1A2BB9FB269D}"/>
              </a:ext>
            </a:extLst>
          </p:cNvPr>
          <p:cNvSpPr txBox="1"/>
          <p:nvPr/>
        </p:nvSpPr>
        <p:spPr>
          <a:xfrm>
            <a:off x="806245" y="1366685"/>
            <a:ext cx="83377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user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✅</a:t>
            </a:r>
          </a:p>
        </p:txBody>
      </p:sp>
    </p:spTree>
    <p:extLst>
      <p:ext uri="{BB962C8B-B14F-4D97-AF65-F5344CB8AC3E}">
        <p14:creationId xmlns:p14="http://schemas.microsoft.com/office/powerpoint/2010/main" val="1303543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8"/>
          <p:cNvSpPr txBox="1">
            <a:spLocks noGrp="1"/>
          </p:cNvSpPr>
          <p:nvPr>
            <p:ph type="body" idx="1"/>
          </p:nvPr>
        </p:nvSpPr>
        <p:spPr>
          <a:xfrm>
            <a:off x="1965325" y="1092201"/>
            <a:ext cx="8229600" cy="495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ts val="2400"/>
              <a:buNone/>
            </a:pPr>
            <a:r>
              <a:rPr lang="en-US" sz="2400" dirty="0"/>
              <a:t>Which program signal for the occurrence of an event either from the hardware or the software?</a:t>
            </a:r>
            <a:endParaRPr dirty="0"/>
          </a:p>
          <a:p>
            <a:pPr marL="0" indent="0">
              <a:spcBef>
                <a:spcPts val="480"/>
              </a:spcBef>
              <a:buSzPts val="2400"/>
              <a:buNone/>
            </a:pPr>
            <a:r>
              <a:rPr lang="en-US" sz="2400" dirty="0"/>
              <a:t>a) Bootstrap program</a:t>
            </a:r>
            <a:endParaRPr dirty="0"/>
          </a:p>
          <a:p>
            <a:pPr marL="0" indent="0">
              <a:spcBef>
                <a:spcPts val="480"/>
              </a:spcBef>
              <a:buSzPts val="2400"/>
              <a:buNone/>
            </a:pPr>
            <a:r>
              <a:rPr lang="en-US" sz="2400" dirty="0"/>
              <a:t>b) Interrupt</a:t>
            </a:r>
            <a:endParaRPr dirty="0"/>
          </a:p>
          <a:p>
            <a:pPr marL="0" indent="0">
              <a:spcBef>
                <a:spcPts val="480"/>
              </a:spcBef>
              <a:buSzPts val="2400"/>
              <a:buNone/>
            </a:pPr>
            <a:r>
              <a:rPr lang="en-US" sz="2400" dirty="0"/>
              <a:t>c) Disk Controller</a:t>
            </a:r>
            <a:endParaRPr dirty="0"/>
          </a:p>
          <a:p>
            <a:pPr marL="0" indent="0">
              <a:spcBef>
                <a:spcPts val="480"/>
              </a:spcBef>
              <a:buSzPts val="2400"/>
              <a:buNone/>
            </a:pPr>
            <a:r>
              <a:rPr lang="en-US" sz="2400" dirty="0"/>
              <a:t>d) CPU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4AAD-3117-2E8A-B169-C38258B9E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C8F2A2-3EF1-5B2A-0460-C68368252F13}"/>
              </a:ext>
            </a:extLst>
          </p:cNvPr>
          <p:cNvSpPr txBox="1"/>
          <p:nvPr/>
        </p:nvSpPr>
        <p:spPr>
          <a:xfrm>
            <a:off x="914400" y="1288027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b) Interrupt</a:t>
            </a:r>
            <a:r>
              <a:rPr lang="en-IN" sz="2400" dirty="0"/>
              <a:t> ✅</a:t>
            </a:r>
          </a:p>
        </p:txBody>
      </p:sp>
    </p:spTree>
    <p:extLst>
      <p:ext uri="{BB962C8B-B14F-4D97-AF65-F5344CB8AC3E}">
        <p14:creationId xmlns:p14="http://schemas.microsoft.com/office/powerpoint/2010/main" val="9886985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FB0674-0B4E-7C53-6528-46121483F455}"/>
              </a:ext>
            </a:extLst>
          </p:cNvPr>
          <p:cNvSpPr txBox="1"/>
          <p:nvPr/>
        </p:nvSpPr>
        <p:spPr>
          <a:xfrm>
            <a:off x="924232" y="1307691"/>
            <a:ext cx="821976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Which type of interrupt is triggered when a program tries to access an invalid memory address?</a:t>
            </a:r>
          </a:p>
          <a:p>
            <a:r>
              <a:rPr lang="en-US" sz="2400" dirty="0"/>
              <a:t>a) Hardware interrupt</a:t>
            </a:r>
            <a:br>
              <a:rPr lang="en-US" sz="2400" dirty="0"/>
            </a:br>
            <a:r>
              <a:rPr lang="en-US" sz="2400" dirty="0"/>
              <a:t>b) Software interrupt</a:t>
            </a:r>
            <a:br>
              <a:rPr lang="en-US" sz="2400" dirty="0"/>
            </a:br>
            <a:r>
              <a:rPr lang="en-US" sz="2400" dirty="0"/>
              <a:t>c) Spurious interrupt</a:t>
            </a:r>
            <a:br>
              <a:rPr lang="en-US" sz="2400" dirty="0"/>
            </a:br>
            <a:r>
              <a:rPr lang="en-US" sz="2400" dirty="0"/>
              <a:t>d) Masked interrupt</a:t>
            </a:r>
          </a:p>
        </p:txBody>
      </p:sp>
    </p:spTree>
    <p:extLst>
      <p:ext uri="{BB962C8B-B14F-4D97-AF65-F5344CB8AC3E}">
        <p14:creationId xmlns:p14="http://schemas.microsoft.com/office/powerpoint/2010/main" val="26443454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ADE6F-0491-AC0F-9FE6-15B02FB0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8CA47-1F30-6255-39C2-CB0DBF67E69C}"/>
              </a:ext>
            </a:extLst>
          </p:cNvPr>
          <p:cNvSpPr txBox="1"/>
          <p:nvPr/>
        </p:nvSpPr>
        <p:spPr>
          <a:xfrm>
            <a:off x="1042219" y="1327355"/>
            <a:ext cx="81017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Software interrupt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✅</a:t>
            </a:r>
          </a:p>
        </p:txBody>
      </p:sp>
    </p:spTree>
    <p:extLst>
      <p:ext uri="{BB962C8B-B14F-4D97-AF65-F5344CB8AC3E}">
        <p14:creationId xmlns:p14="http://schemas.microsoft.com/office/powerpoint/2010/main" val="2555956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9ABD6-1CF9-0005-3108-9368A95E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7F6598-D41E-31FF-4317-49A685B4A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16" y="-2164415"/>
            <a:ext cx="7551387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system call exec() is used for: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Terminating a process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Creating a new process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Replacing the current process image with a new process image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Reading a file </a:t>
            </a:r>
          </a:p>
        </p:txBody>
      </p:sp>
    </p:spTree>
    <p:extLst>
      <p:ext uri="{BB962C8B-B14F-4D97-AF65-F5344CB8AC3E}">
        <p14:creationId xmlns:p14="http://schemas.microsoft.com/office/powerpoint/2010/main" val="513919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1CF3A-0B60-FE93-6F47-3121EFA37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4EBDA-C646-6E50-698D-7E6B7C82E716}"/>
              </a:ext>
            </a:extLst>
          </p:cNvPr>
          <p:cNvSpPr txBox="1"/>
          <p:nvPr/>
        </p:nvSpPr>
        <p:spPr>
          <a:xfrm>
            <a:off x="599768" y="1209369"/>
            <a:ext cx="85442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Replacing the current process image with a new process image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✅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175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FB7E-DFAB-1DB3-5BFE-BE441D000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21E97A-294D-BC45-DF12-A2BFFAD8CD18}"/>
              </a:ext>
            </a:extLst>
          </p:cNvPr>
          <p:cNvSpPr txBox="1"/>
          <p:nvPr/>
        </p:nvSpPr>
        <p:spPr>
          <a:xfrm>
            <a:off x="442452" y="1120878"/>
            <a:ext cx="870154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File descriptor in a system call refers to:</a:t>
            </a:r>
            <a:br>
              <a:rPr lang="en-US" sz="2000" dirty="0"/>
            </a:br>
            <a:r>
              <a:rPr lang="en-US" sz="2000" dirty="0"/>
              <a:t>a) File type</a:t>
            </a:r>
            <a:br>
              <a:rPr lang="en-US" sz="2000" dirty="0"/>
            </a:br>
            <a:r>
              <a:rPr lang="en-US" sz="2000" dirty="0"/>
              <a:t>b) File location in secondary storage</a:t>
            </a:r>
            <a:br>
              <a:rPr lang="en-US" sz="2000" dirty="0"/>
            </a:br>
            <a:r>
              <a:rPr lang="en-US" sz="2000" dirty="0"/>
              <a:t>c) An integer representing an opened file</a:t>
            </a:r>
            <a:br>
              <a:rPr lang="en-US" sz="2000" dirty="0"/>
            </a:br>
            <a:r>
              <a:rPr lang="en-US" sz="2000" dirty="0"/>
              <a:t>d) File permissions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585270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EF61-12EA-F5A3-7943-681A92DCC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E31853-FC65-1B59-2978-581E01D5997C}"/>
              </a:ext>
            </a:extLst>
          </p:cNvPr>
          <p:cNvSpPr txBox="1"/>
          <p:nvPr/>
        </p:nvSpPr>
        <p:spPr>
          <a:xfrm>
            <a:off x="530942" y="1396181"/>
            <a:ext cx="86130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An integer representing an opened file</a:t>
            </a:r>
          </a:p>
        </p:txBody>
      </p:sp>
    </p:spTree>
    <p:extLst>
      <p:ext uri="{BB962C8B-B14F-4D97-AF65-F5344CB8AC3E}">
        <p14:creationId xmlns:p14="http://schemas.microsoft.com/office/powerpoint/2010/main" val="22647982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/>
        </p:nvSpPr>
        <p:spPr>
          <a:xfrm>
            <a:off x="1605116" y="1043704"/>
            <a:ext cx="8772525" cy="2692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/>
              <a:t>Process Management</a:t>
            </a:r>
            <a:endParaRPr sz="66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482077D-6C30-FD88-9B72-13BBC8BA8FA6}"/>
              </a:ext>
            </a:extLst>
          </p:cNvPr>
          <p:cNvSpPr txBox="1"/>
          <p:nvPr/>
        </p:nvSpPr>
        <p:spPr>
          <a:xfrm>
            <a:off x="1356852" y="648930"/>
            <a:ext cx="7787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Process Concept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8A4485-6995-9B21-B4E6-40384156A8F2}"/>
              </a:ext>
            </a:extLst>
          </p:cNvPr>
          <p:cNvSpPr txBox="1"/>
          <p:nvPr/>
        </p:nvSpPr>
        <p:spPr>
          <a:xfrm>
            <a:off x="1219200" y="2143431"/>
            <a:ext cx="840658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process is a program in execution.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Contains: program code, data, resources (files, memory, </a:t>
            </a:r>
            <a:r>
              <a:rPr lang="en-US" sz="2000" dirty="0" err="1"/>
              <a:t>etc</a:t>
            </a:r>
            <a:r>
              <a:rPr lang="en-US" sz="20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Differentiates from a program: active vs passive.</a:t>
            </a:r>
          </a:p>
        </p:txBody>
      </p:sp>
    </p:spTree>
    <p:extLst>
      <p:ext uri="{BB962C8B-B14F-4D97-AF65-F5344CB8AC3E}">
        <p14:creationId xmlns:p14="http://schemas.microsoft.com/office/powerpoint/2010/main" val="8021376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3329AB4-E027-69EE-F628-5FAAE7272C0F}"/>
              </a:ext>
            </a:extLst>
          </p:cNvPr>
          <p:cNvSpPr txBox="1"/>
          <p:nvPr/>
        </p:nvSpPr>
        <p:spPr>
          <a:xfrm>
            <a:off x="776748" y="845574"/>
            <a:ext cx="83672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Process Life Cycle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33193A-70D0-E598-140E-2B8547C999E1}"/>
              </a:ext>
            </a:extLst>
          </p:cNvPr>
          <p:cNvSpPr txBox="1"/>
          <p:nvPr/>
        </p:nvSpPr>
        <p:spPr>
          <a:xfrm>
            <a:off x="698090" y="1140542"/>
            <a:ext cx="991091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b="1" dirty="0"/>
          </a:p>
          <a:p>
            <a:r>
              <a:rPr lang="en-US" sz="2400" dirty="0"/>
              <a:t>The life cycle of a process includes several states:</a:t>
            </a:r>
          </a:p>
          <a:p>
            <a:endParaRPr lang="en-US" sz="2400" dirty="0"/>
          </a:p>
          <a:p>
            <a:pPr>
              <a:buFont typeface="+mj-lt"/>
              <a:buAutoNum type="arabicPeriod"/>
            </a:pPr>
            <a:r>
              <a:rPr lang="en-US" sz="2400" b="1" dirty="0"/>
              <a:t>New</a:t>
            </a:r>
            <a:r>
              <a:rPr lang="en-US" sz="2400" dirty="0"/>
              <a:t>: Process is being created.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Ready</a:t>
            </a:r>
            <a:r>
              <a:rPr lang="en-US" sz="2400" dirty="0"/>
              <a:t>: Waiting to be assigned to a CPU.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Running</a:t>
            </a:r>
            <a:r>
              <a:rPr lang="en-US" sz="2400" dirty="0"/>
              <a:t>: Instructions are being executed.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Waiting (Blocked)</a:t>
            </a:r>
            <a:r>
              <a:rPr lang="en-US" sz="2400" dirty="0"/>
              <a:t>: Waiting for some event (like I/O).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Terminated</a:t>
            </a:r>
            <a:r>
              <a:rPr lang="en-US" sz="2400" dirty="0"/>
              <a:t>: Finished execution.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Suspended</a:t>
            </a:r>
            <a:r>
              <a:rPr lang="en-US" sz="2400" dirty="0"/>
              <a:t>: Process is temporarily moved out of main memory.</a:t>
            </a:r>
          </a:p>
        </p:txBody>
      </p:sp>
    </p:spTree>
    <p:extLst>
      <p:ext uri="{BB962C8B-B14F-4D97-AF65-F5344CB8AC3E}">
        <p14:creationId xmlns:p14="http://schemas.microsoft.com/office/powerpoint/2010/main" val="42623839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>
            <a:extLst>
              <a:ext uri="{FF2B5EF4-FFF2-40B4-BE49-F238E27FC236}">
                <a16:creationId xmlns:a16="http://schemas.microsoft.com/office/drawing/2014/main" id="{0C453614-D557-9449-D073-766F4AAB89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46"/>
          <a:stretch>
            <a:fillRect/>
          </a:stretch>
        </p:blipFill>
        <p:spPr bwMode="auto">
          <a:xfrm>
            <a:off x="2286000" y="1317522"/>
            <a:ext cx="7239000" cy="40736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5305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17AB7E-709A-C1E7-E7A0-1FDBE8EA77FB}"/>
              </a:ext>
            </a:extLst>
          </p:cNvPr>
          <p:cNvSpPr txBox="1"/>
          <p:nvPr/>
        </p:nvSpPr>
        <p:spPr>
          <a:xfrm>
            <a:off x="2301240" y="60811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3. Process Control Block (PCB)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7504BB-5A1D-0FA6-B2B1-C8EA1390B17B}"/>
              </a:ext>
            </a:extLst>
          </p:cNvPr>
          <p:cNvSpPr txBox="1"/>
          <p:nvPr/>
        </p:nvSpPr>
        <p:spPr>
          <a:xfrm>
            <a:off x="952500" y="1173480"/>
            <a:ext cx="81915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Each process is represented in the OS by a </a:t>
            </a:r>
            <a:r>
              <a:rPr lang="en-US" sz="2000" b="1" dirty="0"/>
              <a:t>PCB</a:t>
            </a:r>
            <a:r>
              <a:rPr lang="en-US" sz="2000" dirty="0"/>
              <a:t>, which contains:</a:t>
            </a:r>
          </a:p>
          <a:p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Process ID (PID)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Process state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Program counter                            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CPU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Memory limits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 files list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Accounting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I/O status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61F2B5-3E21-717D-3589-91589A62D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221" y="1676399"/>
            <a:ext cx="2971800" cy="317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739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xfrm>
            <a:off x="2220912" y="482600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3200"/>
            </a:pPr>
            <a:r>
              <a:rPr lang="en-US" sz="32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Context Switch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1866900" y="1295400"/>
            <a:ext cx="3632200" cy="49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spcBef>
                <a:spcPts val="0"/>
              </a:spcBef>
              <a:buSzPts val="2520"/>
              <a:buNone/>
            </a:pP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When CPU switches to another process, the </a:t>
            </a:r>
            <a:r>
              <a:rPr lang="en-US" sz="2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</a:t>
            </a: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 must </a:t>
            </a:r>
            <a:r>
              <a:rPr lang="en-US" sz="2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save</a:t>
            </a: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 the </a:t>
            </a:r>
            <a:r>
              <a:rPr lang="en-US" sz="2800">
                <a:solidFill>
                  <a:srgbClr val="FF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state of the old process in the stack</a:t>
            </a:r>
            <a:r>
              <a:rPr lang="en-US" sz="2800">
                <a:latin typeface="Helvetica Neue"/>
                <a:ea typeface="Helvetica Neue"/>
                <a:cs typeface="Helvetica Neue"/>
                <a:sym typeface="Helvetica Neue"/>
              </a:rPr>
              <a:t> and load the saved state for the new process or reload the state of current process from stack.</a:t>
            </a:r>
            <a:endParaRPr/>
          </a:p>
          <a:p>
            <a:pPr marL="342900" indent="-182880">
              <a:spcBef>
                <a:spcPts val="980"/>
              </a:spcBef>
              <a:buSzPts val="2520"/>
              <a:buNone/>
            </a:pPr>
            <a:endParaRPr sz="28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1" name="Google Shape;121;p20" descr="Process Context Switch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42050" y="1358901"/>
            <a:ext cx="3917950" cy="49672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A1AF4-07A2-837D-573D-144F4E572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924" y="1179871"/>
            <a:ext cx="10850563" cy="4963754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/>
              <a:t>Context Switch:</a:t>
            </a:r>
          </a:p>
          <a:p>
            <a:pPr>
              <a:buFont typeface="+mj-lt"/>
              <a:buAutoNum type="arabicPeriod"/>
            </a:pPr>
            <a:r>
              <a:rPr lang="en-US" dirty="0"/>
              <a:t>Save the current process's state (e.g., CPU registers, program counter, memory map).</a:t>
            </a:r>
          </a:p>
          <a:p>
            <a:pPr>
              <a:buFont typeface="+mj-lt"/>
              <a:buAutoNum type="arabicPeriod"/>
            </a:pPr>
            <a:r>
              <a:rPr lang="en-US" dirty="0"/>
              <a:t>Update process control blocks (PCBs).</a:t>
            </a:r>
          </a:p>
          <a:p>
            <a:pPr>
              <a:buFont typeface="+mj-lt"/>
              <a:buAutoNum type="arabicPeriod"/>
            </a:pPr>
            <a:r>
              <a:rPr lang="en-US" dirty="0"/>
              <a:t>Load the new process's saved state.</a:t>
            </a:r>
          </a:p>
          <a:p>
            <a:pPr>
              <a:buFont typeface="+mj-lt"/>
              <a:buAutoNum type="arabicPeriod"/>
            </a:pPr>
            <a:r>
              <a:rPr lang="en-US" dirty="0"/>
              <a:t>Transfer control to the new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8237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B660-DAC1-9360-6283-45947A014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672" y="1020101"/>
            <a:ext cx="10850563" cy="952496"/>
          </a:xfrm>
        </p:spPr>
        <p:txBody>
          <a:bodyPr>
            <a:normAutofit fontScale="90000"/>
          </a:bodyPr>
          <a:lstStyle/>
          <a:p>
            <a:br>
              <a:rPr lang="en-US" sz="4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 Switching Process</a:t>
            </a:r>
            <a:br>
              <a:rPr lang="en-US" sz="4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A7903-2F5E-BA0B-CD71-6ECF8805E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3100" b="1" dirty="0">
              <a:solidFill>
                <a:srgbClr val="161616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 algn="l">
              <a:buNone/>
            </a:pPr>
            <a:r>
              <a:rPr lang="en-US" sz="31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context switching process can be illustrated as follows:</a:t>
            </a:r>
          </a:p>
          <a:p>
            <a:pPr marL="114300" indent="0" algn="l">
              <a:buNone/>
            </a:pPr>
            <a:endParaRPr lang="en-US" sz="3100" b="1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 algn="l">
              <a:buNone/>
            </a:pPr>
            <a:r>
              <a:rPr lang="en-US" sz="31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Running Process A:</a:t>
            </a:r>
          </a:p>
          <a:p>
            <a:pPr marL="114300" indent="0" algn="l">
              <a:buNone/>
            </a:pPr>
            <a:endParaRPr lang="en-US" sz="31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14300" indent="0" algn="l">
              <a:buNone/>
            </a:pPr>
            <a:r>
              <a:rPr lang="en-US" sz="31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CPU is executing Process A.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1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 Interrupt/System Call:</a:t>
            </a:r>
            <a:endParaRPr lang="en-US" sz="31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1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timer interrupt or system call occurs, indicating the need to switch processes.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1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Saving Context of Process A:</a:t>
            </a:r>
            <a:endParaRPr lang="en-US" sz="31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1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OS saves the context of Process A into its Process Control Block (PCB). This includes saving registers, program counter (PC), stack pointer, etc.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6077568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9755E-1684-6DDF-3932-94ED3E806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Contd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0BB03-36D5-0C40-DAB8-0ECF402B8F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Scheduler Selects Process B:</a:t>
            </a:r>
            <a:endParaRPr lang="en-US" sz="24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scheduler selects Process B for execution.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Loading Context of Process B:</a:t>
            </a:r>
            <a:endParaRPr lang="en-US" sz="24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OS loads the context of Process B from its PCB, restoring registers, PC, stack pointer, etc.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Executing Process B:</a:t>
            </a:r>
            <a:endParaRPr lang="en-US" sz="2400" b="0" i="0" dirty="0">
              <a:solidFill>
                <a:srgbClr val="161616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16161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CPU now runs Process B.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5361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>
            <a:spLocks noGrp="1"/>
          </p:cNvSpPr>
          <p:nvPr>
            <p:ph type="title"/>
          </p:nvPr>
        </p:nvSpPr>
        <p:spPr>
          <a:xfrm>
            <a:off x="2047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3200"/>
            </a:pPr>
            <a:r>
              <a:rPr lang="en-US" sz="32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Queues</a:t>
            </a:r>
            <a:endParaRPr/>
          </a:p>
        </p:txBody>
      </p:sp>
      <p:sp>
        <p:nvSpPr>
          <p:cNvPr id="151" name="Google Shape;151;p25"/>
          <p:cNvSpPr txBox="1">
            <a:spLocks noGrp="1"/>
          </p:cNvSpPr>
          <p:nvPr>
            <p:ph type="body" idx="1"/>
          </p:nvPr>
        </p:nvSpPr>
        <p:spPr>
          <a:xfrm>
            <a:off x="1790700" y="1581150"/>
            <a:ext cx="8432800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spcBef>
                <a:spcPts val="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The OS maintains all PCBs in Process Scheduling Queues. </a:t>
            </a:r>
            <a:endParaRPr dirty="0"/>
          </a:p>
          <a:p>
            <a:pPr marL="342900" indent="-20574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algn="just">
              <a:spcBef>
                <a:spcPts val="84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The OS maintains a separate queue for each of the process states and PCBs of all processes in the same execution state are placed in the same queue. </a:t>
            </a:r>
            <a:endParaRPr dirty="0"/>
          </a:p>
          <a:p>
            <a:pPr marL="342900" indent="-20574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algn="just">
              <a:spcBef>
                <a:spcPts val="84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When the state of a process is changed, its PCB is unlinked from its current queue and moved to its new state queue.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>
            <a:spLocks noGrp="1"/>
          </p:cNvSpPr>
          <p:nvPr>
            <p:ph type="title"/>
          </p:nvPr>
        </p:nvSpPr>
        <p:spPr>
          <a:xfrm>
            <a:off x="2047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3200"/>
            </a:pPr>
            <a:r>
              <a:rPr lang="en-US" sz="32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Scheduling Queues</a:t>
            </a:r>
            <a:endParaRPr/>
          </a:p>
        </p:txBody>
      </p:sp>
      <p:sp>
        <p:nvSpPr>
          <p:cNvPr id="157" name="Google Shape;157;p26"/>
          <p:cNvSpPr txBox="1">
            <a:spLocks noGrp="1"/>
          </p:cNvSpPr>
          <p:nvPr>
            <p:ph type="body" idx="1"/>
          </p:nvPr>
        </p:nvSpPr>
        <p:spPr>
          <a:xfrm>
            <a:off x="1543665" y="1581150"/>
            <a:ext cx="8679835" cy="4921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spcBef>
                <a:spcPts val="0"/>
              </a:spcBef>
              <a:buSzPts val="2160"/>
              <a:buNone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Schedulers fall into one of two general categories:</a:t>
            </a:r>
            <a:endParaRPr dirty="0"/>
          </a:p>
          <a:p>
            <a:pPr marL="114300" indent="0" algn="l" fontAlgn="base">
              <a:buNone/>
            </a:pPr>
            <a:endParaRPr lang="en-US" sz="2400" dirty="0">
              <a:latin typeface="Helvetica Neue"/>
              <a:ea typeface="Calibri" panose="020F0502020204030204" pitchFamily="34" charset="0"/>
              <a:cs typeface="Calibri" panose="020F0502020204030204" pitchFamily="34" charset="0"/>
              <a:sym typeface="Helvetica Neue"/>
            </a:endParaRPr>
          </a:p>
          <a:p>
            <a:pPr marL="114300" indent="0" algn="l" fontAlgn="base"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Non-Preemptive: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In this case, a process's resource cannot be taken before the process has finished running. When a running process finishes and transitions to a waiting state, resources are switched.</a:t>
            </a:r>
          </a:p>
          <a:p>
            <a:pPr marL="0" indent="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r>
              <a:rPr lang="en-US" sz="2400" b="1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Preemptive: 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this case, the OS can switch a process from    running state to ready state. This switching happens because the CPU may give other processes priority and substitute the currently active process for the higher priority process</a:t>
            </a:r>
            <a:endParaRPr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772895-7DE8-1A50-510C-35D469321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57" y="955649"/>
            <a:ext cx="11363325" cy="494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1529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>
            <a:spLocks noGrp="1"/>
          </p:cNvSpPr>
          <p:nvPr>
            <p:ph type="title"/>
          </p:nvPr>
        </p:nvSpPr>
        <p:spPr>
          <a:xfrm>
            <a:off x="2047875" y="657225"/>
            <a:ext cx="807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3200"/>
            </a:pPr>
            <a:r>
              <a:rPr lang="en-US" sz="3200" b="1" dirty="0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Process Scheduling Queues</a:t>
            </a:r>
            <a:endParaRPr dirty="0"/>
          </a:p>
        </p:txBody>
      </p:sp>
      <p:pic>
        <p:nvPicPr>
          <p:cNvPr id="169" name="Google Shape;169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5467" y="1751371"/>
            <a:ext cx="7143750" cy="44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2071687" y="177800"/>
            <a:ext cx="6538912" cy="684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2400"/>
            </a:pPr>
            <a:r>
              <a:rPr lang="en-US" sz="24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Representation of Process Scheduling</a:t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 rotWithShape="1">
          <a:blip r:embed="rId3">
            <a:alphaModFix/>
          </a:blip>
          <a:srcRect l="665" t="11595" r="888" b="12130"/>
          <a:stretch/>
        </p:blipFill>
        <p:spPr>
          <a:xfrm>
            <a:off x="2624138" y="2259013"/>
            <a:ext cx="7227887" cy="4200525"/>
          </a:xfrm>
          <a:prstGeom prst="rect">
            <a:avLst/>
          </a:prstGeom>
          <a:noFill/>
          <a:ln w="381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pic>
      <p:sp>
        <p:nvSpPr>
          <p:cNvPr id="176" name="Google Shape;176;p29"/>
          <p:cNvSpPr txBox="1"/>
          <p:nvPr/>
        </p:nvSpPr>
        <p:spPr>
          <a:xfrm>
            <a:off x="3619500" y="1103312"/>
            <a:ext cx="4127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algn="ctr">
              <a:buClr>
                <a:srgbClr val="993300"/>
              </a:buClr>
              <a:buSzPts val="3200"/>
            </a:pPr>
            <a:r>
              <a:rPr lang="en-US" sz="32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Queuing Diagram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2DFF5F-B009-6FB0-A24A-028A0D5F5620}"/>
              </a:ext>
            </a:extLst>
          </p:cNvPr>
          <p:cNvSpPr txBox="1"/>
          <p:nvPr/>
        </p:nvSpPr>
        <p:spPr>
          <a:xfrm>
            <a:off x="3840480" y="768132"/>
            <a:ext cx="56997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4. Operations on Processes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F6B503A-3802-E4DF-19CD-994D4162C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270" y="1033185"/>
            <a:ext cx="9940413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 dirty="0"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Process Creation</a:t>
            </a:r>
          </a:p>
          <a:p>
            <a:pPr algn="just"/>
            <a:endParaRPr lang="en-US" sz="2400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Process Termination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955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8F40B3E-3F9B-3416-0E12-2175305EE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791106"/>
            <a:ext cx="118872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4F0A438-63DB-1C88-2974-8B6B8CD0B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103" y="698173"/>
            <a:ext cx="1243780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 for Process Creation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process is usually created by another process (called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 process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via system calls. </a:t>
            </a:r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xample: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Unix/Linux: fork()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 Windows: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CreateProcess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Assign a Unique Process ID (PID)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OS assigns a unique identifier to the new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Allocate Resources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OS allocates necessary resources like memory, I/O devices, and CPU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52F2F-9722-1D9B-4100-097DF3C5A432}"/>
              </a:ext>
            </a:extLst>
          </p:cNvPr>
          <p:cNvSpPr txBox="1"/>
          <p:nvPr/>
        </p:nvSpPr>
        <p:spPr>
          <a:xfrm>
            <a:off x="4227870" y="471948"/>
            <a:ext cx="55355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Steps in Process Creation</a:t>
            </a:r>
          </a:p>
        </p:txBody>
      </p:sp>
    </p:spTree>
    <p:extLst>
      <p:ext uri="{BB962C8B-B14F-4D97-AF65-F5344CB8AC3E}">
        <p14:creationId xmlns:p14="http://schemas.microsoft.com/office/powerpoint/2010/main" val="35003776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50DFD-AB25-588D-43FE-BD40BF5CCB83}"/>
              </a:ext>
            </a:extLst>
          </p:cNvPr>
          <p:cNvSpPr txBox="1"/>
          <p:nvPr/>
        </p:nvSpPr>
        <p:spPr>
          <a:xfrm>
            <a:off x="1347019" y="786580"/>
            <a:ext cx="845574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Copy Process Attributes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new process (child) may inherit attributes from the parent: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dirty="0"/>
              <a:t>Open file descriptors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dirty="0"/>
              <a:t>Working directory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 variables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 Program into Memory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executable program is loaded into the memory space of the new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6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to Scheduler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process is put into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ready queue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is scheduled for execution.</a:t>
            </a:r>
          </a:p>
        </p:txBody>
      </p:sp>
    </p:spTree>
    <p:extLst>
      <p:ext uri="{BB962C8B-B14F-4D97-AF65-F5344CB8AC3E}">
        <p14:creationId xmlns:p14="http://schemas.microsoft.com/office/powerpoint/2010/main" val="4013711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09EF58-92FC-47C7-F6B7-98F53839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44" y="951992"/>
            <a:ext cx="10503389" cy="42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256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02D667-56F5-244A-0654-288F7B69F7D7}"/>
              </a:ext>
            </a:extLst>
          </p:cNvPr>
          <p:cNvSpPr txBox="1"/>
          <p:nvPr/>
        </p:nvSpPr>
        <p:spPr>
          <a:xfrm>
            <a:off x="953729" y="1022556"/>
            <a:ext cx="81902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 Answer is option C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138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4"/>
          <p:cNvSpPr txBox="1">
            <a:spLocks noGrp="1"/>
          </p:cNvSpPr>
          <p:nvPr>
            <p:ph type="title"/>
          </p:nvPr>
        </p:nvSpPr>
        <p:spPr>
          <a:xfrm>
            <a:off x="2209800" y="546100"/>
            <a:ext cx="4152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>
              <a:buClr>
                <a:srgbClr val="993300"/>
              </a:buClr>
              <a:buSzPts val="3200"/>
            </a:pPr>
            <a:r>
              <a:rPr lang="en-US" sz="3200" b="1">
                <a:solidFill>
                  <a:srgbClr val="9933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endParaRPr/>
          </a:p>
        </p:txBody>
      </p:sp>
      <p:sp>
        <p:nvSpPr>
          <p:cNvPr id="219" name="Google Shape;219;p44"/>
          <p:cNvSpPr txBox="1">
            <a:spLocks noGrp="1"/>
          </p:cNvSpPr>
          <p:nvPr>
            <p:ph type="body" idx="1"/>
          </p:nvPr>
        </p:nvSpPr>
        <p:spPr>
          <a:xfrm>
            <a:off x="186813" y="1366684"/>
            <a:ext cx="8121445" cy="6410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algn="just">
              <a:spcBef>
                <a:spcPts val="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System call </a:t>
            </a:r>
            <a:r>
              <a:rPr lang="en-US" sz="2400" b="1" dirty="0"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is used to create processes.</a:t>
            </a:r>
            <a:endParaRPr dirty="0"/>
          </a:p>
          <a:p>
            <a:pPr marL="342900" indent="-20574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algn="just">
              <a:spcBef>
                <a:spcPts val="84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It takes </a:t>
            </a:r>
            <a:r>
              <a:rPr lang="en-US" sz="2400" b="1" dirty="0">
                <a:latin typeface="Helvetica Neue"/>
                <a:ea typeface="Helvetica Neue"/>
                <a:cs typeface="Helvetica Neue"/>
                <a:sym typeface="Helvetica Neue"/>
              </a:rPr>
              <a:t>no arguments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 and returns a process ID. </a:t>
            </a:r>
            <a:endParaRPr dirty="0"/>
          </a:p>
          <a:p>
            <a:pPr marL="342900" indent="-20574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algn="just">
              <a:spcBef>
                <a:spcPts val="84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The purpose of </a:t>
            </a:r>
            <a:r>
              <a:rPr lang="en-US" sz="2400" b="1" dirty="0"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is to create a </a:t>
            </a:r>
            <a:r>
              <a:rPr lang="en-US" sz="2400" b="1" i="1" dirty="0">
                <a:latin typeface="Helvetica Neue"/>
                <a:ea typeface="Helvetica Neue"/>
                <a:cs typeface="Helvetica Neue"/>
                <a:sym typeface="Helvetica Neue"/>
              </a:rPr>
              <a:t>new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process, which becomes the </a:t>
            </a:r>
            <a:r>
              <a:rPr lang="en-US" sz="2400" i="1" dirty="0">
                <a:latin typeface="Helvetica Neue"/>
                <a:ea typeface="Helvetica Neue"/>
                <a:cs typeface="Helvetica Neue"/>
                <a:sym typeface="Helvetica Neue"/>
              </a:rPr>
              <a:t>child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process of the caller. </a:t>
            </a:r>
            <a:endParaRPr dirty="0"/>
          </a:p>
          <a:p>
            <a:pPr marL="342900" indent="-205740" algn="just">
              <a:spcBef>
                <a:spcPts val="840"/>
              </a:spcBef>
              <a:buClr>
                <a:srgbClr val="993300"/>
              </a:buClr>
              <a:buSzPts val="2160"/>
              <a:buNone/>
            </a:pPr>
            <a:endParaRPr sz="2400" dirty="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algn="just">
              <a:spcBef>
                <a:spcPts val="840"/>
              </a:spcBef>
              <a:buClr>
                <a:srgbClr val="993300"/>
              </a:buClr>
              <a:buSzPts val="2160"/>
              <a:buFont typeface="Arial"/>
              <a:buChar char="●"/>
            </a:pP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After a new child process is created, </a:t>
            </a:r>
            <a:r>
              <a:rPr lang="en-US" sz="2400" b="1" i="1" dirty="0">
                <a:latin typeface="Helvetica Neue"/>
                <a:ea typeface="Helvetica Neue"/>
                <a:cs typeface="Helvetica Neue"/>
                <a:sym typeface="Helvetica Neue"/>
              </a:rPr>
              <a:t>both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processes will execute the next instruction following the </a:t>
            </a:r>
            <a:r>
              <a:rPr lang="en-US" sz="2400" b="1" i="1" dirty="0">
                <a:latin typeface="Helvetica Neue"/>
                <a:ea typeface="Helvetica Neue"/>
                <a:cs typeface="Helvetica Neue"/>
                <a:sym typeface="Helvetica Neue"/>
              </a:rPr>
              <a:t>fork()</a:t>
            </a:r>
            <a:r>
              <a:rPr lang="en-US" sz="2400" dirty="0">
                <a:latin typeface="Helvetica Neue"/>
                <a:ea typeface="Helvetica Neue"/>
                <a:cs typeface="Helvetica Neue"/>
                <a:sym typeface="Helvetica Neue"/>
              </a:rPr>
              <a:t> system call.</a:t>
            </a:r>
            <a:endParaRPr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FBF475C4-A949-7471-A4DE-765757E14F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93057" y="-513901"/>
            <a:ext cx="652681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it Does: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fork()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splits the current process into two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3429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fork(), there are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processes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continues from where fork() was called.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Child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of the parent.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endParaRPr lang="en-US" altLang="en-US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IN" sz="2000" dirty="0"/>
              <a:t>Return Values: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B1BE364-F57A-407E-8A47-F13CB6E68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008771"/>
              </p:ext>
            </p:extLst>
          </p:nvPr>
        </p:nvGraphicFramePr>
        <p:xfrm>
          <a:off x="3362632" y="4316360"/>
          <a:ext cx="6046840" cy="1903118"/>
        </p:xfrm>
        <a:graphic>
          <a:graphicData uri="http://schemas.openxmlformats.org/drawingml/2006/table">
            <a:tbl>
              <a:tblPr/>
              <a:tblGrid>
                <a:gridCol w="3023420">
                  <a:extLst>
                    <a:ext uri="{9D8B030D-6E8A-4147-A177-3AD203B41FA5}">
                      <a16:colId xmlns:a16="http://schemas.microsoft.com/office/drawing/2014/main" val="2037099181"/>
                    </a:ext>
                  </a:extLst>
                </a:gridCol>
                <a:gridCol w="3023420">
                  <a:extLst>
                    <a:ext uri="{9D8B030D-6E8A-4147-A177-3AD203B41FA5}">
                      <a16:colId xmlns:a16="http://schemas.microsoft.com/office/drawing/2014/main" val="3513257162"/>
                    </a:ext>
                  </a:extLst>
                </a:gridCol>
              </a:tblGrid>
              <a:tr h="433399">
                <a:tc>
                  <a:txBody>
                    <a:bodyPr/>
                    <a:lstStyle/>
                    <a:p>
                      <a:r>
                        <a:rPr lang="en-IN" sz="1400"/>
                        <a:t>Return 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8911862"/>
                  </a:ext>
                </a:extLst>
              </a:tr>
              <a:tr h="433399"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Returned in the </a:t>
                      </a:r>
                      <a:r>
                        <a:rPr lang="en-US" sz="1400" b="1"/>
                        <a:t>child process</a:t>
                      </a:r>
                      <a:endParaRPr lang="en-US" sz="1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3197942"/>
                  </a:ext>
                </a:extLst>
              </a:tr>
              <a:tr h="456471">
                <a:tc>
                  <a:txBody>
                    <a:bodyPr/>
                    <a:lstStyle/>
                    <a:p>
                      <a:r>
                        <a:rPr lang="en-IN" sz="1400"/>
                        <a:t>&gt;0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Returned in the </a:t>
                      </a:r>
                      <a:r>
                        <a:rPr lang="en-US" sz="1400" b="1"/>
                        <a:t>parent</a:t>
                      </a:r>
                      <a:r>
                        <a:rPr lang="en-US" sz="1400"/>
                        <a:t>, value is the PID of child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3542472"/>
                  </a:ext>
                </a:extLst>
              </a:tr>
              <a:tr h="433399">
                <a:tc>
                  <a:txBody>
                    <a:bodyPr/>
                    <a:lstStyle/>
                    <a:p>
                      <a:r>
                        <a:rPr lang="en-IN" sz="1400"/>
                        <a:t>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Fork failed (e.g., too many processes)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5771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04448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775E88-309E-8CE4-1AA2-C5C7C351C4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16" y="1028700"/>
            <a:ext cx="7557934" cy="498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528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328D3001-A261-EE86-C260-D00EB067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lseek</a:t>
            </a:r>
            <a:r>
              <a:rPr lang="en-US" dirty="0"/>
              <a:t>()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7D251EE-95E9-F7D8-EE19-7798BDC39AFB}"/>
              </a:ext>
            </a:extLst>
          </p:cNvPr>
          <p:cNvSpPr txBox="1"/>
          <p:nvPr/>
        </p:nvSpPr>
        <p:spPr>
          <a:xfrm>
            <a:off x="501445" y="1160206"/>
            <a:ext cx="113365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lseek</a:t>
            </a:r>
            <a:r>
              <a:rPr lang="en-US" dirty="0"/>
              <a:t>() system call in Unix/Linux is used to reposition the file offset (read/write pointer) of an open file descriptor to a specific location within the file, without performing any actual read or write operation.</a:t>
            </a:r>
          </a:p>
          <a:p>
            <a:endParaRPr lang="en-US" dirty="0"/>
          </a:p>
          <a:p>
            <a:r>
              <a:rPr lang="en-US" dirty="0"/>
              <a:t>Syntax : </a:t>
            </a:r>
            <a:r>
              <a:rPr lang="en-IN" dirty="0" err="1"/>
              <a:t>lseek</a:t>
            </a:r>
            <a:r>
              <a:rPr lang="en-IN" dirty="0"/>
              <a:t>(</a:t>
            </a:r>
            <a:r>
              <a:rPr lang="en-IN" dirty="0" err="1"/>
              <a:t>fd</a:t>
            </a:r>
            <a:r>
              <a:rPr lang="en-IN" dirty="0"/>
              <a:t>, offset, whence)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93C1D857-5E2D-01DD-C025-0F6A8D73E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960" y="-4540131"/>
            <a:ext cx="11621729" cy="10572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9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File descriptor (returned by open()).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offset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Number of bytes to move the file pointer.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→ Starting point for the offset. It can be: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SEEK_SET → Offset is set to offset bytes from the beginning of the file.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SEEK_CUR → Offset is set to current file position + offset.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SEEK_END → Offset is set to file size + offset.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Value: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sz="1600" dirty="0"/>
              <a:t>On success: returns the resulting offset (new file position in bytes).</a:t>
            </a:r>
          </a:p>
          <a:p>
            <a:pPr marL="457200"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Failure: returns -1 and sets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errno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7627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80E45-748B-01F7-6AE4-91B4D437C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36C272-7EA5-8350-716E-6CC9922B8530}"/>
              </a:ext>
            </a:extLst>
          </p:cNvPr>
          <p:cNvSpPr txBox="1"/>
          <p:nvPr/>
        </p:nvSpPr>
        <p:spPr>
          <a:xfrm>
            <a:off x="669924" y="1297858"/>
            <a:ext cx="8474076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open("file.txt", O_RDWR);</a:t>
            </a:r>
          </a:p>
          <a:p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lseek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20, SEEK_CUR);</a:t>
            </a:r>
          </a:p>
          <a:p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lseek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10, SEEK_CUR);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initial offset = 0, what will be final offset?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10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20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30</a:t>
            </a:r>
          </a:p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Undefined</a:t>
            </a:r>
          </a:p>
          <a:p>
            <a:endParaRPr lang="en-US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Answer: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c) 30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👉 First seek adds 20 → offset = 20, next adds 10 → offset = 30.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58526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>
            <a:spLocks noGrp="1"/>
          </p:cNvSpPr>
          <p:nvPr>
            <p:ph type="body" idx="1"/>
          </p:nvPr>
        </p:nvSpPr>
        <p:spPr>
          <a:xfrm>
            <a:off x="1552115" y="1138801"/>
            <a:ext cx="852170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 algn="just">
              <a:spcBef>
                <a:spcPts val="480"/>
              </a:spcBef>
              <a:buSzPts val="2400"/>
              <a:buNone/>
            </a:pPr>
            <a:endParaRPr lang="en-IN" sz="1400" dirty="0"/>
          </a:p>
          <a:p>
            <a:pPr marL="0" lvl="0" indent="0" algn="just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IN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891E85-696D-505E-5A2E-FFE7D1CFE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924232"/>
            <a:ext cx="5077952" cy="44540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4D64084-E94E-9A80-D8C3-83874FCA20F0}"/>
              </a:ext>
            </a:extLst>
          </p:cNvPr>
          <p:cNvSpPr txBox="1"/>
          <p:nvPr/>
        </p:nvSpPr>
        <p:spPr>
          <a:xfrm>
            <a:off x="5584723" y="924232"/>
            <a:ext cx="43261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1" dirty="0"/>
              <a:t>Time for Some MCQs</a:t>
            </a:r>
          </a:p>
        </p:txBody>
      </p:sp>
    </p:spTree>
    <p:extLst>
      <p:ext uri="{BB962C8B-B14F-4D97-AF65-F5344CB8AC3E}">
        <p14:creationId xmlns:p14="http://schemas.microsoft.com/office/powerpoint/2010/main" val="40159675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BB3C0D-8457-B263-4E51-0D36EC0E1F83}"/>
              </a:ext>
            </a:extLst>
          </p:cNvPr>
          <p:cNvSpPr txBox="1"/>
          <p:nvPr/>
        </p:nvSpPr>
        <p:spPr>
          <a:xfrm>
            <a:off x="757083" y="1081549"/>
            <a:ext cx="109334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the purpose of the Process Control Block (PCB)?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To store user input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To manage system memory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To store process-specific information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To compile the program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4109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0B9A8D9-E03C-7AC4-116A-50B05925D594}"/>
              </a:ext>
            </a:extLst>
          </p:cNvPr>
          <p:cNvSpPr txBox="1"/>
          <p:nvPr/>
        </p:nvSpPr>
        <p:spPr>
          <a:xfrm>
            <a:off x="314632" y="1248697"/>
            <a:ext cx="882936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✅ Correct Answer: </a:t>
            </a:r>
            <a:r>
              <a:rPr lang="en-US" sz="2800" b="1" dirty="0"/>
              <a:t>c) To store process-specific information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2484975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B8AD44-0FD2-3F66-E197-42C3B0B7A271}"/>
              </a:ext>
            </a:extLst>
          </p:cNvPr>
          <p:cNvSpPr txBox="1"/>
          <p:nvPr/>
        </p:nvSpPr>
        <p:spPr>
          <a:xfrm>
            <a:off x="639098" y="1052052"/>
            <a:ext cx="892769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 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open("file.txt", O_RDWR);</a:t>
            </a:r>
          </a:p>
          <a:p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lseek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fd</a:t>
            </a: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-10, SEEK_END);</a:t>
            </a: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file size =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200 bytes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what will be the new offset?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190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200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-10 (error)</a:t>
            </a:r>
            <a:b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Undefined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0149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A9A13E-4DDB-4310-8198-919ECABD7782}"/>
              </a:ext>
            </a:extLst>
          </p:cNvPr>
          <p:cNvSpPr txBox="1"/>
          <p:nvPr/>
        </p:nvSpPr>
        <p:spPr>
          <a:xfrm>
            <a:off x="589935" y="1081548"/>
            <a:ext cx="85540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Answer: a) 190👉 SEEK_END = size of file (200). 200 - 10 = 190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162643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194378F9-FAB6-9B52-D6A5-C89A983828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42453" y="692310"/>
            <a:ext cx="11562734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shared between parent and child processes created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fork()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Stack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Process ID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Open file descriptors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Execution time </a:t>
            </a:r>
          </a:p>
        </p:txBody>
      </p:sp>
    </p:spTree>
    <p:extLst>
      <p:ext uri="{BB962C8B-B14F-4D97-AF65-F5344CB8AC3E}">
        <p14:creationId xmlns:p14="http://schemas.microsoft.com/office/powerpoint/2010/main" val="225362461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46CC9-5F48-0CDE-9329-EE1ECA427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F68BEB-A950-EDDD-293D-6A373D7548B7}"/>
              </a:ext>
            </a:extLst>
          </p:cNvPr>
          <p:cNvSpPr txBox="1"/>
          <p:nvPr/>
        </p:nvSpPr>
        <p:spPr>
          <a:xfrm>
            <a:off x="669924" y="1278195"/>
            <a:ext cx="847407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Correct Answer: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Open file descriptors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Both parent and child share the same entries in the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system-wide Open File Table</a:t>
            </a:r>
            <a:r>
              <a:rPr lang="en-US" sz="2400" dirty="0"/>
              <a:t>.</a:t>
            </a:r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018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57F4431-E261-C25D-AB75-C8AF7641E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45" y="1343543"/>
            <a:ext cx="1124859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Which of the following is used to replace the memory space of a process after a fork()?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wait()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clone()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exec()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kill() </a:t>
            </a:r>
          </a:p>
        </p:txBody>
      </p:sp>
    </p:spTree>
    <p:extLst>
      <p:ext uri="{BB962C8B-B14F-4D97-AF65-F5344CB8AC3E}">
        <p14:creationId xmlns:p14="http://schemas.microsoft.com/office/powerpoint/2010/main" val="38521534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9BF4F99-EC45-E7AB-B026-D422898D40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123652"/>
            <a:ext cx="9658413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 Answer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exec()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because it loads a new program into the process memory after a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fork()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30656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0A19AD20-B08A-BD54-C42B-5C2643E7C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071" y="1099474"/>
            <a:ext cx="824789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does the wait() system call do in process management?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Forces the child process to run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Suspends execution of parent until child terminates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Terminates the current process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Blocks all running processes </a:t>
            </a:r>
          </a:p>
        </p:txBody>
      </p:sp>
    </p:spTree>
    <p:extLst>
      <p:ext uri="{BB962C8B-B14F-4D97-AF65-F5344CB8AC3E}">
        <p14:creationId xmlns:p14="http://schemas.microsoft.com/office/powerpoint/2010/main" val="132014997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BE0F16-1110-102B-812B-88B7F4BDC57C}"/>
              </a:ext>
            </a:extLst>
          </p:cNvPr>
          <p:cNvSpPr txBox="1"/>
          <p:nvPr/>
        </p:nvSpPr>
        <p:spPr>
          <a:xfrm>
            <a:off x="943897" y="1533832"/>
            <a:ext cx="86228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Correct Answer: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Suspends execution of parent until child terminates</a:t>
            </a:r>
            <a:endParaRPr lang="en-IN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3402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6A7072D-6A39-365C-6FFD-8CA95CAC6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33" y="979749"/>
            <a:ext cx="1220183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returned by fork() in the child process?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-1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0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1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PID of the parent </a:t>
            </a:r>
          </a:p>
        </p:txBody>
      </p:sp>
    </p:spTree>
    <p:extLst>
      <p:ext uri="{BB962C8B-B14F-4D97-AF65-F5344CB8AC3E}">
        <p14:creationId xmlns:p14="http://schemas.microsoft.com/office/powerpoint/2010/main" val="214217489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4B48-9232-DB21-2830-BD4BF015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7CEBC-AFCB-3286-3C1A-57E023D441D5}"/>
              </a:ext>
            </a:extLst>
          </p:cNvPr>
          <p:cNvSpPr txBox="1"/>
          <p:nvPr/>
        </p:nvSpPr>
        <p:spPr>
          <a:xfrm>
            <a:off x="1081548" y="1651819"/>
            <a:ext cx="80624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✅ Correct Answer: </a:t>
            </a:r>
            <a:r>
              <a:rPr lang="en-IN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0</a:t>
            </a:r>
            <a:endParaRPr lang="en-IN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483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C0583F-515F-1A7F-B9B6-1DA5C64C1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sz="1600" i="1" dirty="0"/>
              <a:t>1. Operating System Concepts :Authors: Abraham Silberschatz, Peter B. Galvin, Greg Gagne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2. Modern Operating Systems: Author: Andrew S. Tanenbaum</a:t>
            </a:r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3.</a:t>
            </a:r>
            <a:r>
              <a:rPr lang="en-US" sz="1600" i="1" dirty="0"/>
              <a:t> Operating Systems: Internals and Design Principles by William Stallings</a:t>
            </a:r>
          </a:p>
          <a:p>
            <a:pPr marL="114300" indent="0">
              <a:buNone/>
            </a:pPr>
            <a:endParaRPr lang="en-US" sz="1600" i="1" dirty="0"/>
          </a:p>
          <a:p>
            <a:pPr marL="114300" indent="0">
              <a:buNone/>
            </a:pPr>
            <a:r>
              <a:rPr lang="en-US" sz="1600" i="1" dirty="0"/>
              <a:t>4. </a:t>
            </a:r>
            <a:r>
              <a:rPr lang="en-US" sz="1600" i="1" dirty="0" err="1"/>
              <a:t>GeeksforGeeks</a:t>
            </a:r>
            <a:r>
              <a:rPr lang="en-US" sz="1600" i="1" dirty="0"/>
              <a:t> – CPU Scheduling</a:t>
            </a:r>
            <a:br>
              <a:rPr lang="en-US" sz="1600" i="1" dirty="0"/>
            </a:br>
            <a:r>
              <a:rPr lang="en-US" sz="1600" i="1" dirty="0"/>
              <a:t>🔗 </a:t>
            </a:r>
            <a:r>
              <a:rPr lang="en-US" sz="1600" i="1" dirty="0">
                <a:hlinkClick r:id="rId2"/>
              </a:rPr>
              <a:t>https://www.geeksforgeeks.org/cpu-scheduling-in-operating-systems/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r>
              <a:rPr lang="en-IN" sz="1600" i="1" dirty="0"/>
              <a:t>5.</a:t>
            </a:r>
            <a:r>
              <a:rPr lang="en-IN" sz="1600" dirty="0"/>
              <a:t> </a:t>
            </a:r>
            <a:r>
              <a:rPr lang="en-IN" sz="1600" dirty="0" err="1"/>
              <a:t>TutorialsPoint</a:t>
            </a:r>
            <a:r>
              <a:rPr lang="en-IN" sz="1600" dirty="0"/>
              <a:t> – Operating System Scheduling</a:t>
            </a:r>
            <a:endParaRPr lang="en-IN" sz="1600" i="1" dirty="0"/>
          </a:p>
          <a:p>
            <a:pPr marL="114300" indent="0">
              <a:buNone/>
            </a:pPr>
            <a:r>
              <a:rPr lang="en-US" sz="1600" i="1" dirty="0"/>
              <a:t>🔗 </a:t>
            </a:r>
            <a:r>
              <a:rPr lang="en-US" sz="1600" i="1" dirty="0">
                <a:hlinkClick r:id="rId3"/>
              </a:rPr>
              <a:t>https://www.tutorialspoint.com/operating_system/os_process_scheduling_algorithms.htm</a:t>
            </a:r>
            <a:endParaRPr lang="en-US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  <a:p>
            <a:pPr marL="114300" indent="0">
              <a:buNone/>
            </a:pPr>
            <a:endParaRPr lang="en-IN" sz="1600" i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3EE1AE-A2A9-5AB6-4638-49C1DAB02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3460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00053F"/>
      </a:accent1>
      <a:accent2>
        <a:srgbClr val="00C1F1"/>
      </a:accent2>
      <a:accent3>
        <a:srgbClr val="EFBC22"/>
      </a:accent3>
      <a:accent4>
        <a:srgbClr val="810593"/>
      </a:accent4>
      <a:accent5>
        <a:srgbClr val="110A76"/>
      </a:accent5>
      <a:accent6>
        <a:srgbClr val="004C8C"/>
      </a:accent6>
      <a:hlink>
        <a:srgbClr val="4276AA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2905</Words>
  <Application>Microsoft Office PowerPoint</Application>
  <PresentationFormat>Widescreen</PresentationFormat>
  <Paragraphs>458</Paragraphs>
  <Slides>72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81" baseType="lpstr">
      <vt:lpstr>Arial</vt:lpstr>
      <vt:lpstr>Arial Unicode MS</vt:lpstr>
      <vt:lpstr>Calibri</vt:lpstr>
      <vt:lpstr>Helvetica Neue</vt:lpstr>
      <vt:lpstr>Nunito</vt:lpstr>
      <vt:lpstr>sohne</vt:lpstr>
      <vt:lpstr>Times New Roman</vt:lpstr>
      <vt:lpstr>Verdana</vt:lpstr>
      <vt:lpstr>Office Theme</vt:lpstr>
      <vt:lpstr>        Interrupt/System Calls</vt:lpstr>
      <vt:lpstr>Interrupt</vt:lpstr>
      <vt:lpstr>Types Of Interrupts </vt:lpstr>
      <vt:lpstr>Hardware Interrupt</vt:lpstr>
      <vt:lpstr>Software Interrupt/ Trap</vt:lpstr>
      <vt:lpstr>I/O Interrupt</vt:lpstr>
      <vt:lpstr>✅ 1. Synchronous Interrupts</vt:lpstr>
      <vt:lpstr>✅ 2. Asynchronous Interrupts</vt:lpstr>
      <vt:lpstr>PowerPoint Presentation</vt:lpstr>
      <vt:lpstr>PowerPoint Presentation</vt:lpstr>
      <vt:lpstr>Working of System Call</vt:lpstr>
      <vt:lpstr>Example of System Calls</vt:lpstr>
      <vt:lpstr>🔗 Relationship: API – System Call – Operating System</vt:lpstr>
      <vt:lpstr>Standard C Library Example</vt:lpstr>
      <vt:lpstr>System Call Parameter Passing</vt:lpstr>
      <vt:lpstr>PowerPoint Presentation</vt:lpstr>
      <vt:lpstr> </vt:lpstr>
      <vt:lpstr>  ✅ 2. File Management</vt:lpstr>
      <vt:lpstr>✅ 3. Device Management </vt:lpstr>
      <vt:lpstr> ✅ 4. Information Maintenance</vt:lpstr>
      <vt:lpstr> ✅ 5. Communication (Inter-process Communication - IPC)</vt:lpstr>
      <vt:lpstr>System Call Implementation</vt:lpstr>
      <vt:lpstr> Simple Analogy for Students 🎓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Context Switch</vt:lpstr>
      <vt:lpstr>PowerPoint Presentation</vt:lpstr>
      <vt:lpstr> Context Switching Process </vt:lpstr>
      <vt:lpstr>Contd…</vt:lpstr>
      <vt:lpstr>Scheduling Queues</vt:lpstr>
      <vt:lpstr>Scheduling Queues</vt:lpstr>
      <vt:lpstr>PowerPoint Presentation</vt:lpstr>
      <vt:lpstr>Process Scheduling Queues</vt:lpstr>
      <vt:lpstr>Representation of Process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fork()</vt:lpstr>
      <vt:lpstr>PowerPoint Presentation</vt:lpstr>
      <vt:lpstr>PowerPoint Presentation</vt:lpstr>
      <vt:lpstr>lseek()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Which of the following is shared between parent and child processes created using fork()?  a) Stack b) Process ID c) Open file descriptors d) Execution time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Interrupt/System Calls</dc:title>
  <dc:creator>Dell</dc:creator>
  <cp:lastModifiedBy>kritimathur90@outlook.com</cp:lastModifiedBy>
  <cp:revision>65</cp:revision>
  <dcterms:created xsi:type="dcterms:W3CDTF">2006-08-16T00:00:00Z</dcterms:created>
  <dcterms:modified xsi:type="dcterms:W3CDTF">2025-08-27T17:20:15Z</dcterms:modified>
</cp:coreProperties>
</file>