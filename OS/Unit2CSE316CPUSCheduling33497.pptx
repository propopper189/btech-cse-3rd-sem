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3"/>
  </p:notesMasterIdLst>
  <p:handoutMasterIdLst>
    <p:handoutMasterId r:id="rId84"/>
  </p:handoutMasterIdLst>
  <p:sldIdLst>
    <p:sldId id="377" r:id="rId2"/>
    <p:sldId id="379" r:id="rId3"/>
    <p:sldId id="380" r:id="rId4"/>
    <p:sldId id="381" r:id="rId5"/>
    <p:sldId id="382" r:id="rId6"/>
    <p:sldId id="383" r:id="rId7"/>
    <p:sldId id="384" r:id="rId8"/>
    <p:sldId id="385" r:id="rId9"/>
    <p:sldId id="386" r:id="rId10"/>
    <p:sldId id="275" r:id="rId11"/>
    <p:sldId id="444" r:id="rId12"/>
    <p:sldId id="446" r:id="rId13"/>
    <p:sldId id="447" r:id="rId14"/>
    <p:sldId id="448" r:id="rId15"/>
    <p:sldId id="452" r:id="rId16"/>
    <p:sldId id="453" r:id="rId17"/>
    <p:sldId id="387" r:id="rId18"/>
    <p:sldId id="388" r:id="rId19"/>
    <p:sldId id="389" r:id="rId20"/>
    <p:sldId id="390" r:id="rId21"/>
    <p:sldId id="391" r:id="rId22"/>
    <p:sldId id="392" r:id="rId23"/>
    <p:sldId id="393" r:id="rId24"/>
    <p:sldId id="394" r:id="rId25"/>
    <p:sldId id="395" r:id="rId26"/>
    <p:sldId id="396" r:id="rId27"/>
    <p:sldId id="397" r:id="rId28"/>
    <p:sldId id="459" r:id="rId29"/>
    <p:sldId id="398" r:id="rId30"/>
    <p:sldId id="399" r:id="rId31"/>
    <p:sldId id="400" r:id="rId32"/>
    <p:sldId id="401" r:id="rId33"/>
    <p:sldId id="460" r:id="rId34"/>
    <p:sldId id="402" r:id="rId35"/>
    <p:sldId id="403" r:id="rId36"/>
    <p:sldId id="405" r:id="rId37"/>
    <p:sldId id="406" r:id="rId38"/>
    <p:sldId id="461" r:id="rId39"/>
    <p:sldId id="407" r:id="rId40"/>
    <p:sldId id="408" r:id="rId41"/>
    <p:sldId id="410" r:id="rId42"/>
    <p:sldId id="411" r:id="rId43"/>
    <p:sldId id="412" r:id="rId44"/>
    <p:sldId id="462" r:id="rId45"/>
    <p:sldId id="413" r:id="rId46"/>
    <p:sldId id="414" r:id="rId47"/>
    <p:sldId id="415" r:id="rId48"/>
    <p:sldId id="416" r:id="rId49"/>
    <p:sldId id="417" r:id="rId50"/>
    <p:sldId id="463" r:id="rId51"/>
    <p:sldId id="450" r:id="rId52"/>
    <p:sldId id="449" r:id="rId53"/>
    <p:sldId id="454" r:id="rId54"/>
    <p:sldId id="455" r:id="rId55"/>
    <p:sldId id="456" r:id="rId56"/>
    <p:sldId id="457" r:id="rId57"/>
    <p:sldId id="458" r:id="rId58"/>
    <p:sldId id="418" r:id="rId59"/>
    <p:sldId id="419" r:id="rId60"/>
    <p:sldId id="420" r:id="rId61"/>
    <p:sldId id="421" r:id="rId62"/>
    <p:sldId id="422" r:id="rId63"/>
    <p:sldId id="424" r:id="rId64"/>
    <p:sldId id="425" r:id="rId65"/>
    <p:sldId id="426" r:id="rId66"/>
    <p:sldId id="427" r:id="rId67"/>
    <p:sldId id="429" r:id="rId68"/>
    <p:sldId id="428" r:id="rId69"/>
    <p:sldId id="430" r:id="rId70"/>
    <p:sldId id="431" r:id="rId71"/>
    <p:sldId id="432" r:id="rId72"/>
    <p:sldId id="433" r:id="rId73"/>
    <p:sldId id="434" r:id="rId74"/>
    <p:sldId id="435" r:id="rId75"/>
    <p:sldId id="436" r:id="rId76"/>
    <p:sldId id="437" r:id="rId77"/>
    <p:sldId id="438" r:id="rId78"/>
    <p:sldId id="439" r:id="rId79"/>
    <p:sldId id="440" r:id="rId80"/>
    <p:sldId id="442" r:id="rId81"/>
    <p:sldId id="443" r:id="rId8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8" roundtripDataSignature="AMtx7mijclRrAg48SUnPYiVCX29zYBbm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handoutMaster" Target="handoutMasters/handoutMaster1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customschemas.google.com/relationships/presentationmetadata" Target="metadata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BD6C82-98F2-6824-B757-1EA5320E84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DE66B9-A2D6-1450-C5DF-0246B602FD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859C9-6400-4895-9168-5623FBEDF0CD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370C76-BC21-7EB1-D6A9-359154EA62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CFE3C7-EAF1-F4E0-021A-94D0D5C72B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F545E-B0CA-427B-9FF7-0045033DB2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6711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>
            <a:extLst>
              <a:ext uri="{FF2B5EF4-FFF2-40B4-BE49-F238E27FC236}">
                <a16:creationId xmlns:a16="http://schemas.microsoft.com/office/drawing/2014/main" id="{0B260307-AFF6-75A3-07E9-940471361CD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48A368C-001C-4F69-A242-C3E1CCA984F3}" type="slidenum">
              <a:rPr lang="en-US" altLang="en-US" sz="1300" smtClean="0">
                <a:ea typeface="Droid Sans Fallback" charset="0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</a:t>
            </a:fld>
            <a:endParaRPr lang="en-US" altLang="en-US" sz="1300">
              <a:ea typeface="Droid Sans Fallback" charset="0"/>
            </a:endParaRPr>
          </a:p>
        </p:txBody>
      </p:sp>
      <p:sp>
        <p:nvSpPr>
          <p:cNvPr id="11267" name="Rectangle 1">
            <a:extLst>
              <a:ext uri="{FF2B5EF4-FFF2-40B4-BE49-F238E27FC236}">
                <a16:creationId xmlns:a16="http://schemas.microsoft.com/office/drawing/2014/main" id="{B3AC6683-65E5-90BF-888D-E13B5B1F3D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06638" y="541338"/>
            <a:ext cx="4908550" cy="2762250"/>
          </a:xfrm>
          <a:solidFill>
            <a:srgbClr val="FFFFFF"/>
          </a:solidFill>
          <a:ln/>
        </p:spPr>
      </p:sp>
      <p:sp>
        <p:nvSpPr>
          <p:cNvPr id="11268" name="Text Box 2">
            <a:extLst>
              <a:ext uri="{FF2B5EF4-FFF2-40B4-BE49-F238E27FC236}">
                <a16:creationId xmlns:a16="http://schemas.microsoft.com/office/drawing/2014/main" id="{2E9F18CD-9673-991E-32F5-2B9AB4B70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713" y="3482975"/>
            <a:ext cx="7116762" cy="330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91" name="Google Shape;19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0564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91" name="Google Shape;19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51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discuss question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6727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标题和内容">
  <p:cSld name="标题和内容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0"/>
          <p:cNvSpPr txBox="1">
            <a:spLocks noGrp="1"/>
          </p:cNvSpPr>
          <p:nvPr>
            <p:ph type="dt" idx="10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0"/>
          <p:cNvSpPr txBox="1">
            <a:spLocks noGrp="1"/>
          </p:cNvSpPr>
          <p:nvPr>
            <p:ph type="ftr" idx="11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0"/>
          <p:cNvSpPr txBox="1">
            <a:spLocks noGrp="1"/>
          </p:cNvSpPr>
          <p:nvPr>
            <p:ph type="sldNum" idx="12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r>
              <a:rPr lang="en-US"/>
              <a:t>/21</a:t>
            </a:r>
            <a:endParaRPr/>
          </a:p>
        </p:txBody>
      </p:sp>
      <p:sp>
        <p:nvSpPr>
          <p:cNvPr id="42" name="Google Shape;42;p40"/>
          <p:cNvSpPr txBox="1"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0"/>
          <p:cNvSpPr txBox="1">
            <a:spLocks noGrp="1"/>
          </p:cNvSpPr>
          <p:nvPr>
            <p:ph type="body" idx="1"/>
          </p:nvPr>
        </p:nvSpPr>
        <p:spPr>
          <a:xfrm>
            <a:off x="669925" y="1130299"/>
            <a:ext cx="10850563" cy="500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节标题" type="secHead">
  <p:cSld name="SECTION_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1"/>
          <p:cNvSpPr txBox="1">
            <a:spLocks noGrp="1"/>
          </p:cNvSpPr>
          <p:nvPr>
            <p:ph type="title"/>
          </p:nvPr>
        </p:nvSpPr>
        <p:spPr>
          <a:xfrm>
            <a:off x="6098599" y="2657929"/>
            <a:ext cx="5419185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1"/>
          <p:cNvSpPr txBox="1">
            <a:spLocks noGrp="1"/>
          </p:cNvSpPr>
          <p:nvPr>
            <p:ph type="body" idx="1"/>
          </p:nvPr>
        </p:nvSpPr>
        <p:spPr>
          <a:xfrm>
            <a:off x="6099715" y="3553279"/>
            <a:ext cx="5419185" cy="1015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末尾幻灯片">
  <p:cSld name="末尾幻灯片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2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2"/>
          <p:cNvSpPr txBox="1">
            <a:spLocks noGrp="1"/>
          </p:cNvSpPr>
          <p:nvPr>
            <p:ph type="ctrTitle"/>
          </p:nvPr>
        </p:nvSpPr>
        <p:spPr>
          <a:xfrm>
            <a:off x="674690" y="2484892"/>
            <a:ext cx="6999739" cy="1433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rgbClr val="0FB98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040"/>
              </a:lnSpc>
            </a:pPr>
            <a:r>
              <a:rPr lang="en-IN" spc="-50"/>
              <a:t>A</a:t>
            </a:r>
            <a:endParaRPr lang="en-IN"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rgbClr val="1F293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040"/>
              </a:lnSpc>
            </a:pPr>
            <a:r>
              <a:rPr lang="en-IN" spc="-50"/>
              <a:t>L</a:t>
            </a:r>
            <a:endParaRPr lang="en-IN" spc="-5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pPr marL="12700">
              <a:lnSpc>
                <a:spcPts val="1210"/>
              </a:lnSpc>
            </a:pPr>
            <a:r>
              <a:rPr lang="en-US" spc="-75"/>
              <a:t>Made</a:t>
            </a:r>
            <a:r>
              <a:rPr lang="en-US" spc="-10"/>
              <a:t> </a:t>
            </a:r>
            <a:r>
              <a:rPr lang="en-US" spc="-65"/>
              <a:t>with</a:t>
            </a:r>
            <a:r>
              <a:rPr lang="en-US" spc="-5"/>
              <a:t> </a:t>
            </a:r>
            <a:r>
              <a:rPr lang="en-US" spc="-60"/>
              <a:t>Ge</a:t>
            </a:r>
            <a:r>
              <a:rPr lang="en-US" spc="-570"/>
              <a:t>n</a:t>
            </a:r>
            <a:fld id="{81D60167-4931-47E6-BA6A-407CBD079E47}" type="slidenum">
              <a:rPr lang="en-US" sz="1875" spc="-89" baseline="-6666" smtClean="0">
                <a:solidFill>
                  <a:srgbClr val="9CA2AF"/>
                </a:solidFill>
                <a:latin typeface="Montserrat"/>
                <a:cs typeface="Montserrat"/>
              </a:rPr>
              <a:pPr marL="12700">
                <a:lnSpc>
                  <a:spcPts val="1210"/>
                </a:lnSpc>
              </a:pPr>
              <a:t>‹#›</a:t>
            </a:fld>
            <a:r>
              <a:rPr lang="en-US" spc="-60"/>
              <a:t>s</a:t>
            </a:r>
            <a:r>
              <a:rPr lang="en-US" spc="-495"/>
              <a:t>p</a:t>
            </a:r>
            <a:r>
              <a:rPr lang="en-US" sz="1875" spc="-120" baseline="-6666">
                <a:solidFill>
                  <a:srgbClr val="9CA2AF"/>
                </a:solidFill>
                <a:latin typeface="Montserrat"/>
                <a:cs typeface="Montserrat"/>
              </a:rPr>
              <a:t>/</a:t>
            </a:r>
            <a:r>
              <a:rPr lang="en-US" spc="-305"/>
              <a:t>a</a:t>
            </a:r>
            <a:r>
              <a:rPr lang="en-US" sz="1875" spc="-427" baseline="-6666">
                <a:solidFill>
                  <a:srgbClr val="9CA2AF"/>
                </a:solidFill>
                <a:latin typeface="Montserrat"/>
                <a:cs typeface="Montserrat"/>
              </a:rPr>
              <a:t>1</a:t>
            </a:r>
            <a:r>
              <a:rPr lang="en-US" spc="-240"/>
              <a:t>r</a:t>
            </a:r>
            <a:r>
              <a:rPr lang="en-US" sz="1875" spc="-907" baseline="-6666">
                <a:solidFill>
                  <a:srgbClr val="9CA2AF"/>
                </a:solidFill>
                <a:latin typeface="Montserrat"/>
                <a:cs typeface="Montserrat"/>
              </a:rPr>
              <a:t>3</a:t>
            </a:r>
            <a:r>
              <a:rPr lang="en-US" spc="-60"/>
              <a:t>k</a:t>
            </a:r>
            <a:endParaRPr lang="en-US">
              <a:latin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598276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>
            <a:spLocks noGrp="1"/>
          </p:cNvSpPr>
          <p:nvPr>
            <p:ph type="title"/>
          </p:nvPr>
        </p:nvSpPr>
        <p:spPr>
          <a:xfrm>
            <a:off x="669924" y="76204"/>
            <a:ext cx="10850563" cy="95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4"/>
          <p:cNvSpPr txBox="1"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2" name="Google Shape;12;p34"/>
          <p:cNvCxnSpPr/>
          <p:nvPr/>
        </p:nvCxnSpPr>
        <p:spPr>
          <a:xfrm>
            <a:off x="669924" y="1028700"/>
            <a:ext cx="10850563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34"/>
          <p:cNvSpPr txBox="1">
            <a:spLocks noGrp="1"/>
          </p:cNvSpPr>
          <p:nvPr>
            <p:ph type="dt" idx="10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4"/>
          <p:cNvSpPr txBox="1">
            <a:spLocks noGrp="1"/>
          </p:cNvSpPr>
          <p:nvPr>
            <p:ph type="ftr" idx="11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34"/>
          <p:cNvSpPr txBox="1">
            <a:spLocks noGrp="1"/>
          </p:cNvSpPr>
          <p:nvPr>
            <p:ph type="sldNum" idx="12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r>
              <a:rPr lang="en-US"/>
              <a:t>/21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56" r:id="rId4"/>
    <p:sldLayoutId id="2147483657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operating_system/os_process_scheduling_algorithms.htm" TargetMode="External"/><Relationship Id="rId2" Type="http://schemas.openxmlformats.org/officeDocument/2006/relationships/hyperlink" Target="https://www.geeksforgeeks.org/cpu-scheduling-in-operating-system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>
            <a:extLst>
              <a:ext uri="{FF2B5EF4-FFF2-40B4-BE49-F238E27FC236}">
                <a16:creationId xmlns:a16="http://schemas.microsoft.com/office/drawing/2014/main" id="{D495ADBF-76E3-BB23-59C4-487C08520C8F}"/>
              </a:ext>
            </a:extLst>
          </p:cNvPr>
          <p:cNvSpPr/>
          <p:nvPr/>
        </p:nvSpPr>
        <p:spPr>
          <a:xfrm>
            <a:off x="1524001" y="857251"/>
            <a:ext cx="119063" cy="11906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lIns="0" tIns="0" rIns="0" bIns="0" anchor="ctr"/>
          <a:lstStyle/>
          <a:p>
            <a:pPr algn="ctr" defTabSz="685800">
              <a:lnSpc>
                <a:spcPct val="90000"/>
              </a:lnSpc>
              <a:defRPr/>
            </a:pPr>
            <a:endParaRPr sz="1350">
              <a:latin typeface="Calibri"/>
              <a:cs typeface="+mn-cs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96F5AE9-24BC-8839-4114-98D2514B9FF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097214" y="1447800"/>
            <a:ext cx="7570787" cy="1765300"/>
          </a:xfrm>
        </p:spPr>
        <p:txBody>
          <a:bodyPr spcFirstLastPara="1" wrap="square" lIns="68580" tIns="34290" rIns="68580" bIns="34290" anchor="b" anchorCtr="0">
            <a:no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en-US" altLang="en-US" sz="4000" b="1" dirty="0">
                <a:ea typeface="MS PGothic" panose="020B0600070205080204" pitchFamily="34" charset="-128"/>
              </a:rPr>
              <a:t>Unit 2: </a:t>
            </a:r>
            <a:r>
              <a:rPr lang="en-US" altLang="en-US" sz="4000" b="1" dirty="0"/>
              <a:t>CPU Scheduling</a:t>
            </a:r>
            <a:br>
              <a:rPr lang="en-US" altLang="en-US" sz="4000" b="1" dirty="0">
                <a:ea typeface="MS PGothic" panose="020B0600070205080204" pitchFamily="34" charset="-128"/>
              </a:rPr>
            </a:br>
            <a:br>
              <a:rPr lang="en-US" altLang="en-US" sz="4000" b="1" dirty="0">
                <a:ea typeface="MS PGothic" panose="020B0600070205080204" pitchFamily="34" charset="-128"/>
              </a:rPr>
            </a:br>
            <a:endParaRPr lang="en-US" sz="4000" b="1" dirty="0">
              <a:latin typeface="+mn-ea"/>
              <a:ea typeface="+mn-ea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10A8E72-6B6D-95AD-8233-D5E8A36A6128}"/>
              </a:ext>
            </a:extLst>
          </p:cNvPr>
          <p:cNvSpPr/>
          <p:nvPr/>
        </p:nvSpPr>
        <p:spPr>
          <a:xfrm>
            <a:off x="3962400" y="2819400"/>
            <a:ext cx="6681788" cy="228600"/>
          </a:xfrm>
          <a:prstGeom prst="rect">
            <a:avLst/>
          </a:prstGeom>
          <a:solidFill>
            <a:srgbClr val="FFC000">
              <a:alpha val="80000"/>
            </a:srgbClr>
          </a:solidFill>
          <a:ln cap="flat" cmpd="sng">
            <a:prstDash val="solid"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lIns="68580" tIns="34290" rIns="68580" bIns="34290" anchor="ctr">
            <a:normAutofit fontScale="92500" lnSpcReduction="20000"/>
          </a:bodyPr>
          <a:lstStyle/>
          <a:p>
            <a:pPr algn="ctr" defTabSz="685800">
              <a:defRPr/>
            </a:pPr>
            <a:endParaRPr sz="1350">
              <a:latin typeface="Calibri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CC7B3D-1480-9CEE-6BE9-0FEDE49EB826}"/>
              </a:ext>
            </a:extLst>
          </p:cNvPr>
          <p:cNvSpPr txBox="1"/>
          <p:nvPr/>
        </p:nvSpPr>
        <p:spPr>
          <a:xfrm>
            <a:off x="8014995" y="5410200"/>
            <a:ext cx="2995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Kriti Mathur</a:t>
            </a:r>
            <a:endParaRPr lang="en-IN" sz="2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>
            <a:extLst>
              <a:ext uri="{FF2B5EF4-FFF2-40B4-BE49-F238E27FC236}">
                <a16:creationId xmlns:a16="http://schemas.microsoft.com/office/drawing/2014/main" id="{B0B7A8A0-9C4E-9505-B51A-087678B96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739" y="414338"/>
            <a:ext cx="71897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57213" indent="-21431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>
                <a:solidFill>
                  <a:srgbClr val="993300"/>
                </a:solidFill>
                <a:latin typeface="Arial" panose="020B0604020202020204" pitchFamily="34" charset="0"/>
              </a:rPr>
              <a:t>Relate!!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E37708-7AF4-31C5-ADE8-4C9F7700EB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056"/>
          <a:stretch/>
        </p:blipFill>
        <p:spPr>
          <a:xfrm>
            <a:off x="1524000" y="1524000"/>
            <a:ext cx="9144000" cy="4904262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>
            <a:extLst>
              <a:ext uri="{FF2B5EF4-FFF2-40B4-BE49-F238E27FC236}">
                <a16:creationId xmlns:a16="http://schemas.microsoft.com/office/drawing/2014/main" id="{D495ADBF-76E3-BB23-59C4-487C08520C8F}"/>
              </a:ext>
            </a:extLst>
          </p:cNvPr>
          <p:cNvSpPr/>
          <p:nvPr/>
        </p:nvSpPr>
        <p:spPr>
          <a:xfrm>
            <a:off x="1524001" y="857251"/>
            <a:ext cx="119063" cy="11906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lIns="0" tIns="0" rIns="0" bIns="0" anchor="ctr"/>
          <a:lstStyle/>
          <a:p>
            <a:pPr algn="ctr" defTabSz="685800">
              <a:lnSpc>
                <a:spcPct val="90000"/>
              </a:lnSpc>
              <a:defRPr/>
            </a:pPr>
            <a:endParaRPr sz="1350">
              <a:latin typeface="Calibri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8FE01-993D-B91A-3ED5-0C9CEDB391DD}"/>
              </a:ext>
            </a:extLst>
          </p:cNvPr>
          <p:cNvSpPr txBox="1"/>
          <p:nvPr/>
        </p:nvSpPr>
        <p:spPr>
          <a:xfrm>
            <a:off x="648929" y="1032387"/>
            <a:ext cx="849507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b="1" dirty="0">
                <a:solidFill>
                  <a:srgbClr val="993300"/>
                </a:solidFill>
                <a:latin typeface="Arial" panose="020B0604020202020204" pitchFamily="34" charset="0"/>
              </a:rPr>
              <a:t>                          Basic Concept</a:t>
            </a:r>
          </a:p>
          <a:p>
            <a:endParaRPr lang="en-US" altLang="en-US" sz="3200" b="1" dirty="0">
              <a:solidFill>
                <a:srgbClr val="993300"/>
              </a:solidFill>
              <a:latin typeface="Arial" panose="020B0604020202020204" pitchFamily="34" charset="0"/>
            </a:endParaRPr>
          </a:p>
          <a:p>
            <a:r>
              <a:rPr lang="en-US" sz="2800" b="0" i="0" dirty="0">
                <a:solidFill>
                  <a:srgbClr val="001D35"/>
                </a:solidFill>
                <a:effectLst/>
                <a:latin typeface="Google Sans"/>
              </a:rPr>
              <a:t>ATC manages aircraft, making decisions about landing and takeoff sequences based on various factors like flight paths, arrival times, and runway availability.</a:t>
            </a:r>
          </a:p>
          <a:p>
            <a:endParaRPr lang="en-US" altLang="en-US" sz="2800" dirty="0">
              <a:solidFill>
                <a:srgbClr val="001D35"/>
              </a:solidFill>
              <a:latin typeface="Google Sans"/>
            </a:endParaRPr>
          </a:p>
          <a:p>
            <a:endParaRPr lang="en-US" altLang="en-US" sz="3200" b="1" dirty="0">
              <a:solidFill>
                <a:srgbClr val="993300"/>
              </a:solidFill>
              <a:latin typeface="Arial" panose="020B0604020202020204" pitchFamily="34" charset="0"/>
            </a:endParaRPr>
          </a:p>
          <a:p>
            <a:endParaRPr lang="en-US" altLang="en-US" sz="3200" b="1" dirty="0">
              <a:solidFill>
                <a:srgbClr val="993300"/>
              </a:solidFill>
              <a:latin typeface="Arial" panose="020B0604020202020204" pitchFamily="34" charset="0"/>
            </a:endParaRPr>
          </a:p>
          <a:p>
            <a:endParaRPr lang="en-US" sz="2000" dirty="0">
              <a:solidFill>
                <a:srgbClr val="001D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235652"/>
      </p:ext>
    </p:extLst>
  </p:cSld>
  <p:clrMapOvr>
    <a:masterClrMapping/>
  </p:clrMapOvr>
  <p:transition spd="slow"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F9B9D5-BE4F-48C0-8DE1-DF81A6414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720723"/>
            <a:ext cx="10850563" cy="1078579"/>
          </a:xfrm>
        </p:spPr>
        <p:txBody>
          <a:bodyPr>
            <a:normAutofit fontScale="90000"/>
          </a:bodyPr>
          <a:lstStyle/>
          <a:p>
            <a:br>
              <a:rPr lang="en-US" sz="4400" dirty="0"/>
            </a:br>
            <a:br>
              <a:rPr lang="en-US" sz="4400" dirty="0"/>
            </a:br>
            <a:br>
              <a:rPr lang="en-US" sz="4400" dirty="0"/>
            </a:br>
            <a:r>
              <a:rPr lang="en-US" sz="4000" dirty="0"/>
              <a:t>✈️ </a:t>
            </a:r>
            <a:r>
              <a:rPr lang="en-US" sz="4000" b="1" dirty="0"/>
              <a:t>Air Traffic Control (ATC) as an OS Scheduler</a:t>
            </a:r>
            <a:br>
              <a:rPr lang="en-US" sz="4400" b="1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81728-D7D3-211C-62E2-EA58B075C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altLang="en-US" b="1" dirty="0">
              <a:solidFill>
                <a:srgbClr val="99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altLang="en-US" sz="2400" b="1" dirty="0">
              <a:solidFill>
                <a:srgbClr val="99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A6EDB0-BACE-DEEE-1B66-C4A2BD7A7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115944"/>
              </p:ext>
            </p:extLst>
          </p:nvPr>
        </p:nvGraphicFramePr>
        <p:xfrm>
          <a:off x="669925" y="1799303"/>
          <a:ext cx="10850562" cy="3928396"/>
        </p:xfrm>
        <a:graphic>
          <a:graphicData uri="http://schemas.openxmlformats.org/drawingml/2006/table">
            <a:tbl>
              <a:tblPr/>
              <a:tblGrid>
                <a:gridCol w="3616854">
                  <a:extLst>
                    <a:ext uri="{9D8B030D-6E8A-4147-A177-3AD203B41FA5}">
                      <a16:colId xmlns:a16="http://schemas.microsoft.com/office/drawing/2014/main" val="3248311012"/>
                    </a:ext>
                  </a:extLst>
                </a:gridCol>
                <a:gridCol w="3441376">
                  <a:extLst>
                    <a:ext uri="{9D8B030D-6E8A-4147-A177-3AD203B41FA5}">
                      <a16:colId xmlns:a16="http://schemas.microsoft.com/office/drawing/2014/main" val="2546367511"/>
                    </a:ext>
                  </a:extLst>
                </a:gridCol>
                <a:gridCol w="3792332">
                  <a:extLst>
                    <a:ext uri="{9D8B030D-6E8A-4147-A177-3AD203B41FA5}">
                      <a16:colId xmlns:a16="http://schemas.microsoft.com/office/drawing/2014/main" val="3763670691"/>
                    </a:ext>
                  </a:extLst>
                </a:gridCol>
              </a:tblGrid>
              <a:tr h="413516">
                <a:tc>
                  <a:txBody>
                    <a:bodyPr/>
                    <a:lstStyle/>
                    <a:p>
                      <a:r>
                        <a:rPr lang="en-IN" sz="1600" b="1" dirty="0"/>
                        <a:t>ATC 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OS Equivalent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739719"/>
                  </a:ext>
                </a:extLst>
              </a:tr>
              <a:tr h="702976">
                <a:tc>
                  <a:txBody>
                    <a:bodyPr/>
                    <a:lstStyle/>
                    <a:p>
                      <a:r>
                        <a:rPr lang="en-IN" dirty="0"/>
                        <a:t>Aircraft (flights)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Processes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Each flight is like a task/process needing CPU time (runway access).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156541"/>
                  </a:ext>
                </a:extLst>
              </a:tr>
              <a:tr h="702976">
                <a:tc>
                  <a:txBody>
                    <a:bodyPr/>
                    <a:lstStyle/>
                    <a:p>
                      <a:r>
                        <a:rPr lang="en-IN"/>
                        <a:t>Runway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Only one aircraft can use the runway (CPU) at a time.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8337606"/>
                  </a:ext>
                </a:extLst>
              </a:tr>
              <a:tr h="702976">
                <a:tc>
                  <a:txBody>
                    <a:bodyPr/>
                    <a:lstStyle/>
                    <a:p>
                      <a:r>
                        <a:rPr lang="en-US"/>
                        <a:t>Flight path, arrival time, urgency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Scheduling Criteria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These are like </a:t>
                      </a:r>
                      <a:r>
                        <a:rPr lang="en-US" b="1"/>
                        <a:t>burst time</a:t>
                      </a:r>
                      <a:r>
                        <a:rPr lang="en-US"/>
                        <a:t>, </a:t>
                      </a:r>
                      <a:r>
                        <a:rPr lang="en-US" b="1"/>
                        <a:t>arrival time</a:t>
                      </a:r>
                      <a:r>
                        <a:rPr lang="en-US"/>
                        <a:t>, and </a:t>
                      </a:r>
                      <a:r>
                        <a:rPr lang="en-US" b="1"/>
                        <a:t>priority</a:t>
                      </a:r>
                      <a:r>
                        <a:rPr lang="en-US"/>
                        <a:t> in 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647336"/>
                  </a:ext>
                </a:extLst>
              </a:tr>
              <a:tr h="702976">
                <a:tc>
                  <a:txBody>
                    <a:bodyPr/>
                    <a:lstStyle/>
                    <a:p>
                      <a:r>
                        <a:rPr lang="en-IN"/>
                        <a:t>ATC Decision Making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CPU Scheduling Algorithm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ATC chooses based on rules (e.g., emergency landings = high priority).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033335"/>
                  </a:ext>
                </a:extLst>
              </a:tr>
              <a:tr h="702976">
                <a:tc>
                  <a:txBody>
                    <a:bodyPr/>
                    <a:lstStyle/>
                    <a:p>
                      <a:r>
                        <a:rPr lang="en-IN"/>
                        <a:t>Position updates &amp; conflict resolution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Interrupt handling &amp; preemptive scheduling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ATC reacts to live updates and may </a:t>
                      </a:r>
                      <a:r>
                        <a:rPr lang="en-US" b="1" dirty="0"/>
                        <a:t>preempt</a:t>
                      </a:r>
                      <a:r>
                        <a:rPr lang="en-US" dirty="0"/>
                        <a:t> other tasks.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371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4588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82FF5-4FB5-5FC7-B443-8CF2C851B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800" dirty="0"/>
              <a:t>🖥️ What is CPU Scheduling?</a:t>
            </a:r>
          </a:p>
          <a:p>
            <a:pPr marL="114300" indent="0">
              <a:buNone/>
            </a:pPr>
            <a:r>
              <a:rPr lang="en-US" sz="1800" dirty="0"/>
              <a:t>CPU Scheduling is the process by which the Operating System (OS) decides which process (program/task) in the ready queue will get to use the CPU next.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2800" dirty="0"/>
              <a:t>📌 Why is CPU Scheduling Important?</a:t>
            </a:r>
          </a:p>
          <a:p>
            <a:pPr marL="114300" indent="0">
              <a:buNone/>
            </a:pPr>
            <a:endParaRPr lang="en-US" sz="2800" dirty="0"/>
          </a:p>
          <a:p>
            <a:pPr marL="114300" indent="0">
              <a:buNone/>
            </a:pPr>
            <a:endParaRPr lang="en-IN" sz="28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F440952-2298-F8C3-4ACA-B9C4F7167E9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9755" y="3291923"/>
            <a:ext cx="84255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⚡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CPU resources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Maximizes CPU utilization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🔄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Improving user experience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689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978A89-85A9-7E07-2F17-F47F55BEA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⚙️ CPU Burst and I/O Burst in OS Scheduling</a:t>
            </a:r>
            <a:endParaRPr lang="en-IN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99D3D-1291-7699-F65E-033BBE099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3900" y="1131094"/>
            <a:ext cx="10850563" cy="500697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/>
              <a:t> CPU Burst</a:t>
            </a:r>
          </a:p>
          <a:p>
            <a:pPr marL="114300" indent="0">
              <a:buNone/>
            </a:pPr>
            <a:r>
              <a:rPr lang="en-US" sz="1600" dirty="0"/>
              <a:t>A CPU burst occurs when a process is actively executing instructions using the CPU.</a:t>
            </a:r>
          </a:p>
          <a:p>
            <a:pPr marL="114300" indent="0">
              <a:buNone/>
            </a:pPr>
            <a:r>
              <a:rPr lang="en-US" sz="1600" dirty="0"/>
              <a:t>This is the part where the CPU is doing the actual work for the process (calculations, logic, etc.).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b="1" dirty="0"/>
              <a:t> CPU Burst Time</a:t>
            </a:r>
          </a:p>
          <a:p>
            <a:pPr marL="114300" indent="0">
              <a:buNone/>
            </a:pPr>
            <a:r>
              <a:rPr lang="en-US" sz="1600" dirty="0"/>
              <a:t>CPU burst time refers to the amount of time a process needs to utilize the CPU to complete a specific task</a:t>
            </a:r>
          </a:p>
          <a:p>
            <a:pPr marL="114300" lvl="0" indent="0">
              <a:buNone/>
            </a:pPr>
            <a:endParaRPr lang="en-US" sz="2000" b="1" dirty="0">
              <a:solidFill>
                <a:srgbClr val="000000"/>
              </a:solidFill>
              <a:cs typeface="+mn-cs"/>
            </a:endParaRPr>
          </a:p>
          <a:p>
            <a:pPr marL="114300" lvl="0" indent="0">
              <a:buNone/>
            </a:pPr>
            <a:r>
              <a:rPr lang="en-US" sz="2000" b="1" dirty="0">
                <a:solidFill>
                  <a:srgbClr val="000000"/>
                </a:solidFill>
                <a:cs typeface="+mn-cs"/>
              </a:rPr>
              <a:t>I/O Burst: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b="1" dirty="0">
              <a:solidFill>
                <a:srgbClr val="000000"/>
              </a:solidFill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I/O burst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happens when a process is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waiting for input/output operations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complete (like reading from a file or waiting for user input).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this time,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CPU is idle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that process and can be given to another one.</a:t>
            </a:r>
          </a:p>
          <a:p>
            <a:pPr marL="114300" lvl="0" indent="0">
              <a:buNone/>
            </a:pPr>
            <a:endParaRPr lang="en-US" sz="1800" b="1" dirty="0"/>
          </a:p>
          <a:p>
            <a:pPr marL="114300" lvl="0" indent="0">
              <a:buNone/>
            </a:pPr>
            <a:r>
              <a:rPr lang="en-US" sz="2000" b="1" dirty="0">
                <a:solidFill>
                  <a:srgbClr val="000000"/>
                </a:solidFill>
                <a:cs typeface="+mn-cs"/>
              </a:rPr>
              <a:t>        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701234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">
            <a:extLst>
              <a:ext uri="{FF2B5EF4-FFF2-40B4-BE49-F238E27FC236}">
                <a16:creationId xmlns:a16="http://schemas.microsoft.com/office/drawing/2014/main" id="{10AA302E-1FBB-031A-85C8-04453E848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558800"/>
            <a:ext cx="6680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57213" indent="-21431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993300"/>
                </a:solidFill>
                <a:latin typeface="Arial" panose="020B0604020202020204" pitchFamily="34" charset="0"/>
              </a:rPr>
              <a:t>                                   </a:t>
            </a:r>
          </a:p>
        </p:txBody>
      </p:sp>
      <p:sp>
        <p:nvSpPr>
          <p:cNvPr id="18" name="Text Box 1">
            <a:extLst>
              <a:ext uri="{FF2B5EF4-FFF2-40B4-BE49-F238E27FC236}">
                <a16:creationId xmlns:a16="http://schemas.microsoft.com/office/drawing/2014/main" id="{AD21E932-5EAC-CA8D-6057-9F05C2DBF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711200"/>
            <a:ext cx="6692900" cy="60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57213" indent="-21431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993300"/>
                </a:solidFill>
                <a:latin typeface="Arial" panose="020B0604020202020204" pitchFamily="34" charset="0"/>
              </a:rPr>
              <a:t>                                                               Sequence of CPU and I/O Bursts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6629111B-4E77-03E2-D76E-596F210AF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260" y="1468016"/>
            <a:ext cx="4002833" cy="5161384"/>
          </a:xfrm>
          <a:prstGeom prst="rect">
            <a:avLst/>
          </a:prstGeom>
          <a:noFill/>
          <a:ln w="9360" cap="sq">
            <a:solidFill>
              <a:srgbClr val="92D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425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6F1FD-3225-05BD-C952-51C905EA0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400" dirty="0"/>
              <a:t>🖥️ </a:t>
            </a:r>
            <a:r>
              <a:rPr lang="en-US" sz="2400" b="1" dirty="0"/>
              <a:t>CPU Scheduling Decisions in Operating Systems</a:t>
            </a:r>
          </a:p>
          <a:p>
            <a:pPr marL="114300" indent="0">
              <a:buNone/>
            </a:pPr>
            <a:r>
              <a:rPr lang="en-US" sz="1800" dirty="0"/>
              <a:t>📌 When Does the OS Make Scheduling Decisions?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93D70C-E395-44D4-9AA4-5CCF107C2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654535"/>
              </p:ext>
            </p:extLst>
          </p:nvPr>
        </p:nvGraphicFramePr>
        <p:xfrm>
          <a:off x="990600" y="2228356"/>
          <a:ext cx="8267700" cy="3918138"/>
        </p:xfrm>
        <a:graphic>
          <a:graphicData uri="http://schemas.openxmlformats.org/drawingml/2006/table">
            <a:tbl>
              <a:tblPr/>
              <a:tblGrid>
                <a:gridCol w="1569060">
                  <a:extLst>
                    <a:ext uri="{9D8B030D-6E8A-4147-A177-3AD203B41FA5}">
                      <a16:colId xmlns:a16="http://schemas.microsoft.com/office/drawing/2014/main" val="1170256486"/>
                    </a:ext>
                  </a:extLst>
                </a:gridCol>
                <a:gridCol w="2232880">
                  <a:extLst>
                    <a:ext uri="{9D8B030D-6E8A-4147-A177-3AD203B41FA5}">
                      <a16:colId xmlns:a16="http://schemas.microsoft.com/office/drawing/2014/main" val="3773079175"/>
                    </a:ext>
                  </a:extLst>
                </a:gridCol>
                <a:gridCol w="2232880">
                  <a:extLst>
                    <a:ext uri="{9D8B030D-6E8A-4147-A177-3AD203B41FA5}">
                      <a16:colId xmlns:a16="http://schemas.microsoft.com/office/drawing/2014/main" val="4133341989"/>
                    </a:ext>
                  </a:extLst>
                </a:gridCol>
                <a:gridCol w="2232880">
                  <a:extLst>
                    <a:ext uri="{9D8B030D-6E8A-4147-A177-3AD203B41FA5}">
                      <a16:colId xmlns:a16="http://schemas.microsoft.com/office/drawing/2014/main" val="1242628223"/>
                    </a:ext>
                  </a:extLst>
                </a:gridCol>
              </a:tblGrid>
              <a:tr h="424882">
                <a:tc>
                  <a:txBody>
                    <a:bodyPr/>
                    <a:lstStyle/>
                    <a:p>
                      <a:r>
                        <a:rPr lang="en-IN" sz="1400"/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Condition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State Transition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Type of Scheduling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514711"/>
                  </a:ext>
                </a:extLst>
              </a:tr>
              <a:tr h="722300"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I/O request or wait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Running → Waiting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Non-preemptive</a:t>
                      </a:r>
                      <a:r>
                        <a:rPr lang="en-IN" sz="1400"/>
                        <a:t>(CPU automatically released)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562195"/>
                  </a:ext>
                </a:extLst>
              </a:tr>
              <a:tr h="722300">
                <a:tc>
                  <a:txBody>
                    <a:bodyPr/>
                    <a:lstStyle/>
                    <a:p>
                      <a:r>
                        <a:rPr lang="en-IN" sz="14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Interrupt occurs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Running → Ready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Preemptive</a:t>
                      </a:r>
                      <a:r>
                        <a:rPr lang="en-US" sz="1400"/>
                        <a:t>(OS may take CPU from current process)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771516"/>
                  </a:ext>
                </a:extLst>
              </a:tr>
              <a:tr h="1019718"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I/O completes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Waiting → Ready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Preemptive</a:t>
                      </a:r>
                      <a:r>
                        <a:rPr lang="en-US" sz="1400"/>
                        <a:t>(newly ready process might preempt current one)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539471"/>
                  </a:ext>
                </a:extLst>
              </a:tr>
              <a:tr h="1019718">
                <a:tc>
                  <a:txBody>
                    <a:bodyPr/>
                    <a:lstStyle/>
                    <a:p>
                      <a:r>
                        <a:rPr lang="en-IN" sz="14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Process terminates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Running → Exit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Non-preemptive</a:t>
                      </a:r>
                      <a:r>
                        <a:rPr lang="en-US" sz="1400" dirty="0"/>
                        <a:t>(CPU becomes free; next process is scheduled)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6945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399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25D58C-8D4B-9B04-34FD-76B2E11EA4FD}"/>
              </a:ext>
            </a:extLst>
          </p:cNvPr>
          <p:cNvSpPr txBox="1"/>
          <p:nvPr/>
        </p:nvSpPr>
        <p:spPr>
          <a:xfrm>
            <a:off x="571501" y="1085850"/>
            <a:ext cx="85725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✅ Key Concepts:</a:t>
            </a:r>
          </a:p>
          <a:p>
            <a:endParaRPr lang="en-US" b="1" dirty="0"/>
          </a:p>
          <a:p>
            <a:r>
              <a:rPr lang="en-US" sz="1600" b="1" dirty="0"/>
              <a:t>Preemptive Scheduling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en-US" sz="1600" dirty="0"/>
              <a:t>The OS forcibly </a:t>
            </a:r>
            <a:r>
              <a:rPr lang="en-US" sz="1600" b="1" dirty="0"/>
              <a:t>takes back the CPU</a:t>
            </a:r>
            <a:r>
              <a:rPr lang="en-US" sz="1600" dirty="0"/>
              <a:t> from a running process (e.g., due to an interrupt or time slice expiry).</a:t>
            </a:r>
          </a:p>
          <a:p>
            <a:endParaRPr lang="en-US" sz="1600" b="1" dirty="0"/>
          </a:p>
          <a:p>
            <a:endParaRPr lang="en-US" sz="1600" b="1" dirty="0"/>
          </a:p>
          <a:p>
            <a:r>
              <a:rPr lang="en-US" sz="1600" b="1" dirty="0"/>
              <a:t>Non-preemptive Scheduling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en-US" sz="1600" dirty="0"/>
              <a:t>The OS </a:t>
            </a:r>
            <a:r>
              <a:rPr lang="en-US" sz="1600" b="1" dirty="0"/>
              <a:t>waits until the process releases the CPU</a:t>
            </a:r>
            <a:r>
              <a:rPr lang="en-US" sz="1600" dirty="0"/>
              <a:t> voluntarily (e.g., via I/O or termination).</a:t>
            </a:r>
          </a:p>
        </p:txBody>
      </p:sp>
    </p:spTree>
    <p:extLst>
      <p:ext uri="{BB962C8B-B14F-4D97-AF65-F5344CB8AC3E}">
        <p14:creationId xmlns:p14="http://schemas.microsoft.com/office/powerpoint/2010/main" val="1555557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>
            <a:spLocks noGrp="1"/>
          </p:cNvSpPr>
          <p:nvPr>
            <p:ph type="body" idx="1"/>
          </p:nvPr>
        </p:nvSpPr>
        <p:spPr>
          <a:xfrm>
            <a:off x="1552115" y="1138801"/>
            <a:ext cx="85217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spcBef>
                <a:spcPts val="480"/>
              </a:spcBef>
              <a:buSzPts val="2400"/>
              <a:buNone/>
            </a:pPr>
            <a:endParaRPr lang="en-IN" sz="1400" dirty="0"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891E85-696D-505E-5A2E-FFE7D1CFE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924232"/>
            <a:ext cx="5077952" cy="44540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D64084-E94E-9A80-D8C3-83874FCA20F0}"/>
              </a:ext>
            </a:extLst>
          </p:cNvPr>
          <p:cNvSpPr txBox="1"/>
          <p:nvPr/>
        </p:nvSpPr>
        <p:spPr>
          <a:xfrm>
            <a:off x="5584723" y="924232"/>
            <a:ext cx="43261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Time for Some MCQs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EAB06-CF1D-5D8C-0650-9006402534A2}"/>
              </a:ext>
            </a:extLst>
          </p:cNvPr>
          <p:cNvSpPr txBox="1"/>
          <p:nvPr/>
        </p:nvSpPr>
        <p:spPr>
          <a:xfrm>
            <a:off x="1752600" y="2462240"/>
            <a:ext cx="7391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                                                    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         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0D0207A-ECCF-D75D-CC1A-F32DCA465E68}"/>
              </a:ext>
            </a:extLst>
          </p:cNvPr>
          <p:cNvSpPr txBox="1"/>
          <p:nvPr/>
        </p:nvSpPr>
        <p:spPr>
          <a:xfrm>
            <a:off x="839755" y="1073021"/>
            <a:ext cx="6683051" cy="253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of the following process state transitions is/are NOT possible?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Running to Ready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Waiting to Running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Ready to Waiting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 Running to Terminated</a:t>
            </a:r>
          </a:p>
        </p:txBody>
      </p:sp>
    </p:spTree>
    <p:extLst>
      <p:ext uri="{BB962C8B-B14F-4D97-AF65-F5344CB8AC3E}">
        <p14:creationId xmlns:p14="http://schemas.microsoft.com/office/powerpoint/2010/main" val="4097404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D3D54-F9E8-586B-B40F-75752B23A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dirty="0"/>
              <a:t>Transitions NOT possible: B (Waiting to Running), C (Ready to Waiting)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75899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9F8B7-4DE5-70A7-5922-3F473E1A0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800" dirty="0"/>
              <a:t>Which transitions are involved in process creation and termination? </a:t>
            </a:r>
          </a:p>
          <a:p>
            <a:pPr marL="628650" indent="-514350">
              <a:buAutoNum type="alphaUcParenR"/>
            </a:pPr>
            <a:r>
              <a:rPr lang="en-US" sz="1800" dirty="0"/>
              <a:t>New → Ready </a:t>
            </a:r>
          </a:p>
          <a:p>
            <a:pPr marL="628650" indent="-514350">
              <a:buAutoNum type="alphaUcParenR"/>
            </a:pPr>
            <a:r>
              <a:rPr lang="en-US" sz="1800" dirty="0"/>
              <a:t>Running → Terminated </a:t>
            </a:r>
          </a:p>
          <a:p>
            <a:pPr marL="628650" indent="-514350">
              <a:buAutoNum type="alphaUcParenR"/>
            </a:pPr>
            <a:r>
              <a:rPr lang="en-US" sz="1800" dirty="0"/>
              <a:t>Ready → Waiting</a:t>
            </a:r>
          </a:p>
          <a:p>
            <a:pPr marL="628650" indent="-514350">
              <a:buAutoNum type="alphaUcParenR"/>
            </a:pPr>
            <a:r>
              <a:rPr lang="en-US" sz="1800" dirty="0"/>
              <a:t> Waiting → Ready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089415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A4ED3-A4F4-53EA-39F9-C8F89265E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b="1" dirty="0"/>
              <a:t>A) New → Ready</a:t>
            </a:r>
            <a:br>
              <a:rPr lang="en-US" sz="1800" dirty="0"/>
            </a:br>
            <a:r>
              <a:rPr lang="en-US" sz="1800" b="1" dirty="0"/>
              <a:t>B) Running → Terminated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525013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D9BA33BC-4E68-92B7-0085-581ECFC93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498" y="508311"/>
            <a:ext cx="116135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following process state transition diagram for a uniprocessor system, assume that there are always some processes in the ready state: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5" name="Picture 16" descr="GATE CSE 2009 Operating Systems - Process Concepts and Cpu Scheduling Question 26 English">
            <a:extLst>
              <a:ext uri="{FF2B5EF4-FFF2-40B4-BE49-F238E27FC236}">
                <a16:creationId xmlns:a16="http://schemas.microsoft.com/office/drawing/2014/main" id="{77FA77C5-14FE-38DB-BAA0-024822975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249" y="1059898"/>
            <a:ext cx="6438122" cy="141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0636E21-DCFD-320A-031C-0EDCC90EC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458" y="2805233"/>
            <a:ext cx="1045028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Now consider the following statements:</a:t>
            </a:r>
            <a:b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 If a process makes a transition D, it would result in another process making transition A immediately.</a:t>
            </a:r>
            <a:b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 A process P2 in blocked state can make transition E while another process P1 is in running state.</a:t>
            </a:r>
            <a:b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 The OS uses preemptive scheduling.</a:t>
            </a:r>
            <a:b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 The OS uses non-preemptive scheduling. Which of the above statements are TRUE?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1 and 2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1 and 3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 and 3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 2 and 4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758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974EB-45FF-88EF-8CAA-8F29F9037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800" dirty="0"/>
              <a:t>Correct Answer 2 and 3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03356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E63073-1220-0BE1-183B-2732D8A52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/>
              <a:t>Types of CPU Scheduling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5D6BA-6107-E7D0-34C6-E0F1AF7AB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b="1" dirty="0"/>
              <a:t>1️⃣ Non-Preemptive Scheduling</a:t>
            </a:r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r>
              <a:rPr lang="en-US" sz="1800" dirty="0"/>
              <a:t>Once a process starts execution on the CPU, </a:t>
            </a:r>
            <a:r>
              <a:rPr lang="en-US" sz="1800" b="1" dirty="0"/>
              <a:t>it runs to completion or voluntarily yields</a:t>
            </a:r>
            <a:r>
              <a:rPr lang="en-US" sz="1800" dirty="0"/>
              <a:t> (e.g., for I/O).</a:t>
            </a:r>
          </a:p>
          <a:p>
            <a:pPr marL="114300" indent="0">
              <a:buNone/>
            </a:pPr>
            <a:r>
              <a:rPr lang="en-US" sz="1800" dirty="0"/>
              <a:t>The OS </a:t>
            </a:r>
            <a:r>
              <a:rPr lang="en-US" sz="1800" b="1" dirty="0"/>
              <a:t>does not interrupt</a:t>
            </a:r>
            <a:r>
              <a:rPr lang="en-US" sz="1800" dirty="0"/>
              <a:t> the process.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b="1" dirty="0"/>
              <a:t>✅ Examples:</a:t>
            </a:r>
            <a:endParaRPr lang="en-US" sz="1800" dirty="0"/>
          </a:p>
          <a:p>
            <a:pPr marL="114300" indent="0">
              <a:buNone/>
            </a:pPr>
            <a:r>
              <a:rPr lang="en-US" sz="1800" b="1" dirty="0"/>
              <a:t>First Come First Serve (FCFS)</a:t>
            </a:r>
            <a:endParaRPr lang="en-US" sz="1800" dirty="0"/>
          </a:p>
          <a:p>
            <a:pPr marL="114300" indent="0">
              <a:buNone/>
            </a:pPr>
            <a:r>
              <a:rPr lang="en-US" sz="1800" b="1" dirty="0"/>
              <a:t>Shortest Job First (SJF)</a:t>
            </a:r>
            <a:r>
              <a:rPr lang="en-US" sz="1800" dirty="0"/>
              <a:t> </a:t>
            </a:r>
          </a:p>
          <a:p>
            <a:pPr marL="114300" indent="0">
              <a:buNone/>
            </a:pPr>
            <a:r>
              <a:rPr lang="en-US" sz="1800" b="1" dirty="0"/>
              <a:t>Priority Scheduling</a:t>
            </a:r>
            <a:r>
              <a:rPr lang="en-US" sz="1800" dirty="0"/>
              <a:t> (non-preemptive variant)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2000" b="1" dirty="0"/>
              <a:t>📌 Real-life analogy:</a:t>
            </a:r>
            <a:br>
              <a:rPr lang="en-US" sz="2000" dirty="0"/>
            </a:br>
            <a:r>
              <a:rPr lang="en-US" sz="1800" dirty="0"/>
              <a:t>A person at a doctor's clinic gets full time with the doctor until they leave — no interruptions.</a:t>
            </a:r>
          </a:p>
          <a:p>
            <a:pPr marL="114300" indent="0">
              <a:buNone/>
            </a:pPr>
            <a:endParaRPr lang="en-IN" dirty="0"/>
          </a:p>
          <a:p>
            <a:pPr marL="114300" indent="0" algn="ctr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8251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D1F41-B220-EA96-100A-AB1296ED5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b="1" dirty="0"/>
              <a:t>2️⃣ Preemptive Scheduling</a:t>
            </a:r>
          </a:p>
          <a:p>
            <a:pPr marL="114300" indent="0">
              <a:buNone/>
            </a:pPr>
            <a:endParaRPr lang="en-US" sz="2200" b="1" dirty="0"/>
          </a:p>
          <a:p>
            <a:pPr marL="114300" indent="0">
              <a:buNone/>
            </a:pPr>
            <a:r>
              <a:rPr lang="en-US" sz="1800" dirty="0"/>
              <a:t>The OS can </a:t>
            </a:r>
            <a:r>
              <a:rPr lang="en-US" sz="1800" b="1" dirty="0"/>
              <a:t>interrupt and suspend a running process</a:t>
            </a:r>
            <a:r>
              <a:rPr lang="en-US" sz="1800" dirty="0"/>
              <a:t> to assign the CPU to another process (e.g., one with higher priority).</a:t>
            </a:r>
          </a:p>
          <a:p>
            <a:pPr marL="114300" indent="0">
              <a:buNone/>
            </a:pPr>
            <a:r>
              <a:rPr lang="en-US" sz="1800" dirty="0"/>
              <a:t>Used in </a:t>
            </a:r>
            <a:r>
              <a:rPr lang="en-US" sz="1800" b="1" dirty="0"/>
              <a:t>multitasking systems</a:t>
            </a:r>
            <a:r>
              <a:rPr lang="en-US" sz="1800" dirty="0"/>
              <a:t> for fairness and responsiveness.</a:t>
            </a:r>
          </a:p>
          <a:p>
            <a:pPr marL="114300" indent="0">
              <a:buNone/>
            </a:pPr>
            <a:endParaRPr lang="en-US" sz="1900" dirty="0"/>
          </a:p>
          <a:p>
            <a:pPr marL="114300" indent="0">
              <a:buNone/>
            </a:pPr>
            <a:r>
              <a:rPr lang="en-US" sz="1900" b="1" dirty="0"/>
              <a:t>✅ Examples:</a:t>
            </a:r>
            <a:endParaRPr lang="en-US" sz="1900" dirty="0"/>
          </a:p>
          <a:p>
            <a:pPr marL="114300" indent="0">
              <a:buNone/>
            </a:pPr>
            <a:r>
              <a:rPr lang="en-US" sz="1900" b="1" dirty="0"/>
              <a:t>Round Robin (RR)</a:t>
            </a:r>
            <a:endParaRPr lang="en-US" sz="1900" dirty="0"/>
          </a:p>
          <a:p>
            <a:pPr marL="114300" indent="0">
              <a:buNone/>
            </a:pPr>
            <a:r>
              <a:rPr lang="en-US" sz="1800" b="1" dirty="0"/>
              <a:t>Preemptive Priority Scheduling</a:t>
            </a:r>
            <a:endParaRPr lang="en-US" sz="1800" dirty="0"/>
          </a:p>
          <a:p>
            <a:pPr marL="114300" indent="0">
              <a:buNone/>
            </a:pPr>
            <a:r>
              <a:rPr lang="en-US" sz="1800" b="1" dirty="0"/>
              <a:t>Shortest Remaining Time First (SRTF)</a:t>
            </a:r>
            <a:endParaRPr lang="en-US" sz="1800" dirty="0"/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r>
              <a:rPr lang="en-US" sz="1800" b="1" dirty="0"/>
              <a:t>📌 Real-life analogy:</a:t>
            </a:r>
            <a:br>
              <a:rPr lang="en-US" sz="1800" dirty="0"/>
            </a:br>
            <a:r>
              <a:rPr lang="en-US" sz="1800" dirty="0"/>
              <a:t>A manager may interrupt an ongoing meeting if a high-priority issue arises.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827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2D675-E273-ABFD-6694-2B1FFC99C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r>
              <a:rPr lang="en-US" sz="1800" b="1" dirty="0"/>
              <a:t>Function</a:t>
            </a:r>
            <a:r>
              <a:rPr lang="en-US" sz="1800" dirty="0"/>
              <a:t>: Picks </a:t>
            </a:r>
            <a:r>
              <a:rPr lang="en-US" sz="1800" i="1" dirty="0"/>
              <a:t>which</a:t>
            </a:r>
            <a:r>
              <a:rPr lang="en-US" sz="1800" dirty="0"/>
              <a:t> process should run next from the ready queue, using defined algorithms.</a:t>
            </a:r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r>
              <a:rPr lang="en-US" sz="1800" b="1" dirty="0"/>
              <a:t>Types</a:t>
            </a:r>
            <a:r>
              <a:rPr lang="en-US" sz="1800" dirty="0"/>
              <a:t>:</a:t>
            </a:r>
          </a:p>
          <a:p>
            <a:pPr marL="114300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en-US" sz="1800" b="1" dirty="0"/>
              <a:t>Long‑term scheduler</a:t>
            </a:r>
            <a:r>
              <a:rPr lang="en-US" sz="1800" dirty="0"/>
              <a:t> (Job scheduler) – admits new processes, controlling multi-programming level.</a:t>
            </a:r>
          </a:p>
          <a:p>
            <a:pPr marL="457200" lvl="1" indent="0">
              <a:buNone/>
            </a:pPr>
            <a:r>
              <a:rPr lang="en-US" sz="1800" b="1" dirty="0"/>
              <a:t>Medium‑term scheduler</a:t>
            </a:r>
            <a:r>
              <a:rPr lang="en-US" sz="1800" dirty="0"/>
              <a:t> – swaps processes between main memory and secondary storage. Runs occasionally (when system is overloaded or needs balancing).</a:t>
            </a:r>
          </a:p>
          <a:p>
            <a:pPr marL="457200" lvl="1" indent="0">
              <a:buNone/>
            </a:pPr>
            <a:r>
              <a:rPr lang="en-US" sz="1800" b="1" dirty="0"/>
              <a:t>Short‑term scheduler</a:t>
            </a:r>
            <a:r>
              <a:rPr lang="en-US" sz="1800" dirty="0"/>
              <a:t> (CPU scheduler) – selects the next process for CPU execution.</a:t>
            </a:r>
            <a:r>
              <a:rPr lang="en-IN" sz="1800" dirty="0"/>
              <a:t> Runs very frequently</a:t>
            </a:r>
            <a:r>
              <a:rPr lang="en-IN" sz="1800" b="1" dirty="0"/>
              <a:t>.</a:t>
            </a:r>
            <a:endParaRPr lang="en-US" sz="1800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6FD58B-B1EC-DDEF-29A0-0D5C6015FBD7}"/>
              </a:ext>
            </a:extLst>
          </p:cNvPr>
          <p:cNvSpPr txBox="1"/>
          <p:nvPr/>
        </p:nvSpPr>
        <p:spPr>
          <a:xfrm>
            <a:off x="4945224" y="720726"/>
            <a:ext cx="142758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 </a:t>
            </a:r>
            <a:r>
              <a:rPr lang="en-US" sz="2000" b="1" dirty="0"/>
              <a:t>Scheduler</a:t>
            </a:r>
            <a:endParaRPr lang="en-IN" sz="2000" dirty="0"/>
          </a:p>
        </p:txBody>
      </p:sp>
      <p:sp>
        <p:nvSpPr>
          <p:cNvPr id="2" name="AutoShape 2" descr="Lightbox">
            <a:extLst>
              <a:ext uri="{FF2B5EF4-FFF2-40B4-BE49-F238E27FC236}">
                <a16:creationId xmlns:a16="http://schemas.microsoft.com/office/drawing/2014/main" id="{1E0306A3-FF97-00FE-8709-A9EDF018A6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295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AAE691-7794-E78A-AECA-D88168FC1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24" y="905070"/>
            <a:ext cx="10850563" cy="933061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Dispatcher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DE5C4-B327-B1AC-D039-267BD4C5C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900" b="1" dirty="0"/>
              <a:t>Function</a:t>
            </a:r>
            <a:r>
              <a:rPr lang="en-US" sz="1900" dirty="0"/>
              <a:t>: Executes </a:t>
            </a:r>
            <a:r>
              <a:rPr lang="en-US" sz="1900" i="1" dirty="0"/>
              <a:t>how</a:t>
            </a:r>
            <a:r>
              <a:rPr lang="en-US" sz="1900" dirty="0"/>
              <a:t> the chosen process actually starts running on the CPU.</a:t>
            </a:r>
          </a:p>
          <a:p>
            <a:pPr marL="114300" indent="0">
              <a:buNone/>
            </a:pPr>
            <a:endParaRPr lang="en-US" sz="1900" b="1" dirty="0"/>
          </a:p>
          <a:p>
            <a:pPr marL="114300" indent="0">
              <a:buNone/>
            </a:pPr>
            <a:r>
              <a:rPr lang="en-US" sz="1900" b="1" dirty="0"/>
              <a:t>Responsibilities</a:t>
            </a:r>
            <a:r>
              <a:rPr lang="en-US" sz="1900" dirty="0"/>
              <a:t> (upon scheduler’s selection):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/>
              <a:t>Save current process context and load next process context.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/>
              <a:t>Switch processor from kernel mode to user mode.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/>
              <a:t>Jump to the next instruction of the selected process.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Latency</a:t>
            </a:r>
            <a:r>
              <a:rPr lang="en-US" sz="1900" dirty="0"/>
              <a:t>: This context‐switching delay is known as </a:t>
            </a:r>
            <a:r>
              <a:rPr lang="en-US" sz="1900" b="1" dirty="0"/>
              <a:t>dispatch latency</a:t>
            </a:r>
            <a:r>
              <a:rPr lang="en-US" sz="1900" dirty="0"/>
              <a:t>. </a:t>
            </a:r>
          </a:p>
          <a:p>
            <a:pPr marL="114300" indent="0">
              <a:buNone/>
            </a:pPr>
            <a:endParaRPr lang="en-US" sz="1900" b="1" dirty="0"/>
          </a:p>
          <a:p>
            <a:pPr marL="114300" indent="0">
              <a:buNone/>
            </a:pPr>
            <a:r>
              <a:rPr lang="en-US" sz="1900" b="1" dirty="0"/>
              <a:t>Dependency</a:t>
            </a:r>
            <a:r>
              <a:rPr lang="en-US" sz="1900" dirty="0"/>
              <a:t>: Cannot act without scheduler’s decision—only dispatches processes ordered by the scheduler. 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334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846F38-DD63-9C83-B29F-899044731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-279919"/>
            <a:ext cx="10850563" cy="2006081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IN" sz="4400" b="1" dirty="0"/>
              <a:t>Key CPU scheduling criteria</a:t>
            </a:r>
            <a:br>
              <a:rPr lang="en-IN" sz="4400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29501-0160-A060-7210-A7032AD0A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dirty="0">
                <a:solidFill>
                  <a:srgbClr val="000000"/>
                </a:solidFill>
                <a:cs typeface="+mn-cs"/>
              </a:rPr>
              <a:t>Which algorithm to use in a particular situation</a:t>
            </a:r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r>
              <a:rPr lang="en-US" sz="1600" b="1" dirty="0"/>
              <a:t>✔️ 1. CPU Utilization</a:t>
            </a:r>
          </a:p>
          <a:p>
            <a:pPr marL="114300" indent="0">
              <a:buNone/>
            </a:pPr>
            <a:r>
              <a:rPr lang="en-US" sz="1600" b="1" dirty="0"/>
              <a:t>Definition</a:t>
            </a:r>
            <a:r>
              <a:rPr lang="en-US" sz="1600" dirty="0"/>
              <a:t>: The percentage (%) of time the CPU is actually doing work (not idle).</a:t>
            </a:r>
          </a:p>
          <a:p>
            <a:pPr marL="114300" indent="0">
              <a:buNone/>
            </a:pPr>
            <a:r>
              <a:rPr lang="en-US" sz="1600" b="1" dirty="0"/>
              <a:t>Goal</a:t>
            </a:r>
            <a:r>
              <a:rPr lang="en-US" sz="1600" dirty="0"/>
              <a:t>: </a:t>
            </a:r>
            <a:r>
              <a:rPr lang="en-US" sz="1600" b="1" dirty="0"/>
              <a:t>Maximize</a:t>
            </a:r>
            <a:r>
              <a:rPr lang="en-US" sz="1600" dirty="0"/>
              <a:t> — systems aim for high CPU activity (typically 40–90% utilization in real environments)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✔️ 2. Throughput</a:t>
            </a:r>
          </a:p>
          <a:p>
            <a:pPr marL="114300" indent="0">
              <a:buNone/>
            </a:pPr>
            <a:endParaRPr lang="en-US" sz="1100" b="1" dirty="0"/>
          </a:p>
          <a:p>
            <a:pPr marL="114300" indent="0">
              <a:buNone/>
            </a:pPr>
            <a:r>
              <a:rPr lang="en-US" sz="1600" b="1" dirty="0"/>
              <a:t>Definition</a:t>
            </a:r>
            <a:r>
              <a:rPr lang="en-US" sz="1600" dirty="0"/>
              <a:t>:</a:t>
            </a:r>
            <a:r>
              <a:rPr lang="en-US" sz="1100" dirty="0"/>
              <a:t> </a:t>
            </a:r>
            <a:r>
              <a:rPr lang="en-US" sz="1600" dirty="0"/>
              <a:t>Number of processes completed per unit time (e.g., jobs/sec).</a:t>
            </a:r>
          </a:p>
          <a:p>
            <a:pPr marL="114300" indent="0">
              <a:buNone/>
            </a:pPr>
            <a:r>
              <a:rPr lang="en-US" sz="1600" b="1" dirty="0"/>
              <a:t>Goal</a:t>
            </a:r>
            <a:r>
              <a:rPr lang="en-US" sz="1100" b="1" dirty="0"/>
              <a:t> </a:t>
            </a:r>
            <a:r>
              <a:rPr lang="en-US" sz="1600" b="1" dirty="0"/>
              <a:t>: Maximize</a:t>
            </a:r>
            <a:r>
              <a:rPr lang="en-US" sz="1600" dirty="0"/>
              <a:t> — the more processes finished, the more efficient the system.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IN" sz="1600" dirty="0"/>
              <a:t>✔️ 3. </a:t>
            </a:r>
            <a:r>
              <a:rPr lang="en-IN" sz="1600" b="1" dirty="0"/>
              <a:t>Turnaround Time (TAT)</a:t>
            </a:r>
          </a:p>
          <a:p>
            <a:pPr marL="114300" indent="0">
              <a:buNone/>
            </a:pPr>
            <a:endParaRPr lang="en-IN" sz="1600" b="1" dirty="0"/>
          </a:p>
          <a:p>
            <a:pPr marL="114300" indent="0">
              <a:buNone/>
            </a:pPr>
            <a:r>
              <a:rPr lang="en-US" sz="1600" b="1" dirty="0"/>
              <a:t>Definition</a:t>
            </a:r>
            <a:r>
              <a:rPr lang="en-US" sz="1600" dirty="0"/>
              <a:t>: The total time from the moment a process is submitted to the time it completes.</a:t>
            </a:r>
          </a:p>
          <a:p>
            <a:pPr marL="114300" indent="0">
              <a:buNone/>
            </a:pPr>
            <a:r>
              <a:rPr lang="en-US" sz="1600" dirty="0"/>
              <a:t>TAT = Completion Time – Arrival Time</a:t>
            </a:r>
          </a:p>
          <a:p>
            <a:pPr marL="11430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56409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686C4-469F-8399-30CB-7EAC31BEE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b="1" dirty="0"/>
              <a:t>✔️ </a:t>
            </a:r>
            <a:r>
              <a:rPr lang="en-IN" sz="1600" b="1" dirty="0"/>
              <a:t>4. Waiting Time</a:t>
            </a:r>
            <a:r>
              <a:rPr lang="en-IN" sz="1600" dirty="0"/>
              <a:t>:</a:t>
            </a:r>
          </a:p>
          <a:p>
            <a:pPr marL="114300" indent="0">
              <a:buNone/>
            </a:pPr>
            <a:r>
              <a:rPr lang="en-IN" sz="1600" dirty="0"/>
              <a:t>Definition:</a:t>
            </a:r>
            <a:r>
              <a:rPr lang="en-US" sz="1600" dirty="0"/>
              <a:t>The total time a process spends in the </a:t>
            </a:r>
            <a:r>
              <a:rPr lang="en-US" sz="1600" b="1" dirty="0"/>
              <a:t>ready queue</a:t>
            </a:r>
            <a:r>
              <a:rPr lang="en-US" sz="1600" dirty="0"/>
              <a:t> waiting to be assigned to the CPU.</a:t>
            </a:r>
          </a:p>
          <a:p>
            <a:pPr marL="114300" indent="0">
              <a:buNone/>
            </a:pPr>
            <a:r>
              <a:rPr lang="en-US" sz="1600" dirty="0"/>
              <a:t>Waiting Time = Turnaround Time - Burst Time 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✔️ </a:t>
            </a:r>
            <a:r>
              <a:rPr lang="en-IN" sz="1600" b="1" dirty="0"/>
              <a:t>5. Response Time</a:t>
            </a:r>
            <a:r>
              <a:rPr lang="en-IN" sz="1600" dirty="0"/>
              <a:t>:</a:t>
            </a:r>
          </a:p>
          <a:p>
            <a:pPr marL="114300" indent="0">
              <a:buNone/>
            </a:pPr>
            <a:r>
              <a:rPr lang="en-IN" sz="1600" dirty="0"/>
              <a:t> Definition: </a:t>
            </a:r>
            <a:r>
              <a:rPr lang="en-US" sz="1600" dirty="0"/>
              <a:t>The time from the </a:t>
            </a:r>
            <a:r>
              <a:rPr lang="en-US" sz="1600" b="1" dirty="0"/>
              <a:t>submission of a request</a:t>
            </a:r>
            <a:r>
              <a:rPr lang="en-US" sz="1600" dirty="0"/>
              <a:t> (or process) until the </a:t>
            </a:r>
            <a:r>
              <a:rPr lang="en-US" sz="1600" b="1" dirty="0"/>
              <a:t>first response</a:t>
            </a:r>
            <a:r>
              <a:rPr lang="en-US" sz="1600" dirty="0"/>
              <a:t> is produced (i.e., the process starts execution), </a:t>
            </a:r>
            <a:r>
              <a:rPr lang="en-US" sz="1600" b="1" dirty="0"/>
              <a:t>not when it finishes</a:t>
            </a:r>
            <a:r>
              <a:rPr lang="en-US" sz="1600" dirty="0"/>
              <a:t>.</a:t>
            </a:r>
          </a:p>
          <a:p>
            <a:pPr marL="114300" indent="0">
              <a:buNone/>
            </a:pPr>
            <a:r>
              <a:rPr lang="en-US" sz="1600" dirty="0"/>
              <a:t>Response Time = First CPU Allocation Time - Arrival Time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✔️ </a:t>
            </a:r>
            <a:r>
              <a:rPr lang="en-IN" sz="1600" b="1" dirty="0"/>
              <a:t>6. Load Average:</a:t>
            </a:r>
            <a:r>
              <a:rPr lang="en-US" sz="1600" dirty="0"/>
              <a:t>The </a:t>
            </a:r>
            <a:r>
              <a:rPr lang="en-US" sz="1600" b="1" dirty="0"/>
              <a:t>average number of processes in the ready queue</a:t>
            </a:r>
            <a:r>
              <a:rPr lang="en-US" sz="1600" dirty="0"/>
              <a:t> (waiting to use the CPU) over a specific period of       time.</a:t>
            </a:r>
            <a:endParaRPr lang="en-IN" sz="1600" b="1" dirty="0"/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195124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4D5FD909-7991-9218-EDF1-CEAF1DA19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286" y="1561724"/>
            <a:ext cx="1165082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CPU Utilization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Throughput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Turnaround Time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Waiting Time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 Time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Fairness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88B051-CFB7-02DF-A990-5B9CCCBC239D}"/>
              </a:ext>
            </a:extLst>
          </p:cNvPr>
          <p:cNvSpPr txBox="1"/>
          <p:nvPr/>
        </p:nvSpPr>
        <p:spPr>
          <a:xfrm>
            <a:off x="2507603" y="606557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99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Scheduling Algorithm Optimization Criteria</a:t>
            </a:r>
          </a:p>
        </p:txBody>
      </p:sp>
    </p:spTree>
    <p:extLst>
      <p:ext uri="{BB962C8B-B14F-4D97-AF65-F5344CB8AC3E}">
        <p14:creationId xmlns:p14="http://schemas.microsoft.com/office/powerpoint/2010/main" val="2157380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6EFB87-5C13-71AC-C748-BA0EAF43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🔹 First Come First Serve (FCFS)</a:t>
            </a:r>
            <a:endParaRPr lang="en-IN" sz="32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428A596-2C6D-B178-4678-A6C184CB79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0629" y="1214943"/>
            <a:ext cx="1304784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FCFS is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CPU scheduling algorithm where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that arrives first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executed first.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🕒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Scheduling Order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Based on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arrival 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processes — the earliest arriving process gets the CPU first.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🚫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Non-Preemptive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Once a process starts execution, it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runs to completion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interruption.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📊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Queue-based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Processes are maintained in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FIFO (First-In-First-Out)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📉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implement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Simple and straightforward, requiring minimal overhead.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⏳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waiting time possible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If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 process arrives first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shorter processes have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longer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(known as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convoy effect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⚠️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ideal for interactive systems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where quick response time is important.</a:t>
            </a:r>
          </a:p>
        </p:txBody>
      </p:sp>
    </p:spTree>
    <p:extLst>
      <p:ext uri="{BB962C8B-B14F-4D97-AF65-F5344CB8AC3E}">
        <p14:creationId xmlns:p14="http://schemas.microsoft.com/office/powerpoint/2010/main" val="26250405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B290E0-8886-B284-EB6D-9902EBCC9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67951"/>
            <a:ext cx="10850563" cy="1576873"/>
          </a:xfrm>
        </p:spPr>
        <p:txBody>
          <a:bodyPr>
            <a:normAutofit fontScale="90000"/>
          </a:bodyPr>
          <a:lstStyle/>
          <a:p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r>
              <a:rPr lang="en-US" sz="2700" b="1" dirty="0"/>
              <a:t>📘 Example:</a:t>
            </a:r>
            <a:br>
              <a:rPr lang="en-US" sz="2700" b="1" dirty="0"/>
            </a:br>
            <a:r>
              <a:rPr lang="en-US" sz="2700" dirty="0"/>
              <a:t>Assume we have the following processes:</a:t>
            </a:r>
            <a:br>
              <a:rPr lang="en-US" sz="2700" dirty="0"/>
            </a:br>
            <a:endParaRPr lang="en-IN" sz="2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CE1D4E-DE96-FF86-D6AE-94BF4722BC65}"/>
              </a:ext>
            </a:extLst>
          </p:cNvPr>
          <p:cNvSpPr txBox="1"/>
          <p:nvPr/>
        </p:nvSpPr>
        <p:spPr>
          <a:xfrm>
            <a:off x="1239747" y="4424408"/>
            <a:ext cx="8349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 the Gantt Chart and compute average Completion Time, Turnaround Time, and Waiting Time 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6BB528-36DC-63C7-F993-6A33100C4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076628"/>
              </p:ext>
            </p:extLst>
          </p:nvPr>
        </p:nvGraphicFramePr>
        <p:xfrm>
          <a:off x="1522117" y="1744824"/>
          <a:ext cx="7285980" cy="2575250"/>
        </p:xfrm>
        <a:graphic>
          <a:graphicData uri="http://schemas.openxmlformats.org/drawingml/2006/table">
            <a:tbl>
              <a:tblPr/>
              <a:tblGrid>
                <a:gridCol w="2428660">
                  <a:extLst>
                    <a:ext uri="{9D8B030D-6E8A-4147-A177-3AD203B41FA5}">
                      <a16:colId xmlns:a16="http://schemas.microsoft.com/office/drawing/2014/main" val="3843422579"/>
                    </a:ext>
                  </a:extLst>
                </a:gridCol>
                <a:gridCol w="2428660">
                  <a:extLst>
                    <a:ext uri="{9D8B030D-6E8A-4147-A177-3AD203B41FA5}">
                      <a16:colId xmlns:a16="http://schemas.microsoft.com/office/drawing/2014/main" val="3765362345"/>
                    </a:ext>
                  </a:extLst>
                </a:gridCol>
                <a:gridCol w="2428660">
                  <a:extLst>
                    <a:ext uri="{9D8B030D-6E8A-4147-A177-3AD203B41FA5}">
                      <a16:colId xmlns:a16="http://schemas.microsoft.com/office/drawing/2014/main" val="1749367506"/>
                    </a:ext>
                  </a:extLst>
                </a:gridCol>
              </a:tblGrid>
              <a:tr h="515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16666"/>
                  </a:ext>
                </a:extLst>
              </a:tr>
              <a:tr h="515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466924"/>
                  </a:ext>
                </a:extLst>
              </a:tr>
              <a:tr h="515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707696"/>
                  </a:ext>
                </a:extLst>
              </a:tr>
              <a:tr h="515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229361"/>
                  </a:ext>
                </a:extLst>
              </a:tr>
              <a:tr h="515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928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2693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39C1B0-61E6-36B0-2BF6-80489760D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C7B90-B73C-17D9-82D1-7162D67F8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800" b="1" dirty="0"/>
              <a:t>Execution Order:</a:t>
            </a:r>
            <a:r>
              <a:rPr lang="en-US" sz="1800" dirty="0"/>
              <a:t> P1 → P2 → P3 → P4</a:t>
            </a:r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r>
              <a:rPr lang="en-IN" sz="1600" dirty="0"/>
              <a:t>🔹 </a:t>
            </a:r>
            <a:r>
              <a:rPr lang="en-IN" sz="1600" b="1" dirty="0"/>
              <a:t>Gantt Chart:</a:t>
            </a:r>
          </a:p>
          <a:p>
            <a:pPr marL="114300" indent="0">
              <a:buNone/>
            </a:pPr>
            <a:r>
              <a:rPr lang="en-IN" sz="1600" dirty="0"/>
              <a:t>              | P1 | P2 | P3 | P4 |</a:t>
            </a:r>
          </a:p>
          <a:p>
            <a:pPr marL="114300" indent="0">
              <a:buNone/>
            </a:pPr>
            <a:r>
              <a:rPr lang="en-IN" sz="1600" dirty="0"/>
              <a:t>              0       2     4      8        12</a:t>
            </a:r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800" dirty="0"/>
              <a:t>Calculations:</a:t>
            </a:r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             </a:t>
            </a:r>
          </a:p>
          <a:p>
            <a:pPr marL="114300" indent="0">
              <a:buNone/>
            </a:pPr>
            <a:endParaRPr lang="en-IN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A7092A-F0B2-6797-FE92-437FF033A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93573"/>
              </p:ext>
            </p:extLst>
          </p:nvPr>
        </p:nvGraphicFramePr>
        <p:xfrm>
          <a:off x="1884784" y="3517640"/>
          <a:ext cx="7399176" cy="2453950"/>
        </p:xfrm>
        <a:graphic>
          <a:graphicData uri="http://schemas.openxmlformats.org/drawingml/2006/table">
            <a:tbl>
              <a:tblPr/>
              <a:tblGrid>
                <a:gridCol w="1849794">
                  <a:extLst>
                    <a:ext uri="{9D8B030D-6E8A-4147-A177-3AD203B41FA5}">
                      <a16:colId xmlns:a16="http://schemas.microsoft.com/office/drawing/2014/main" val="17400816"/>
                    </a:ext>
                  </a:extLst>
                </a:gridCol>
                <a:gridCol w="1849794">
                  <a:extLst>
                    <a:ext uri="{9D8B030D-6E8A-4147-A177-3AD203B41FA5}">
                      <a16:colId xmlns:a16="http://schemas.microsoft.com/office/drawing/2014/main" val="1618657796"/>
                    </a:ext>
                  </a:extLst>
                </a:gridCol>
                <a:gridCol w="1849794">
                  <a:extLst>
                    <a:ext uri="{9D8B030D-6E8A-4147-A177-3AD203B41FA5}">
                      <a16:colId xmlns:a16="http://schemas.microsoft.com/office/drawing/2014/main" val="737580292"/>
                    </a:ext>
                  </a:extLst>
                </a:gridCol>
                <a:gridCol w="1849794">
                  <a:extLst>
                    <a:ext uri="{9D8B030D-6E8A-4147-A177-3AD203B41FA5}">
                      <a16:colId xmlns:a16="http://schemas.microsoft.com/office/drawing/2014/main" val="707245026"/>
                    </a:ext>
                  </a:extLst>
                </a:gridCol>
              </a:tblGrid>
              <a:tr h="490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Completion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TAT = CT - 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WT = TAT - BT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07495"/>
                  </a:ext>
                </a:extLst>
              </a:tr>
              <a:tr h="490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2 - 0 =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2- 2=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667879"/>
                  </a:ext>
                </a:extLst>
              </a:tr>
              <a:tr h="490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4- 1 =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3 - 2 =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038179"/>
                  </a:ext>
                </a:extLst>
              </a:tr>
              <a:tr h="490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8 - 2 = 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6 - 3 =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411980"/>
                  </a:ext>
                </a:extLst>
              </a:tr>
              <a:tr h="490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  <a:r>
                        <a:rPr lang="en-IN" sz="14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12 - 3 = 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9 - 4 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056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733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188189-ED3C-1AD8-C365-080DACDAD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🔷 FCFS Scheduling Pseudocode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53210-7E51-E291-6B86-82A0CB7AF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US" sz="1800" dirty="0"/>
              <a:t>Input: </a:t>
            </a:r>
          </a:p>
          <a:p>
            <a:pPr marL="114300" indent="0">
              <a:buNone/>
            </a:pPr>
            <a:r>
              <a:rPr lang="en-US" sz="1800" dirty="0"/>
              <a:t>    n           ← number of processes</a:t>
            </a:r>
          </a:p>
          <a:p>
            <a:pPr marL="114300" indent="0">
              <a:buNone/>
            </a:pPr>
            <a:r>
              <a:rPr lang="en-US" sz="1800" dirty="0"/>
              <a:t>    arrival[]   ← array of arrival times</a:t>
            </a:r>
          </a:p>
          <a:p>
            <a:pPr marL="114300" indent="0">
              <a:buNone/>
            </a:pPr>
            <a:r>
              <a:rPr lang="en-US" sz="1800" dirty="0"/>
              <a:t>    burst[]     ← array of burst times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Output:</a:t>
            </a:r>
          </a:p>
          <a:p>
            <a:pPr marL="114300" indent="0">
              <a:buNone/>
            </a:pPr>
            <a:r>
              <a:rPr lang="en-US" sz="1800" dirty="0"/>
              <a:t>    completion[] ← completion time for each process</a:t>
            </a:r>
          </a:p>
          <a:p>
            <a:pPr marL="114300" indent="0">
              <a:buNone/>
            </a:pPr>
            <a:r>
              <a:rPr lang="en-US" sz="1800" dirty="0"/>
              <a:t>    turnaround[] ← turnaround time for each process</a:t>
            </a:r>
          </a:p>
          <a:p>
            <a:pPr marL="114300" indent="0">
              <a:buNone/>
            </a:pPr>
            <a:r>
              <a:rPr lang="en-US" sz="1800" dirty="0"/>
              <a:t>    waiting[]    ← waiting time for each process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Step 1: Sort all processes by arrival time (if not already sorted)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Step 2: Initialize:</a:t>
            </a:r>
          </a:p>
          <a:p>
            <a:pPr marL="114300" indent="0">
              <a:buNone/>
            </a:pPr>
            <a:r>
              <a:rPr lang="en-US" sz="1800" dirty="0"/>
              <a:t>    time ← 0</a:t>
            </a:r>
          </a:p>
          <a:p>
            <a:pPr marL="114300" indent="0">
              <a:buNone/>
            </a:pPr>
            <a:r>
              <a:rPr lang="en-US" sz="1800" dirty="0"/>
              <a:t>    for </a:t>
            </a:r>
            <a:r>
              <a:rPr lang="en-US" sz="1800" dirty="0" err="1"/>
              <a:t>i</a:t>
            </a:r>
            <a:r>
              <a:rPr lang="en-US" sz="1800" dirty="0"/>
              <a:t> ← 0 to n-1:</a:t>
            </a:r>
          </a:p>
          <a:p>
            <a:pPr marL="114300" indent="0">
              <a:buNone/>
            </a:pPr>
            <a:r>
              <a:rPr lang="en-US" sz="1800" dirty="0"/>
              <a:t>        if time &lt; arrival[</a:t>
            </a:r>
            <a:r>
              <a:rPr lang="en-US" sz="1800" dirty="0" err="1"/>
              <a:t>i</a:t>
            </a:r>
            <a:r>
              <a:rPr lang="en-US" sz="1800" dirty="0"/>
              <a:t>]:</a:t>
            </a:r>
          </a:p>
          <a:p>
            <a:pPr marL="114300" indent="0">
              <a:buNone/>
            </a:pPr>
            <a:r>
              <a:rPr lang="en-US" sz="1800" dirty="0"/>
              <a:t>            time ← arrival[</a:t>
            </a:r>
            <a:r>
              <a:rPr lang="en-US" sz="1800" dirty="0" err="1"/>
              <a:t>i</a:t>
            </a:r>
            <a:r>
              <a:rPr lang="en-US" sz="1800" dirty="0"/>
              <a:t>]       // CPU is idle till the process arrives</a:t>
            </a:r>
          </a:p>
          <a:p>
            <a:pPr marL="114300" indent="0">
              <a:buNone/>
            </a:pPr>
            <a:r>
              <a:rPr lang="en-US" sz="1800" dirty="0"/>
              <a:t>        completion[</a:t>
            </a:r>
            <a:r>
              <a:rPr lang="en-US" sz="1800" dirty="0" err="1"/>
              <a:t>i</a:t>
            </a:r>
            <a:r>
              <a:rPr lang="en-US" sz="1800" dirty="0"/>
              <a:t>] ← time + burst[</a:t>
            </a:r>
            <a:r>
              <a:rPr lang="en-US" sz="1800" dirty="0" err="1"/>
              <a:t>i</a:t>
            </a:r>
            <a:r>
              <a:rPr lang="en-US" sz="1800" dirty="0"/>
              <a:t>]</a:t>
            </a:r>
          </a:p>
          <a:p>
            <a:pPr marL="114300" indent="0">
              <a:buNone/>
            </a:pPr>
            <a:r>
              <a:rPr lang="en-US" sz="1800" dirty="0"/>
              <a:t>        time ← completion[</a:t>
            </a:r>
            <a:r>
              <a:rPr lang="en-US" sz="1800" dirty="0" err="1"/>
              <a:t>i</a:t>
            </a:r>
            <a:r>
              <a:rPr lang="en-US" sz="1800" dirty="0"/>
              <a:t>]</a:t>
            </a:r>
          </a:p>
          <a:p>
            <a:pPr marL="114300" indent="0">
              <a:buNone/>
            </a:pPr>
            <a:r>
              <a:rPr lang="en-US" sz="1800" dirty="0"/>
              <a:t>        turnaround[</a:t>
            </a:r>
            <a:r>
              <a:rPr lang="en-US" sz="1800" dirty="0" err="1"/>
              <a:t>i</a:t>
            </a:r>
            <a:r>
              <a:rPr lang="en-US" sz="1800" dirty="0"/>
              <a:t>] ← completion[</a:t>
            </a:r>
            <a:r>
              <a:rPr lang="en-US" sz="1800" dirty="0" err="1"/>
              <a:t>i</a:t>
            </a:r>
            <a:r>
              <a:rPr lang="en-US" sz="1800" dirty="0"/>
              <a:t>] - arrival[</a:t>
            </a:r>
            <a:r>
              <a:rPr lang="en-US" sz="1800" dirty="0" err="1"/>
              <a:t>i</a:t>
            </a:r>
            <a:r>
              <a:rPr lang="en-US" sz="1800" dirty="0"/>
              <a:t>]</a:t>
            </a:r>
          </a:p>
          <a:p>
            <a:pPr marL="114300" indent="0">
              <a:buNone/>
            </a:pPr>
            <a:r>
              <a:rPr lang="en-US" sz="1800" dirty="0"/>
              <a:t>        waiting[</a:t>
            </a:r>
            <a:r>
              <a:rPr lang="en-US" sz="1800" dirty="0" err="1"/>
              <a:t>i</a:t>
            </a:r>
            <a:r>
              <a:rPr lang="en-US" sz="1800" dirty="0"/>
              <a:t>] ← turnaround[</a:t>
            </a:r>
            <a:r>
              <a:rPr lang="en-US" sz="1800" dirty="0" err="1"/>
              <a:t>i</a:t>
            </a:r>
            <a:r>
              <a:rPr lang="en-US" sz="1800" dirty="0"/>
              <a:t>] - burst[</a:t>
            </a:r>
            <a:r>
              <a:rPr lang="en-US" sz="1800" dirty="0" err="1"/>
              <a:t>i</a:t>
            </a:r>
            <a:r>
              <a:rPr lang="en-US" sz="1800" dirty="0"/>
              <a:t>]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Step 3: Print or return completion[], turnaround[], waiting[]</a:t>
            </a:r>
          </a:p>
          <a:p>
            <a:pPr marL="11430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223889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C06CFE-8F8F-596F-798A-2BE874D4B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dirty="0"/>
              <a:t>Practice Problem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78502-1604-3A80-19E1-369B0E526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633" y="1775773"/>
            <a:ext cx="8019793" cy="406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464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31B0FB-48B2-D281-ED84-C517CAF23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Job First (SJF)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125E76B-9C0F-211C-9D4D-83022258A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-1382760"/>
            <a:ext cx="15116486" cy="719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SJF is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non-preemptive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CPU scheduling algorithm that selects the process with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shortest burst time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the set of available processes.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🕒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Scheduling Basis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Among all arrived processes, the one with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smallest CPU burst 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selected next.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🚫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Non-Preemptive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Once a process starts executing, it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cannot be interrupted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until it finishes.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📉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Minimizes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waiting 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turnaround 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making it more efficient than FCFS in many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🧠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knowledge of burst times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advance, which is not always possible in real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🕳️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Starvation possible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Long processes may have to wait a long time if many short jobs keep arriving.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📋 </a:t>
            </a:r>
            <a:r>
              <a:rPr lang="en-US" sz="1600" b="1" dirty="0"/>
              <a:t>Decision criteria</a:t>
            </a:r>
            <a:r>
              <a:rPr lang="en-US" sz="1600" dirty="0"/>
              <a:t>:</a:t>
            </a:r>
          </a:p>
          <a:p>
            <a:r>
              <a:rPr lang="en-US" sz="1600" dirty="0"/>
              <a:t>If two processes have the same burst time, tie is broken by </a:t>
            </a:r>
            <a:r>
              <a:rPr lang="en-US" sz="1600" b="1" dirty="0"/>
              <a:t>arrival time</a:t>
            </a:r>
            <a:r>
              <a:rPr lang="en-US" sz="1600" dirty="0"/>
              <a:t>.</a:t>
            </a:r>
          </a:p>
          <a:p>
            <a:r>
              <a:rPr lang="en-US" sz="1600" dirty="0"/>
              <a:t>If no process has arrived yet, the </a:t>
            </a:r>
            <a:r>
              <a:rPr lang="en-US" sz="1600" b="1" dirty="0"/>
              <a:t>CPU remains idle</a:t>
            </a:r>
            <a:endParaRPr lang="en-US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931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CF84E1-7FC9-10FA-CE44-D3250CE4A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2800" b="1" dirty="0"/>
            </a:br>
            <a:br>
              <a:rPr lang="en-US" sz="2800" b="1" dirty="0"/>
            </a:br>
            <a:endParaRPr lang="en-IN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69C8D-8E39-519F-27AC-C1AB631C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/>
              <a:t>                                                               📘 Example:</a:t>
            </a:r>
            <a:br>
              <a:rPr lang="en-US" sz="2400" b="1" dirty="0"/>
            </a:br>
            <a:r>
              <a:rPr lang="en-US" sz="2400" dirty="0"/>
              <a:t>Assume we have the following processes:</a:t>
            </a:r>
            <a:br>
              <a:rPr lang="en-US" sz="2400" dirty="0"/>
            </a:br>
            <a:endParaRPr lang="en-US" sz="2400" dirty="0"/>
          </a:p>
          <a:p>
            <a:pPr marL="114300" indent="0">
              <a:buNone/>
            </a:pPr>
            <a:endParaRPr lang="en-IN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A26F3C-1D93-BCA1-39A5-6F6B6BBFF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487089"/>
              </p:ext>
            </p:extLst>
          </p:nvPr>
        </p:nvGraphicFramePr>
        <p:xfrm>
          <a:off x="1670180" y="2230015"/>
          <a:ext cx="6354147" cy="2286000"/>
        </p:xfrm>
        <a:graphic>
          <a:graphicData uri="http://schemas.openxmlformats.org/drawingml/2006/table">
            <a:tbl>
              <a:tblPr/>
              <a:tblGrid>
                <a:gridCol w="2118049">
                  <a:extLst>
                    <a:ext uri="{9D8B030D-6E8A-4147-A177-3AD203B41FA5}">
                      <a16:colId xmlns:a16="http://schemas.microsoft.com/office/drawing/2014/main" val="2429569503"/>
                    </a:ext>
                  </a:extLst>
                </a:gridCol>
                <a:gridCol w="2118049">
                  <a:extLst>
                    <a:ext uri="{9D8B030D-6E8A-4147-A177-3AD203B41FA5}">
                      <a16:colId xmlns:a16="http://schemas.microsoft.com/office/drawing/2014/main" val="2512600242"/>
                    </a:ext>
                  </a:extLst>
                </a:gridCol>
                <a:gridCol w="2118049">
                  <a:extLst>
                    <a:ext uri="{9D8B030D-6E8A-4147-A177-3AD203B41FA5}">
                      <a16:colId xmlns:a16="http://schemas.microsoft.com/office/drawing/2014/main" val="295641468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31547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6023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5547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6523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568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5326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375E0-5231-C6B6-7006-286D340AD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Execution Order :</a:t>
            </a:r>
            <a:r>
              <a:rPr lang="en-US" sz="1800" dirty="0"/>
              <a:t> P3 → P1 → P2 → P4</a:t>
            </a:r>
          </a:p>
          <a:p>
            <a:endParaRPr lang="en-US" sz="1800" dirty="0"/>
          </a:p>
          <a:p>
            <a:pPr marL="114300" indent="0">
              <a:buNone/>
            </a:pPr>
            <a:r>
              <a:rPr lang="en-IN" sz="1800" dirty="0"/>
              <a:t>📊 </a:t>
            </a:r>
            <a:r>
              <a:rPr lang="en-IN" sz="1800" b="1" dirty="0"/>
              <a:t>Gantt Chart</a:t>
            </a:r>
            <a:r>
              <a:rPr lang="en-IN" sz="1800" dirty="0"/>
              <a:t>:</a:t>
            </a:r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r>
              <a:rPr lang="en-IN" sz="1800" dirty="0"/>
              <a:t>|    |  P3  |  P1  |   P2 |   P4    |</a:t>
            </a:r>
          </a:p>
          <a:p>
            <a:pPr marL="114300" indent="0">
              <a:buNone/>
            </a:pPr>
            <a:r>
              <a:rPr lang="en-IN" sz="1800" dirty="0"/>
              <a:t>0    1         3        6         10        14</a:t>
            </a:r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r>
              <a:rPr lang="en-IN" sz="1800" dirty="0"/>
              <a:t>Calculations:</a:t>
            </a:r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endParaRPr lang="en-IN" sz="1800" dirty="0"/>
          </a:p>
          <a:p>
            <a:endParaRPr lang="en-IN" sz="1800" dirty="0"/>
          </a:p>
          <a:p>
            <a:endParaRPr lang="en-US" sz="1800" dirty="0"/>
          </a:p>
          <a:p>
            <a:endParaRPr lang="en-US" sz="1800" dirty="0"/>
          </a:p>
          <a:p>
            <a:pPr marL="114300" indent="0">
              <a:buNone/>
            </a:pPr>
            <a:endParaRPr lang="en-US" sz="1800" dirty="0"/>
          </a:p>
          <a:p>
            <a:endParaRPr lang="en-IN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03579A-E675-B21C-9FCF-8F6433EA2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408354"/>
              </p:ext>
            </p:extLst>
          </p:nvPr>
        </p:nvGraphicFramePr>
        <p:xfrm>
          <a:off x="1464906" y="3984171"/>
          <a:ext cx="7903026" cy="1743530"/>
        </p:xfrm>
        <a:graphic>
          <a:graphicData uri="http://schemas.openxmlformats.org/drawingml/2006/table">
            <a:tbl>
              <a:tblPr/>
              <a:tblGrid>
                <a:gridCol w="1317171">
                  <a:extLst>
                    <a:ext uri="{9D8B030D-6E8A-4147-A177-3AD203B41FA5}">
                      <a16:colId xmlns:a16="http://schemas.microsoft.com/office/drawing/2014/main" val="1018511097"/>
                    </a:ext>
                  </a:extLst>
                </a:gridCol>
                <a:gridCol w="1317171">
                  <a:extLst>
                    <a:ext uri="{9D8B030D-6E8A-4147-A177-3AD203B41FA5}">
                      <a16:colId xmlns:a16="http://schemas.microsoft.com/office/drawing/2014/main" val="3373873386"/>
                    </a:ext>
                  </a:extLst>
                </a:gridCol>
                <a:gridCol w="1317171">
                  <a:extLst>
                    <a:ext uri="{9D8B030D-6E8A-4147-A177-3AD203B41FA5}">
                      <a16:colId xmlns:a16="http://schemas.microsoft.com/office/drawing/2014/main" val="3450148486"/>
                    </a:ext>
                  </a:extLst>
                </a:gridCol>
                <a:gridCol w="1317171">
                  <a:extLst>
                    <a:ext uri="{9D8B030D-6E8A-4147-A177-3AD203B41FA5}">
                      <a16:colId xmlns:a16="http://schemas.microsoft.com/office/drawing/2014/main" val="120113109"/>
                    </a:ext>
                  </a:extLst>
                </a:gridCol>
                <a:gridCol w="1317171">
                  <a:extLst>
                    <a:ext uri="{9D8B030D-6E8A-4147-A177-3AD203B41FA5}">
                      <a16:colId xmlns:a16="http://schemas.microsoft.com/office/drawing/2014/main" val="17688523"/>
                    </a:ext>
                  </a:extLst>
                </a:gridCol>
                <a:gridCol w="1317171">
                  <a:extLst>
                    <a:ext uri="{9D8B030D-6E8A-4147-A177-3AD203B41FA5}">
                      <a16:colId xmlns:a16="http://schemas.microsoft.com/office/drawing/2014/main" val="3431158656"/>
                    </a:ext>
                  </a:extLst>
                </a:gridCol>
              </a:tblGrid>
              <a:tr h="348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Turnaround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Waiting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987544"/>
                  </a:ext>
                </a:extLst>
              </a:tr>
              <a:tr h="348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918295"/>
                  </a:ext>
                </a:extLst>
              </a:tr>
              <a:tr h="348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990980"/>
                  </a:ext>
                </a:extLst>
              </a:tr>
              <a:tr h="348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365723"/>
                  </a:ext>
                </a:extLst>
              </a:tr>
              <a:tr h="348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  <a:r>
                        <a:rPr lang="en-IN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958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61541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7CEFA4-AF62-0BE2-BD03-280C760BB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🔷 Pseudocode: Shortest Job First (SJF – Non-Preemptive)</a:t>
            </a:r>
            <a:endParaRPr lang="en-IN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86C97-2F0B-B147-6960-B8529FBD1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en-IN" sz="4800" dirty="0"/>
              <a:t>Input:</a:t>
            </a:r>
          </a:p>
          <a:p>
            <a:pPr marL="114300" indent="0">
              <a:buNone/>
            </a:pPr>
            <a:r>
              <a:rPr lang="en-IN" sz="4800" dirty="0"/>
              <a:t>    n           ← number of processes</a:t>
            </a:r>
          </a:p>
          <a:p>
            <a:pPr marL="114300" indent="0">
              <a:buNone/>
            </a:pPr>
            <a:r>
              <a:rPr lang="en-IN" sz="4800" dirty="0"/>
              <a:t>    arrival[]   ← array of arrival times</a:t>
            </a:r>
          </a:p>
          <a:p>
            <a:pPr marL="114300" indent="0">
              <a:buNone/>
            </a:pPr>
            <a:r>
              <a:rPr lang="en-IN" sz="4800" dirty="0"/>
              <a:t>    burst[]     ← array of burst times</a:t>
            </a:r>
          </a:p>
          <a:p>
            <a:pPr marL="114300" indent="0">
              <a:buNone/>
            </a:pPr>
            <a:endParaRPr lang="en-IN" sz="4800" dirty="0"/>
          </a:p>
          <a:p>
            <a:pPr marL="114300" indent="0">
              <a:buNone/>
            </a:pPr>
            <a:r>
              <a:rPr lang="en-IN" sz="4800" dirty="0"/>
              <a:t>Initialize:</a:t>
            </a:r>
          </a:p>
          <a:p>
            <a:pPr marL="114300" indent="0">
              <a:buNone/>
            </a:pPr>
            <a:r>
              <a:rPr lang="en-IN" sz="4800" dirty="0"/>
              <a:t>    time ← 0</a:t>
            </a:r>
          </a:p>
          <a:p>
            <a:pPr marL="114300" indent="0">
              <a:buNone/>
            </a:pPr>
            <a:r>
              <a:rPr lang="en-IN" sz="4800" dirty="0"/>
              <a:t>    completed ← 0</a:t>
            </a:r>
          </a:p>
          <a:p>
            <a:pPr marL="114300" indent="0">
              <a:buNone/>
            </a:pPr>
            <a:r>
              <a:rPr lang="en-IN" sz="4800" dirty="0"/>
              <a:t>    mark[] ← array of size n, initialized to false</a:t>
            </a:r>
          </a:p>
          <a:p>
            <a:pPr marL="114300" indent="0">
              <a:buNone/>
            </a:pPr>
            <a:endParaRPr lang="en-IN" sz="4800" dirty="0"/>
          </a:p>
          <a:p>
            <a:pPr marL="114300" indent="0">
              <a:buNone/>
            </a:pPr>
            <a:r>
              <a:rPr lang="en-IN" sz="4800" dirty="0"/>
              <a:t>Repeat until completed = n:</a:t>
            </a:r>
          </a:p>
          <a:p>
            <a:pPr marL="114300" indent="0">
              <a:buNone/>
            </a:pPr>
            <a:r>
              <a:rPr lang="en-IN" sz="4800" dirty="0"/>
              <a:t>    Find process </a:t>
            </a:r>
            <a:r>
              <a:rPr lang="en-IN" sz="4800" dirty="0" err="1"/>
              <a:t>i</a:t>
            </a:r>
            <a:r>
              <a:rPr lang="en-IN" sz="4800" dirty="0"/>
              <a:t> such that:</a:t>
            </a:r>
          </a:p>
          <a:p>
            <a:pPr marL="114300" indent="0">
              <a:buNone/>
            </a:pPr>
            <a:r>
              <a:rPr lang="en-IN" sz="4800" dirty="0"/>
              <a:t>        - arrival[</a:t>
            </a:r>
            <a:r>
              <a:rPr lang="en-IN" sz="4800" dirty="0" err="1"/>
              <a:t>i</a:t>
            </a:r>
            <a:r>
              <a:rPr lang="en-IN" sz="4800" dirty="0"/>
              <a:t>] ≤ time</a:t>
            </a:r>
          </a:p>
          <a:p>
            <a:pPr marL="114300" indent="0">
              <a:buNone/>
            </a:pPr>
            <a:r>
              <a:rPr lang="en-IN" sz="4800" dirty="0"/>
              <a:t>        - mark[</a:t>
            </a:r>
            <a:r>
              <a:rPr lang="en-IN" sz="4800" dirty="0" err="1"/>
              <a:t>i</a:t>
            </a:r>
            <a:r>
              <a:rPr lang="en-IN" sz="4800" dirty="0"/>
              <a:t>] == false</a:t>
            </a:r>
          </a:p>
          <a:p>
            <a:pPr marL="114300" indent="0">
              <a:buNone/>
            </a:pPr>
            <a:r>
              <a:rPr lang="en-IN" sz="4800" dirty="0"/>
              <a:t>        - burst[</a:t>
            </a:r>
            <a:r>
              <a:rPr lang="en-IN" sz="4800" dirty="0" err="1"/>
              <a:t>i</a:t>
            </a:r>
            <a:r>
              <a:rPr lang="en-IN" sz="4800" dirty="0"/>
              <a:t>] is minimum among such processes</a:t>
            </a:r>
          </a:p>
          <a:p>
            <a:pPr marL="114300" indent="0">
              <a:buNone/>
            </a:pPr>
            <a:endParaRPr lang="en-IN" sz="4800" dirty="0"/>
          </a:p>
          <a:p>
            <a:pPr marL="114300" indent="0">
              <a:buNone/>
            </a:pPr>
            <a:r>
              <a:rPr lang="en-IN" sz="4800" dirty="0"/>
              <a:t>    If such a process exists:</a:t>
            </a:r>
          </a:p>
          <a:p>
            <a:pPr marL="114300" indent="0">
              <a:buNone/>
            </a:pPr>
            <a:r>
              <a:rPr lang="en-IN" sz="4800" dirty="0"/>
              <a:t>        completion[</a:t>
            </a:r>
            <a:r>
              <a:rPr lang="en-IN" sz="4800" dirty="0" err="1"/>
              <a:t>i</a:t>
            </a:r>
            <a:r>
              <a:rPr lang="en-IN" sz="4800" dirty="0"/>
              <a:t>] ← time + burst[</a:t>
            </a:r>
            <a:r>
              <a:rPr lang="en-IN" sz="4800" dirty="0" err="1"/>
              <a:t>i</a:t>
            </a:r>
            <a:r>
              <a:rPr lang="en-IN" sz="4800" dirty="0"/>
              <a:t>]</a:t>
            </a:r>
          </a:p>
          <a:p>
            <a:pPr marL="114300" indent="0">
              <a:buNone/>
            </a:pPr>
            <a:r>
              <a:rPr lang="en-IN" sz="4800" dirty="0"/>
              <a:t>        time ← completion[</a:t>
            </a:r>
            <a:r>
              <a:rPr lang="en-IN" sz="4800" dirty="0" err="1"/>
              <a:t>i</a:t>
            </a:r>
            <a:r>
              <a:rPr lang="en-IN" sz="4800" dirty="0"/>
              <a:t>]</a:t>
            </a:r>
          </a:p>
          <a:p>
            <a:pPr marL="114300" indent="0">
              <a:buNone/>
            </a:pPr>
            <a:r>
              <a:rPr lang="en-IN" sz="4800" dirty="0"/>
              <a:t>        turnaround[</a:t>
            </a:r>
            <a:r>
              <a:rPr lang="en-IN" sz="4800" dirty="0" err="1"/>
              <a:t>i</a:t>
            </a:r>
            <a:r>
              <a:rPr lang="en-IN" sz="4800" dirty="0"/>
              <a:t>] ← completion[</a:t>
            </a:r>
            <a:r>
              <a:rPr lang="en-IN" sz="4800" dirty="0" err="1"/>
              <a:t>i</a:t>
            </a:r>
            <a:r>
              <a:rPr lang="en-IN" sz="4800" dirty="0"/>
              <a:t>] - arrival[</a:t>
            </a:r>
            <a:r>
              <a:rPr lang="en-IN" sz="4800" dirty="0" err="1"/>
              <a:t>i</a:t>
            </a:r>
            <a:r>
              <a:rPr lang="en-IN" sz="4800" dirty="0"/>
              <a:t>]</a:t>
            </a:r>
          </a:p>
          <a:p>
            <a:pPr marL="114300" indent="0">
              <a:buNone/>
            </a:pPr>
            <a:r>
              <a:rPr lang="en-IN" sz="4800" dirty="0"/>
              <a:t>        waiting[</a:t>
            </a:r>
            <a:r>
              <a:rPr lang="en-IN" sz="4800" dirty="0" err="1"/>
              <a:t>i</a:t>
            </a:r>
            <a:r>
              <a:rPr lang="en-IN" sz="4800" dirty="0"/>
              <a:t>] ← turnaround[</a:t>
            </a:r>
            <a:r>
              <a:rPr lang="en-IN" sz="4800" dirty="0" err="1"/>
              <a:t>i</a:t>
            </a:r>
            <a:r>
              <a:rPr lang="en-IN" sz="4800" dirty="0"/>
              <a:t>] - burst[</a:t>
            </a:r>
            <a:r>
              <a:rPr lang="en-IN" sz="4800" dirty="0" err="1"/>
              <a:t>i</a:t>
            </a:r>
            <a:r>
              <a:rPr lang="en-IN" sz="4800" dirty="0"/>
              <a:t>]</a:t>
            </a:r>
          </a:p>
          <a:p>
            <a:pPr marL="114300" indent="0">
              <a:buNone/>
            </a:pPr>
            <a:r>
              <a:rPr lang="en-IN" sz="4800" dirty="0"/>
              <a:t>        mark[</a:t>
            </a:r>
            <a:r>
              <a:rPr lang="en-IN" sz="4800" dirty="0" err="1"/>
              <a:t>i</a:t>
            </a:r>
            <a:r>
              <a:rPr lang="en-IN" sz="4800" dirty="0"/>
              <a:t>] ← true</a:t>
            </a:r>
          </a:p>
          <a:p>
            <a:pPr marL="114300" indent="0">
              <a:buNone/>
            </a:pPr>
            <a:r>
              <a:rPr lang="en-IN" sz="4800" dirty="0"/>
              <a:t>        completed ← completed + 1</a:t>
            </a:r>
          </a:p>
          <a:p>
            <a:pPr marL="114300" indent="0">
              <a:buNone/>
            </a:pPr>
            <a:r>
              <a:rPr lang="en-IN" sz="4800" dirty="0"/>
              <a:t>    Else:</a:t>
            </a:r>
          </a:p>
          <a:p>
            <a:pPr marL="114300" indent="0">
              <a:buNone/>
            </a:pPr>
            <a:r>
              <a:rPr lang="en-IN" sz="4800" dirty="0"/>
              <a:t>        time ← time + 1  // CPU idle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6135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225B9E-4DA5-6117-850E-1E67D83F5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800" dirty="0"/>
              <a:t>Practice Problem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Consider the set of 5 processes whose arrival time and burst time are given below- </a:t>
            </a:r>
          </a:p>
          <a:p>
            <a:pPr marL="114300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F69471-3965-0470-18F6-293EF2B40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131950"/>
              </p:ext>
            </p:extLst>
          </p:nvPr>
        </p:nvGraphicFramePr>
        <p:xfrm>
          <a:off x="1968759" y="2719386"/>
          <a:ext cx="6232851" cy="1917930"/>
        </p:xfrm>
        <a:graphic>
          <a:graphicData uri="http://schemas.openxmlformats.org/drawingml/2006/table">
            <a:tbl>
              <a:tblPr/>
              <a:tblGrid>
                <a:gridCol w="2077617">
                  <a:extLst>
                    <a:ext uri="{9D8B030D-6E8A-4147-A177-3AD203B41FA5}">
                      <a16:colId xmlns:a16="http://schemas.microsoft.com/office/drawing/2014/main" val="1768130892"/>
                    </a:ext>
                  </a:extLst>
                </a:gridCol>
                <a:gridCol w="2077617">
                  <a:extLst>
                    <a:ext uri="{9D8B030D-6E8A-4147-A177-3AD203B41FA5}">
                      <a16:colId xmlns:a16="http://schemas.microsoft.com/office/drawing/2014/main" val="190258221"/>
                    </a:ext>
                  </a:extLst>
                </a:gridCol>
                <a:gridCol w="2077617">
                  <a:extLst>
                    <a:ext uri="{9D8B030D-6E8A-4147-A177-3AD203B41FA5}">
                      <a16:colId xmlns:a16="http://schemas.microsoft.com/office/drawing/2014/main" val="3074829267"/>
                    </a:ext>
                  </a:extLst>
                </a:gridCol>
              </a:tblGrid>
              <a:tr h="31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50705"/>
                  </a:ext>
                </a:extLst>
              </a:tr>
              <a:tr h="31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764201"/>
                  </a:ext>
                </a:extLst>
              </a:tr>
              <a:tr h="31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506495"/>
                  </a:ext>
                </a:extLst>
              </a:tr>
              <a:tr h="31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744029"/>
                  </a:ext>
                </a:extLst>
              </a:tr>
              <a:tr h="31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563742"/>
                  </a:ext>
                </a:extLst>
              </a:tr>
              <a:tr h="31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3806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1BD1299-4A5E-33CB-422A-E56DA3E08D02}"/>
              </a:ext>
            </a:extLst>
          </p:cNvPr>
          <p:cNvSpPr txBox="1"/>
          <p:nvPr/>
        </p:nvSpPr>
        <p:spPr>
          <a:xfrm>
            <a:off x="1138335" y="4213829"/>
            <a:ext cx="800799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If the CPU scheduling policy is SJF non-preemptive, calculate the average waiting time and average turnaround time.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199521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64B6E4-8D26-5C0A-47B0-295323BF5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🔹 Shortest Remaining Time First (SRTF)</a:t>
            </a:r>
            <a:endParaRPr lang="en-IN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36CD6-A0F5-A6C8-1D92-0B4CA2B27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dirty="0"/>
              <a:t>✅ Definition: SRTF is the preemptive version of the Shortest Job First (SJF) algorithm. The process with the shortest remaining burst time is selected to run next.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🔁 Preemptive nature: If a new process arrives with a shorter burst time than the remaining time of the currently running process, the CPU is preempted and assigned to the new process.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🕒 Dynamic decision-making: The scheduler constantly checks for new arrivals and remaining times to choose the next process.</a:t>
            </a:r>
          </a:p>
          <a:p>
            <a:pPr marL="114300" indent="0">
              <a:buNone/>
            </a:pPr>
            <a:r>
              <a:rPr lang="en-US" sz="1600" dirty="0"/>
              <a:t>🕳️ Risk of starvation: Long processes may be indefinitely postponed if short processes keep arriving.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📉 Minimizes average waiting and turnaround time.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⚠️ Requires knowledge of remaining burst times (often estimated in real systems).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📋 Ready queue is updated at every unit of time, selecting the process with the least remaining time.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🧠 More complex to implement due to frequent context switches and time tracking.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9461861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6EF12A-CC4C-1CE8-6CF7-F10D8BB4E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EE732-EB7F-1E46-2DBA-ACECEF65E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/>
              <a:t> </a:t>
            </a:r>
            <a:r>
              <a:rPr lang="en-IN" sz="1800" dirty="0"/>
              <a:t>Example:</a:t>
            </a:r>
          </a:p>
          <a:p>
            <a:pPr marL="114300" indent="0">
              <a:buNone/>
            </a:pPr>
            <a:r>
              <a:rPr lang="en-US" sz="1800" dirty="0"/>
              <a:t>Consider the set of 4 processes whose arrival time and burst time are given below Process Id Arrival time Burst time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B9F408-9B3A-D338-5B6B-A7CB2F30C6E9}"/>
              </a:ext>
            </a:extLst>
          </p:cNvPr>
          <p:cNvSpPr txBox="1"/>
          <p:nvPr/>
        </p:nvSpPr>
        <p:spPr>
          <a:xfrm>
            <a:off x="466531" y="3158058"/>
            <a:ext cx="8679801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CPU scheduling policy is SRTF, calculate the average waiting time and average turn around   time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776DFF-3C86-3F8C-D456-A093C1354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680879"/>
              </p:ext>
            </p:extLst>
          </p:nvPr>
        </p:nvGraphicFramePr>
        <p:xfrm>
          <a:off x="1502229" y="2444619"/>
          <a:ext cx="8490858" cy="2052735"/>
        </p:xfrm>
        <a:graphic>
          <a:graphicData uri="http://schemas.openxmlformats.org/drawingml/2006/table">
            <a:tbl>
              <a:tblPr/>
              <a:tblGrid>
                <a:gridCol w="2830286">
                  <a:extLst>
                    <a:ext uri="{9D8B030D-6E8A-4147-A177-3AD203B41FA5}">
                      <a16:colId xmlns:a16="http://schemas.microsoft.com/office/drawing/2014/main" val="2122672486"/>
                    </a:ext>
                  </a:extLst>
                </a:gridCol>
                <a:gridCol w="2830286">
                  <a:extLst>
                    <a:ext uri="{9D8B030D-6E8A-4147-A177-3AD203B41FA5}">
                      <a16:colId xmlns:a16="http://schemas.microsoft.com/office/drawing/2014/main" val="2488570889"/>
                    </a:ext>
                  </a:extLst>
                </a:gridCol>
                <a:gridCol w="2830286">
                  <a:extLst>
                    <a:ext uri="{9D8B030D-6E8A-4147-A177-3AD203B41FA5}">
                      <a16:colId xmlns:a16="http://schemas.microsoft.com/office/drawing/2014/main" val="4074107343"/>
                    </a:ext>
                  </a:extLst>
                </a:gridCol>
              </a:tblGrid>
              <a:tr h="410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4187011"/>
                  </a:ext>
                </a:extLst>
              </a:tr>
              <a:tr h="410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048212"/>
                  </a:ext>
                </a:extLst>
              </a:tr>
              <a:tr h="410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487600"/>
                  </a:ext>
                </a:extLst>
              </a:tr>
              <a:tr h="410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357736"/>
                  </a:ext>
                </a:extLst>
              </a:tr>
              <a:tr h="410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015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11339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F05A8A-88F3-C97E-7581-13585E1D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ED889-D5CC-4F3A-DCD6-F7D35C6D9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dirty="0"/>
              <a:t>📊 </a:t>
            </a:r>
            <a:r>
              <a:rPr lang="en-IN" sz="2400" b="1" dirty="0"/>
              <a:t>Gantt Chart</a:t>
            </a:r>
          </a:p>
          <a:p>
            <a:endParaRPr lang="en-IN" sz="2400" b="1" dirty="0"/>
          </a:p>
          <a:p>
            <a:pPr marL="114300" indent="0">
              <a:buNone/>
            </a:pPr>
            <a:r>
              <a:rPr lang="en-IN" sz="2400" dirty="0"/>
              <a:t>| P1 | P2 | P2 | P2 |P4|P1|P1|P1|P1|P3|</a:t>
            </a:r>
          </a:p>
          <a:p>
            <a:pPr marL="114300" indent="0">
              <a:buNone/>
            </a:pPr>
            <a:r>
              <a:rPr lang="en-IN" sz="2400" dirty="0"/>
              <a:t>0      1       2      3       4     5    6     7    8    9     13</a:t>
            </a:r>
          </a:p>
          <a:p>
            <a:pPr marL="114300" indent="0">
              <a:buNone/>
            </a:pPr>
            <a:endParaRPr lang="en-IN" sz="2400" dirty="0"/>
          </a:p>
          <a:p>
            <a:pPr marL="114300" indent="0">
              <a:buNone/>
            </a:pPr>
            <a:r>
              <a:rPr lang="en-IN" sz="1800" dirty="0"/>
              <a:t>📋 </a:t>
            </a:r>
            <a:r>
              <a:rPr lang="en-IN" sz="1800" b="1" dirty="0"/>
              <a:t>Completion Table</a:t>
            </a:r>
          </a:p>
          <a:p>
            <a:pPr marL="114300" indent="0">
              <a:buNone/>
            </a:pPr>
            <a:endParaRPr lang="en-IN" sz="1800" dirty="0"/>
          </a:p>
          <a:p>
            <a:endParaRPr lang="en-IN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D52755-83B1-D694-0334-55650A323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803712"/>
              </p:ext>
            </p:extLst>
          </p:nvPr>
        </p:nvGraphicFramePr>
        <p:xfrm>
          <a:off x="669924" y="4068148"/>
          <a:ext cx="10850562" cy="1772815"/>
        </p:xfrm>
        <a:graphic>
          <a:graphicData uri="http://schemas.openxmlformats.org/drawingml/2006/table">
            <a:tbl>
              <a:tblPr/>
              <a:tblGrid>
                <a:gridCol w="1808427">
                  <a:extLst>
                    <a:ext uri="{9D8B030D-6E8A-4147-A177-3AD203B41FA5}">
                      <a16:colId xmlns:a16="http://schemas.microsoft.com/office/drawing/2014/main" val="86705010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314954695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2210441337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1234650701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515482410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3098800305"/>
                    </a:ext>
                  </a:extLst>
                </a:gridCol>
              </a:tblGrid>
              <a:tr h="354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TAT = CT - 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WT = TAT - BT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073032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847878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922802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30847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450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03294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713353-1027-79CB-D43B-184B0C917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586203"/>
          </a:xfrm>
        </p:spPr>
        <p:txBody>
          <a:bodyPr>
            <a:normAutofit fontScale="90000"/>
          </a:bodyPr>
          <a:lstStyle/>
          <a:p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r>
              <a:rPr lang="en-IN" sz="3100" dirty="0"/>
              <a:t>🔹 </a:t>
            </a:r>
            <a:r>
              <a:rPr lang="en-IN" sz="3100" b="1" dirty="0"/>
              <a:t>SRTF Scheduling – Pseudocode</a:t>
            </a:r>
            <a:br>
              <a:rPr lang="en-IN" sz="3100" dirty="0"/>
            </a:br>
            <a:endParaRPr lang="en-IN" sz="31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1FAD3-C1EE-806E-3BA9-0E84429E3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en-US" sz="4200" dirty="0"/>
              <a:t>Input: List of processes with Arrival Time (AT) and Burst Time (BT)</a:t>
            </a:r>
          </a:p>
          <a:p>
            <a:pPr marL="114300" indent="0">
              <a:buNone/>
            </a:pPr>
            <a:endParaRPr lang="en-US" sz="4200" dirty="0"/>
          </a:p>
          <a:p>
            <a:pPr marL="114300" indent="0">
              <a:buNone/>
            </a:pPr>
            <a:r>
              <a:rPr lang="en-US" sz="4200" dirty="0"/>
              <a:t>Initialize:</a:t>
            </a:r>
          </a:p>
          <a:p>
            <a:pPr marL="114300" indent="0">
              <a:buNone/>
            </a:pPr>
            <a:r>
              <a:rPr lang="en-US" sz="4200" dirty="0"/>
              <a:t>  time = 0</a:t>
            </a:r>
          </a:p>
          <a:p>
            <a:pPr marL="114300" indent="0">
              <a:buNone/>
            </a:pPr>
            <a:r>
              <a:rPr lang="en-US" sz="4200" dirty="0"/>
              <a:t>  completed = 0</a:t>
            </a:r>
          </a:p>
          <a:p>
            <a:pPr marL="114300" indent="0">
              <a:buNone/>
            </a:pPr>
            <a:r>
              <a:rPr lang="en-US" sz="4200" dirty="0"/>
              <a:t>  n = total number of processes</a:t>
            </a:r>
          </a:p>
          <a:p>
            <a:pPr marL="114300" indent="0">
              <a:buNone/>
            </a:pPr>
            <a:r>
              <a:rPr lang="en-US" sz="4200" dirty="0"/>
              <a:t>  </a:t>
            </a:r>
            <a:r>
              <a:rPr lang="en-US" sz="4200" dirty="0" err="1"/>
              <a:t>remaining_time</a:t>
            </a:r>
            <a:r>
              <a:rPr lang="en-US" sz="4200" dirty="0"/>
              <a:t>[</a:t>
            </a:r>
            <a:r>
              <a:rPr lang="en-US" sz="4200" dirty="0" err="1"/>
              <a:t>i</a:t>
            </a:r>
            <a:r>
              <a:rPr lang="en-US" sz="4200" dirty="0"/>
              <a:t>] = BT[</a:t>
            </a:r>
            <a:r>
              <a:rPr lang="en-US" sz="4200" dirty="0" err="1"/>
              <a:t>i</a:t>
            </a:r>
            <a:r>
              <a:rPr lang="en-US" sz="4200" dirty="0"/>
              <a:t>] for each process </a:t>
            </a:r>
            <a:r>
              <a:rPr lang="en-US" sz="4200" dirty="0" err="1"/>
              <a:t>i</a:t>
            </a:r>
            <a:endParaRPr lang="en-US" sz="4200" dirty="0"/>
          </a:p>
          <a:p>
            <a:pPr marL="114300" indent="0">
              <a:buNone/>
            </a:pPr>
            <a:r>
              <a:rPr lang="en-US" sz="4200" dirty="0"/>
              <a:t>  </a:t>
            </a:r>
            <a:r>
              <a:rPr lang="en-US" sz="4200" dirty="0" err="1"/>
              <a:t>is_completed</a:t>
            </a:r>
            <a:r>
              <a:rPr lang="en-US" sz="4200" dirty="0"/>
              <a:t>[</a:t>
            </a:r>
            <a:r>
              <a:rPr lang="en-US" sz="4200" dirty="0" err="1"/>
              <a:t>i</a:t>
            </a:r>
            <a:r>
              <a:rPr lang="en-US" sz="4200" dirty="0"/>
              <a:t>] = false for all </a:t>
            </a:r>
            <a:r>
              <a:rPr lang="en-US" sz="4200" dirty="0" err="1"/>
              <a:t>i</a:t>
            </a:r>
            <a:endParaRPr lang="en-US" sz="4200" dirty="0"/>
          </a:p>
          <a:p>
            <a:pPr marL="114300" indent="0">
              <a:buNone/>
            </a:pPr>
            <a:endParaRPr lang="en-US" sz="4200" dirty="0"/>
          </a:p>
          <a:p>
            <a:pPr marL="114300" indent="0">
              <a:buNone/>
            </a:pPr>
            <a:r>
              <a:rPr lang="en-US" sz="4200" dirty="0"/>
              <a:t>While completed != n:</a:t>
            </a:r>
          </a:p>
          <a:p>
            <a:pPr marL="114300" indent="0">
              <a:buNone/>
            </a:pPr>
            <a:r>
              <a:rPr lang="en-US" sz="4200" dirty="0"/>
              <a:t>  Find process with minimum </a:t>
            </a:r>
            <a:r>
              <a:rPr lang="en-US" sz="4200" dirty="0" err="1"/>
              <a:t>remaining_time</a:t>
            </a:r>
            <a:r>
              <a:rPr lang="en-US" sz="4200" dirty="0"/>
              <a:t> among processes that have arrived (AT &lt;= time) and are not completed</a:t>
            </a:r>
          </a:p>
          <a:p>
            <a:pPr marL="114300" indent="0">
              <a:buNone/>
            </a:pPr>
            <a:r>
              <a:rPr lang="en-US" sz="4200" dirty="0"/>
              <a:t>  If no such process exists:</a:t>
            </a:r>
          </a:p>
          <a:p>
            <a:pPr marL="114300" indent="0">
              <a:buNone/>
            </a:pPr>
            <a:r>
              <a:rPr lang="en-US" sz="4200" dirty="0"/>
              <a:t>    time = time + 1</a:t>
            </a:r>
          </a:p>
          <a:p>
            <a:pPr marL="114300" indent="0">
              <a:buNone/>
            </a:pPr>
            <a:r>
              <a:rPr lang="en-US" sz="4200" dirty="0"/>
              <a:t>    continue</a:t>
            </a:r>
          </a:p>
          <a:p>
            <a:pPr marL="114300" indent="0">
              <a:buNone/>
            </a:pPr>
            <a:endParaRPr lang="en-US" sz="4200" dirty="0"/>
          </a:p>
          <a:p>
            <a:pPr marL="114300" indent="0">
              <a:buNone/>
            </a:pPr>
            <a:r>
              <a:rPr lang="en-US" sz="4200" dirty="0"/>
              <a:t>  Execute that process for 1 unit of time</a:t>
            </a:r>
          </a:p>
          <a:p>
            <a:pPr marL="114300" indent="0">
              <a:buNone/>
            </a:pPr>
            <a:r>
              <a:rPr lang="en-US" sz="4200" dirty="0"/>
              <a:t>  </a:t>
            </a:r>
            <a:r>
              <a:rPr lang="en-US" sz="4200" dirty="0" err="1"/>
              <a:t>remaining_time</a:t>
            </a:r>
            <a:r>
              <a:rPr lang="en-US" sz="4200" dirty="0"/>
              <a:t>[process] = </a:t>
            </a:r>
            <a:r>
              <a:rPr lang="en-US" sz="4200" dirty="0" err="1"/>
              <a:t>remaining_time</a:t>
            </a:r>
            <a:r>
              <a:rPr lang="en-US" sz="4200" dirty="0"/>
              <a:t>[process] - 1</a:t>
            </a:r>
          </a:p>
          <a:p>
            <a:pPr marL="114300" indent="0">
              <a:buNone/>
            </a:pPr>
            <a:r>
              <a:rPr lang="en-US" sz="4200" dirty="0"/>
              <a:t>  time = time + 1</a:t>
            </a:r>
          </a:p>
          <a:p>
            <a:pPr marL="114300" indent="0">
              <a:buNone/>
            </a:pPr>
            <a:endParaRPr lang="en-US" sz="4200" dirty="0"/>
          </a:p>
          <a:p>
            <a:pPr marL="114300" indent="0">
              <a:buNone/>
            </a:pPr>
            <a:r>
              <a:rPr lang="en-US" sz="4200" dirty="0"/>
              <a:t>  If </a:t>
            </a:r>
            <a:r>
              <a:rPr lang="en-US" sz="4200" dirty="0" err="1"/>
              <a:t>remaining_time</a:t>
            </a:r>
            <a:r>
              <a:rPr lang="en-US" sz="4200" dirty="0"/>
              <a:t>[process] == 0:</a:t>
            </a:r>
          </a:p>
          <a:p>
            <a:pPr marL="114300" indent="0">
              <a:buNone/>
            </a:pPr>
            <a:r>
              <a:rPr lang="en-US" sz="4200" dirty="0"/>
              <a:t>    </a:t>
            </a:r>
            <a:r>
              <a:rPr lang="en-US" sz="4200" dirty="0" err="1"/>
              <a:t>is_completed</a:t>
            </a:r>
            <a:r>
              <a:rPr lang="en-US" sz="4200" dirty="0"/>
              <a:t>[process] = true</a:t>
            </a:r>
          </a:p>
          <a:p>
            <a:pPr marL="114300" indent="0">
              <a:buNone/>
            </a:pPr>
            <a:r>
              <a:rPr lang="en-US" sz="4200" dirty="0"/>
              <a:t>    completed = completed + 1</a:t>
            </a:r>
          </a:p>
          <a:p>
            <a:pPr marL="114300" indent="0">
              <a:buNone/>
            </a:pPr>
            <a:r>
              <a:rPr lang="en-US" sz="4200" dirty="0"/>
              <a:t>    Completion Time = current time</a:t>
            </a:r>
          </a:p>
          <a:p>
            <a:pPr marL="114300" indent="0">
              <a:buNone/>
            </a:pPr>
            <a:r>
              <a:rPr lang="en-US" sz="4200" dirty="0"/>
              <a:t>    Turnaround Time = Completion Time - Arrival Time</a:t>
            </a:r>
          </a:p>
          <a:p>
            <a:pPr marL="114300" indent="0">
              <a:buNone/>
            </a:pPr>
            <a:r>
              <a:rPr lang="en-US" sz="4200" dirty="0"/>
              <a:t>    Waiting Time = Turnaround Time - Burst Time</a:t>
            </a:r>
          </a:p>
          <a:p>
            <a:pPr marL="114300" indent="0">
              <a:buNone/>
            </a:pPr>
            <a:endParaRPr lang="en-US" sz="4200" dirty="0"/>
          </a:p>
          <a:p>
            <a:pPr marL="114300" indent="0">
              <a:buNone/>
            </a:pPr>
            <a:r>
              <a:rPr lang="en-US" sz="4200" dirty="0"/>
              <a:t>End While</a:t>
            </a:r>
          </a:p>
          <a:p>
            <a:pPr marL="114300" indent="0">
              <a:buNone/>
            </a:pPr>
            <a:endParaRPr lang="en-US" sz="4200" dirty="0"/>
          </a:p>
          <a:p>
            <a:pPr marL="114300" indent="0">
              <a:buNone/>
            </a:pPr>
            <a:r>
              <a:rPr lang="en-US" sz="4200" dirty="0"/>
              <a:t>Output: Completion Time, Turnaround Time, Waiting Time for all processes</a:t>
            </a:r>
          </a:p>
          <a:p>
            <a:pPr marL="11430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985573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8BB40-1E5E-4E99-42D1-BCE16F3D6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547" y="821095"/>
            <a:ext cx="11109941" cy="531618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dirty="0"/>
              <a:t>Practice Problems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To calculate the </a:t>
            </a:r>
            <a:r>
              <a:rPr lang="en-US" sz="1800" b="1" dirty="0"/>
              <a:t>Average Waiting Time (AWT)</a:t>
            </a:r>
            <a:r>
              <a:rPr lang="en-US" sz="1800" dirty="0"/>
              <a:t> and </a:t>
            </a:r>
            <a:r>
              <a:rPr lang="en-US" sz="1800" b="1" dirty="0"/>
              <a:t>Average Turnaround Time (ATAT)</a:t>
            </a:r>
            <a:r>
              <a:rPr lang="en-US" sz="1800" dirty="0"/>
              <a:t> for the given 6 processes using the </a:t>
            </a:r>
            <a:r>
              <a:rPr lang="en-US" sz="1800" b="1" dirty="0"/>
              <a:t>Shortest Remaining Time First (SRTF)</a:t>
            </a:r>
            <a:r>
              <a:rPr lang="en-US" sz="1800" dirty="0"/>
              <a:t> scheduling algorithm (i.e., </a:t>
            </a:r>
            <a:r>
              <a:rPr lang="en-US" sz="1800" b="1" dirty="0"/>
              <a:t>preemptive</a:t>
            </a:r>
            <a:r>
              <a:rPr lang="en-US" sz="1800" dirty="0"/>
              <a:t> version of SJF)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DC54BF-AFFD-9610-ABD9-8167276CE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215255"/>
              </p:ext>
            </p:extLst>
          </p:nvPr>
        </p:nvGraphicFramePr>
        <p:xfrm>
          <a:off x="1558212" y="2416628"/>
          <a:ext cx="6102222" cy="2332652"/>
        </p:xfrm>
        <a:graphic>
          <a:graphicData uri="http://schemas.openxmlformats.org/drawingml/2006/table">
            <a:tbl>
              <a:tblPr/>
              <a:tblGrid>
                <a:gridCol w="2122632">
                  <a:extLst>
                    <a:ext uri="{9D8B030D-6E8A-4147-A177-3AD203B41FA5}">
                      <a16:colId xmlns:a16="http://schemas.microsoft.com/office/drawing/2014/main" val="2913804013"/>
                    </a:ext>
                  </a:extLst>
                </a:gridCol>
                <a:gridCol w="2122632">
                  <a:extLst>
                    <a:ext uri="{9D8B030D-6E8A-4147-A177-3AD203B41FA5}">
                      <a16:colId xmlns:a16="http://schemas.microsoft.com/office/drawing/2014/main" val="3686532287"/>
                    </a:ext>
                  </a:extLst>
                </a:gridCol>
                <a:gridCol w="1856958">
                  <a:extLst>
                    <a:ext uri="{9D8B030D-6E8A-4147-A177-3AD203B41FA5}">
                      <a16:colId xmlns:a16="http://schemas.microsoft.com/office/drawing/2014/main" val="983705994"/>
                    </a:ext>
                  </a:extLst>
                </a:gridCol>
              </a:tblGrid>
              <a:tr h="33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111440"/>
                  </a:ext>
                </a:extLst>
              </a:tr>
              <a:tr h="33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929307"/>
                  </a:ext>
                </a:extLst>
              </a:tr>
              <a:tr h="33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885501"/>
                  </a:ext>
                </a:extLst>
              </a:tr>
              <a:tr h="33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445654"/>
                  </a:ext>
                </a:extLst>
              </a:tr>
              <a:tr h="33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393146"/>
                  </a:ext>
                </a:extLst>
              </a:tr>
              <a:tr h="33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19504"/>
                  </a:ext>
                </a:extLst>
              </a:tr>
              <a:tr h="33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95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3963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C61C53-D6EE-080A-2F81-D54091FC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🔷 Priority Scheduling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B2E70-D831-74F8-3CC2-DA51CEA41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dirty="0"/>
              <a:t>✅ Each process is assigned a priority number (lower number = higher priority or vice versa, based on convention).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🕒 The CPU is allocated to the process with the highest priority among the ready processes.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🔁 Can be: Preemptive – A higher-priority process can preempt the running process. 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⚠️ Starvation can occur if lower-priority processes keep getting postponed (can be avoided using aging).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🔄 Aging is a technique that gradually increases the priority of waiting processes to prevent starvation in priority scheduling.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576935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418F2D-91B3-42AC-D008-44B156EE9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1FD7C-735B-24EA-F02B-CCA6EA900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dirty="0"/>
              <a:t>🧾 </a:t>
            </a:r>
            <a:r>
              <a:rPr lang="en-IN" sz="2400" b="1" dirty="0"/>
              <a:t>Example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147F46E-D3DC-A1C1-9D51-CB0AFF395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837917"/>
              </p:ext>
            </p:extLst>
          </p:nvPr>
        </p:nvGraphicFramePr>
        <p:xfrm>
          <a:off x="597159" y="1856792"/>
          <a:ext cx="9013372" cy="2304660"/>
        </p:xfrm>
        <a:graphic>
          <a:graphicData uri="http://schemas.openxmlformats.org/drawingml/2006/table">
            <a:tbl>
              <a:tblPr/>
              <a:tblGrid>
                <a:gridCol w="2253343">
                  <a:extLst>
                    <a:ext uri="{9D8B030D-6E8A-4147-A177-3AD203B41FA5}">
                      <a16:colId xmlns:a16="http://schemas.microsoft.com/office/drawing/2014/main" val="1612226466"/>
                    </a:ext>
                  </a:extLst>
                </a:gridCol>
                <a:gridCol w="2253343">
                  <a:extLst>
                    <a:ext uri="{9D8B030D-6E8A-4147-A177-3AD203B41FA5}">
                      <a16:colId xmlns:a16="http://schemas.microsoft.com/office/drawing/2014/main" val="3502940764"/>
                    </a:ext>
                  </a:extLst>
                </a:gridCol>
                <a:gridCol w="2253343">
                  <a:extLst>
                    <a:ext uri="{9D8B030D-6E8A-4147-A177-3AD203B41FA5}">
                      <a16:colId xmlns:a16="http://schemas.microsoft.com/office/drawing/2014/main" val="2171015722"/>
                    </a:ext>
                  </a:extLst>
                </a:gridCol>
                <a:gridCol w="2253343">
                  <a:extLst>
                    <a:ext uri="{9D8B030D-6E8A-4147-A177-3AD203B41FA5}">
                      <a16:colId xmlns:a16="http://schemas.microsoft.com/office/drawing/2014/main" val="1113011145"/>
                    </a:ext>
                  </a:extLst>
                </a:gridCol>
              </a:tblGrid>
              <a:tr h="460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114302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892870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829031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542605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9004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78A2950-9471-6AED-2C30-06A9FEF839E9}"/>
              </a:ext>
            </a:extLst>
          </p:cNvPr>
          <p:cNvSpPr txBox="1"/>
          <p:nvPr/>
        </p:nvSpPr>
        <p:spPr>
          <a:xfrm>
            <a:off x="669924" y="3265781"/>
            <a:ext cx="847640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</a:t>
            </a:r>
          </a:p>
          <a:p>
            <a:r>
              <a:rPr lang="en-US" dirty="0"/>
              <a:t>Note: Higher number = higher priority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0912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BC2CE7-94D4-601C-4448-448DAF974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770D9-724B-FD37-B0E9-362383212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en-IN" sz="2000" b="1" dirty="0"/>
          </a:p>
          <a:p>
            <a:pPr marL="114300" indent="0">
              <a:buNone/>
            </a:pPr>
            <a:r>
              <a:rPr lang="en-IN" sz="2400" dirty="0"/>
              <a:t>📋 </a:t>
            </a:r>
            <a:r>
              <a:rPr lang="en-IN" sz="2400" b="1" dirty="0"/>
              <a:t>Completion Table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dirty="0"/>
          </a:p>
          <a:p>
            <a:pPr marL="114300" indent="0">
              <a:buNone/>
            </a:pPr>
            <a:endParaRPr lang="en-IN" sz="24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0557719-17A7-5F3A-B863-AD05AE86E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070713"/>
              </p:ext>
            </p:extLst>
          </p:nvPr>
        </p:nvGraphicFramePr>
        <p:xfrm>
          <a:off x="828543" y="2062066"/>
          <a:ext cx="10850560" cy="2244460"/>
        </p:xfrm>
        <a:graphic>
          <a:graphicData uri="http://schemas.openxmlformats.org/drawingml/2006/table">
            <a:tbl>
              <a:tblPr/>
              <a:tblGrid>
                <a:gridCol w="1550080">
                  <a:extLst>
                    <a:ext uri="{9D8B030D-6E8A-4147-A177-3AD203B41FA5}">
                      <a16:colId xmlns:a16="http://schemas.microsoft.com/office/drawing/2014/main" val="4097808397"/>
                    </a:ext>
                  </a:extLst>
                </a:gridCol>
                <a:gridCol w="1550080">
                  <a:extLst>
                    <a:ext uri="{9D8B030D-6E8A-4147-A177-3AD203B41FA5}">
                      <a16:colId xmlns:a16="http://schemas.microsoft.com/office/drawing/2014/main" val="1474235237"/>
                    </a:ext>
                  </a:extLst>
                </a:gridCol>
                <a:gridCol w="1550080">
                  <a:extLst>
                    <a:ext uri="{9D8B030D-6E8A-4147-A177-3AD203B41FA5}">
                      <a16:colId xmlns:a16="http://schemas.microsoft.com/office/drawing/2014/main" val="2368727113"/>
                    </a:ext>
                  </a:extLst>
                </a:gridCol>
                <a:gridCol w="1550080">
                  <a:extLst>
                    <a:ext uri="{9D8B030D-6E8A-4147-A177-3AD203B41FA5}">
                      <a16:colId xmlns:a16="http://schemas.microsoft.com/office/drawing/2014/main" val="423967202"/>
                    </a:ext>
                  </a:extLst>
                </a:gridCol>
                <a:gridCol w="1550080">
                  <a:extLst>
                    <a:ext uri="{9D8B030D-6E8A-4147-A177-3AD203B41FA5}">
                      <a16:colId xmlns:a16="http://schemas.microsoft.com/office/drawing/2014/main" val="1508659655"/>
                    </a:ext>
                  </a:extLst>
                </a:gridCol>
                <a:gridCol w="1550080">
                  <a:extLst>
                    <a:ext uri="{9D8B030D-6E8A-4147-A177-3AD203B41FA5}">
                      <a16:colId xmlns:a16="http://schemas.microsoft.com/office/drawing/2014/main" val="2466050905"/>
                    </a:ext>
                  </a:extLst>
                </a:gridCol>
                <a:gridCol w="1550080">
                  <a:extLst>
                    <a:ext uri="{9D8B030D-6E8A-4147-A177-3AD203B41FA5}">
                      <a16:colId xmlns:a16="http://schemas.microsoft.com/office/drawing/2014/main" val="4213721056"/>
                    </a:ext>
                  </a:extLst>
                </a:gridCol>
              </a:tblGrid>
              <a:tr h="669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Turnaround (CT - AT)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Waiting (TAT - BT)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258205"/>
                  </a:ext>
                </a:extLst>
              </a:tr>
              <a:tr h="393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12 - 0 = 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12 - 5 = 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828315"/>
                  </a:ext>
                </a:extLst>
              </a:tr>
              <a:tr h="393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8 - 1 = 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7 - 4 =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782514"/>
                  </a:ext>
                </a:extLst>
              </a:tr>
              <a:tr h="393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4 - 2 =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2 - 2 =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049288"/>
                  </a:ext>
                </a:extLst>
              </a:tr>
              <a:tr h="393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5 - 4 =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1 - 1 =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281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0924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F3ACEB-A893-C909-E316-840496C79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🧠 </a:t>
            </a:r>
            <a:r>
              <a:rPr lang="en-US" sz="2400" b="1" dirty="0"/>
              <a:t>Pseudocode: Preemptive Priority Scheduling</a:t>
            </a:r>
            <a:endParaRPr lang="en-IN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B1DB3-A0EF-2F92-7654-4E202F3A0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en-IN" sz="4200" dirty="0"/>
              <a:t>Input:</a:t>
            </a:r>
          </a:p>
          <a:p>
            <a:pPr marL="114300" indent="0">
              <a:buNone/>
            </a:pPr>
            <a:r>
              <a:rPr lang="en-IN" sz="4200" dirty="0"/>
              <a:t>    n              ← number of processes</a:t>
            </a:r>
          </a:p>
          <a:p>
            <a:pPr marL="114300" indent="0">
              <a:buNone/>
            </a:pPr>
            <a:r>
              <a:rPr lang="en-IN" sz="4200" dirty="0"/>
              <a:t>    arrival[]      ← array of arrival times</a:t>
            </a:r>
          </a:p>
          <a:p>
            <a:pPr marL="114300" indent="0">
              <a:buNone/>
            </a:pPr>
            <a:r>
              <a:rPr lang="en-IN" sz="4200" dirty="0"/>
              <a:t>    burst[]        ← array of burst times</a:t>
            </a:r>
          </a:p>
          <a:p>
            <a:pPr marL="114300" indent="0">
              <a:buNone/>
            </a:pPr>
            <a:r>
              <a:rPr lang="en-IN" sz="4200" dirty="0"/>
              <a:t>    priority[]     ← array of priorities (lower value = higher priority)</a:t>
            </a:r>
          </a:p>
          <a:p>
            <a:pPr marL="114300" indent="0">
              <a:buNone/>
            </a:pPr>
            <a:endParaRPr lang="en-IN" sz="4200" dirty="0"/>
          </a:p>
          <a:p>
            <a:pPr marL="114300" indent="0">
              <a:buNone/>
            </a:pPr>
            <a:r>
              <a:rPr lang="en-IN" sz="4200" dirty="0"/>
              <a:t>Initialize:</a:t>
            </a:r>
          </a:p>
          <a:p>
            <a:pPr marL="114300" indent="0">
              <a:buNone/>
            </a:pPr>
            <a:r>
              <a:rPr lang="en-IN" sz="4200" dirty="0"/>
              <a:t>    remaining[] ← burst[]       // Track remaining time for each process</a:t>
            </a:r>
          </a:p>
          <a:p>
            <a:pPr marL="114300" indent="0">
              <a:buNone/>
            </a:pPr>
            <a:r>
              <a:rPr lang="en-IN" sz="4200" dirty="0"/>
              <a:t>    completion[] ← [0] * n</a:t>
            </a:r>
          </a:p>
          <a:p>
            <a:pPr marL="114300" indent="0">
              <a:buNone/>
            </a:pPr>
            <a:r>
              <a:rPr lang="en-IN" sz="4200" dirty="0"/>
              <a:t>    waiting[] ← [0] * n</a:t>
            </a:r>
          </a:p>
          <a:p>
            <a:pPr marL="114300" indent="0">
              <a:buNone/>
            </a:pPr>
            <a:r>
              <a:rPr lang="en-IN" sz="4200" dirty="0"/>
              <a:t>    turnaround[] ← [0] * n</a:t>
            </a:r>
          </a:p>
          <a:p>
            <a:pPr marL="114300" indent="0">
              <a:buNone/>
            </a:pPr>
            <a:r>
              <a:rPr lang="en-IN" sz="4200" dirty="0"/>
              <a:t>    </a:t>
            </a:r>
            <a:r>
              <a:rPr lang="en-IN" sz="4200" dirty="0" err="1"/>
              <a:t>is_completed</a:t>
            </a:r>
            <a:r>
              <a:rPr lang="en-IN" sz="4200" dirty="0"/>
              <a:t>[] ← [false] * n</a:t>
            </a:r>
          </a:p>
          <a:p>
            <a:pPr marL="114300" indent="0">
              <a:buNone/>
            </a:pPr>
            <a:r>
              <a:rPr lang="en-IN" sz="4200" dirty="0"/>
              <a:t>    time ← 0</a:t>
            </a:r>
          </a:p>
          <a:p>
            <a:pPr marL="114300" indent="0">
              <a:buNone/>
            </a:pPr>
            <a:r>
              <a:rPr lang="en-IN" sz="4200" dirty="0"/>
              <a:t>    completed ← 0</a:t>
            </a:r>
          </a:p>
          <a:p>
            <a:pPr marL="114300" indent="0">
              <a:buNone/>
            </a:pPr>
            <a:r>
              <a:rPr lang="en-IN" sz="4200" dirty="0"/>
              <a:t>    </a:t>
            </a:r>
            <a:r>
              <a:rPr lang="en-IN" sz="4200" dirty="0" err="1"/>
              <a:t>current_process</a:t>
            </a:r>
            <a:r>
              <a:rPr lang="en-IN" sz="4200" dirty="0"/>
              <a:t> ← -1</a:t>
            </a:r>
          </a:p>
          <a:p>
            <a:pPr marL="114300" indent="0">
              <a:buNone/>
            </a:pPr>
            <a:endParaRPr lang="en-IN" sz="4200" dirty="0"/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65797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16746-438E-B043-4D8C-9EE7BE3BA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en-IN" dirty="0"/>
              <a:t>While completed &lt; n:</a:t>
            </a:r>
          </a:p>
          <a:p>
            <a:pPr marL="114300" indent="0">
              <a:buNone/>
            </a:pPr>
            <a:r>
              <a:rPr lang="en-IN" dirty="0"/>
              <a:t>    Find process </a:t>
            </a:r>
            <a:r>
              <a:rPr lang="en-IN" dirty="0" err="1"/>
              <a:t>i</a:t>
            </a:r>
            <a:r>
              <a:rPr lang="en-IN" dirty="0"/>
              <a:t> such that:</a:t>
            </a:r>
          </a:p>
          <a:p>
            <a:pPr marL="114300" indent="0">
              <a:buNone/>
            </a:pPr>
            <a:r>
              <a:rPr lang="en-IN" dirty="0"/>
              <a:t>        - arrival[</a:t>
            </a:r>
            <a:r>
              <a:rPr lang="en-IN" dirty="0" err="1"/>
              <a:t>i</a:t>
            </a:r>
            <a:r>
              <a:rPr lang="en-IN" dirty="0"/>
              <a:t>] ≤ time</a:t>
            </a:r>
          </a:p>
          <a:p>
            <a:pPr marL="114300" indent="0">
              <a:buNone/>
            </a:pPr>
            <a:r>
              <a:rPr lang="en-IN" dirty="0"/>
              <a:t>        - remaining[</a:t>
            </a:r>
            <a:r>
              <a:rPr lang="en-IN" dirty="0" err="1"/>
              <a:t>i</a:t>
            </a:r>
            <a:r>
              <a:rPr lang="en-IN" dirty="0"/>
              <a:t>] &gt; 0</a:t>
            </a:r>
          </a:p>
          <a:p>
            <a:pPr marL="114300" indent="0">
              <a:buNone/>
            </a:pPr>
            <a:r>
              <a:rPr lang="en-IN" dirty="0"/>
              <a:t>        - priority[</a:t>
            </a:r>
            <a:r>
              <a:rPr lang="en-IN" dirty="0" err="1"/>
              <a:t>i</a:t>
            </a:r>
            <a:r>
              <a:rPr lang="en-IN" dirty="0"/>
              <a:t>] is smallest among available (higher priority)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    If such process </a:t>
            </a:r>
            <a:r>
              <a:rPr lang="en-IN" dirty="0" err="1"/>
              <a:t>i</a:t>
            </a:r>
            <a:r>
              <a:rPr lang="en-IN" dirty="0"/>
              <a:t> exists:</a:t>
            </a:r>
          </a:p>
          <a:p>
            <a:pPr marL="114300" indent="0">
              <a:buNone/>
            </a:pPr>
            <a:r>
              <a:rPr lang="en-IN" dirty="0"/>
              <a:t>        If </a:t>
            </a:r>
            <a:r>
              <a:rPr lang="en-IN" dirty="0" err="1"/>
              <a:t>current_process</a:t>
            </a:r>
            <a:r>
              <a:rPr lang="en-IN" dirty="0"/>
              <a:t> ≠ i:</a:t>
            </a:r>
          </a:p>
          <a:p>
            <a:pPr marL="114300" indent="0">
              <a:buNone/>
            </a:pPr>
            <a:r>
              <a:rPr lang="en-IN" dirty="0"/>
              <a:t>            </a:t>
            </a:r>
            <a:r>
              <a:rPr lang="en-IN" dirty="0" err="1"/>
              <a:t>current_process</a:t>
            </a:r>
            <a:r>
              <a:rPr lang="en-IN" dirty="0"/>
              <a:t> ← </a:t>
            </a:r>
            <a:r>
              <a:rPr lang="en-IN" dirty="0" err="1"/>
              <a:t>i</a:t>
            </a:r>
            <a:r>
              <a:rPr lang="en-IN" dirty="0"/>
              <a:t>   // context switch</a:t>
            </a:r>
          </a:p>
          <a:p>
            <a:pPr marL="114300" indent="0">
              <a:buNone/>
            </a:pPr>
            <a:r>
              <a:rPr lang="en-IN" dirty="0"/>
              <a:t>        remaining[</a:t>
            </a:r>
            <a:r>
              <a:rPr lang="en-IN" dirty="0" err="1"/>
              <a:t>i</a:t>
            </a:r>
            <a:r>
              <a:rPr lang="en-IN" dirty="0"/>
              <a:t>] ← remaining[</a:t>
            </a:r>
            <a:r>
              <a:rPr lang="en-IN" dirty="0" err="1"/>
              <a:t>i</a:t>
            </a:r>
            <a:r>
              <a:rPr lang="en-IN" dirty="0"/>
              <a:t>] - 1</a:t>
            </a:r>
          </a:p>
          <a:p>
            <a:pPr marL="114300" indent="0">
              <a:buNone/>
            </a:pPr>
            <a:r>
              <a:rPr lang="en-IN" dirty="0"/>
              <a:t>        If remaining[</a:t>
            </a:r>
            <a:r>
              <a:rPr lang="en-IN" dirty="0" err="1"/>
              <a:t>i</a:t>
            </a:r>
            <a:r>
              <a:rPr lang="en-IN" dirty="0"/>
              <a:t>] == 0:</a:t>
            </a:r>
          </a:p>
          <a:p>
            <a:pPr marL="114300" indent="0">
              <a:buNone/>
            </a:pPr>
            <a:r>
              <a:rPr lang="en-IN" dirty="0"/>
              <a:t>            completion[</a:t>
            </a:r>
            <a:r>
              <a:rPr lang="en-IN" dirty="0" err="1"/>
              <a:t>i</a:t>
            </a:r>
            <a:r>
              <a:rPr lang="en-IN" dirty="0"/>
              <a:t>] ← time + 1</a:t>
            </a:r>
          </a:p>
          <a:p>
            <a:pPr marL="114300" indent="0">
              <a:buNone/>
            </a:pPr>
            <a:r>
              <a:rPr lang="en-IN" dirty="0"/>
              <a:t>            turnaround[</a:t>
            </a:r>
            <a:r>
              <a:rPr lang="en-IN" dirty="0" err="1"/>
              <a:t>i</a:t>
            </a:r>
            <a:r>
              <a:rPr lang="en-IN" dirty="0"/>
              <a:t>] ← completion[</a:t>
            </a:r>
            <a:r>
              <a:rPr lang="en-IN" dirty="0" err="1"/>
              <a:t>i</a:t>
            </a:r>
            <a:r>
              <a:rPr lang="en-IN" dirty="0"/>
              <a:t>] - arrival[</a:t>
            </a:r>
            <a:r>
              <a:rPr lang="en-IN" dirty="0" err="1"/>
              <a:t>i</a:t>
            </a:r>
            <a:r>
              <a:rPr lang="en-IN" dirty="0"/>
              <a:t>]</a:t>
            </a:r>
          </a:p>
          <a:p>
            <a:pPr marL="114300" indent="0">
              <a:buNone/>
            </a:pPr>
            <a:r>
              <a:rPr lang="en-IN" dirty="0"/>
              <a:t>            waiting[</a:t>
            </a:r>
            <a:r>
              <a:rPr lang="en-IN" dirty="0" err="1"/>
              <a:t>i</a:t>
            </a:r>
            <a:r>
              <a:rPr lang="en-IN" dirty="0"/>
              <a:t>] ← turnaround[</a:t>
            </a:r>
            <a:r>
              <a:rPr lang="en-IN" dirty="0" err="1"/>
              <a:t>i</a:t>
            </a:r>
            <a:r>
              <a:rPr lang="en-IN" dirty="0"/>
              <a:t>] - burst[</a:t>
            </a:r>
            <a:r>
              <a:rPr lang="en-IN" dirty="0" err="1"/>
              <a:t>i</a:t>
            </a:r>
            <a:r>
              <a:rPr lang="en-IN" dirty="0"/>
              <a:t>]</a:t>
            </a:r>
          </a:p>
          <a:p>
            <a:pPr marL="114300" indent="0">
              <a:buNone/>
            </a:pPr>
            <a:r>
              <a:rPr lang="en-IN" dirty="0"/>
              <a:t>            </a:t>
            </a:r>
            <a:r>
              <a:rPr lang="en-IN" dirty="0" err="1"/>
              <a:t>is_completed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 ← true</a:t>
            </a:r>
          </a:p>
          <a:p>
            <a:pPr marL="114300" indent="0">
              <a:buNone/>
            </a:pPr>
            <a:r>
              <a:rPr lang="en-IN" dirty="0"/>
              <a:t>            completed ← completed + 1</a:t>
            </a:r>
          </a:p>
          <a:p>
            <a:pPr marL="114300" indent="0">
              <a:buNone/>
            </a:pPr>
            <a:r>
              <a:rPr lang="en-IN" dirty="0"/>
              <a:t>    Else:</a:t>
            </a:r>
          </a:p>
          <a:p>
            <a:pPr marL="114300" indent="0">
              <a:buNone/>
            </a:pPr>
            <a:r>
              <a:rPr lang="en-IN" dirty="0"/>
              <a:t>        time ← time + 1  // CPU is idle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    time ← time + 1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50528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63278-7B1C-F314-5FDD-BD02F6F58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782321"/>
            <a:ext cx="10971848" cy="5354954"/>
          </a:xfrm>
        </p:spPr>
        <p:txBody>
          <a:bodyPr/>
          <a:lstStyle/>
          <a:p>
            <a:pPr marL="114300" indent="0">
              <a:buNone/>
            </a:pPr>
            <a:r>
              <a:rPr lang="en-US" sz="1800" dirty="0"/>
              <a:t>Practice Problem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Consider the set of 5 processes whose arrival time and burst time are given below- 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0CC797-5CA4-9E2A-AE45-65D0E6422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549045"/>
              </p:ext>
            </p:extLst>
          </p:nvPr>
        </p:nvGraphicFramePr>
        <p:xfrm>
          <a:off x="802640" y="2275840"/>
          <a:ext cx="7716208" cy="2600958"/>
        </p:xfrm>
        <a:graphic>
          <a:graphicData uri="http://schemas.openxmlformats.org/drawingml/2006/table">
            <a:tbl>
              <a:tblPr/>
              <a:tblGrid>
                <a:gridCol w="1929052">
                  <a:extLst>
                    <a:ext uri="{9D8B030D-6E8A-4147-A177-3AD203B41FA5}">
                      <a16:colId xmlns:a16="http://schemas.microsoft.com/office/drawing/2014/main" val="389059400"/>
                    </a:ext>
                  </a:extLst>
                </a:gridCol>
                <a:gridCol w="1929052">
                  <a:extLst>
                    <a:ext uri="{9D8B030D-6E8A-4147-A177-3AD203B41FA5}">
                      <a16:colId xmlns:a16="http://schemas.microsoft.com/office/drawing/2014/main" val="4257017627"/>
                    </a:ext>
                  </a:extLst>
                </a:gridCol>
                <a:gridCol w="1929052">
                  <a:extLst>
                    <a:ext uri="{9D8B030D-6E8A-4147-A177-3AD203B41FA5}">
                      <a16:colId xmlns:a16="http://schemas.microsoft.com/office/drawing/2014/main" val="289744654"/>
                    </a:ext>
                  </a:extLst>
                </a:gridCol>
                <a:gridCol w="1929052">
                  <a:extLst>
                    <a:ext uri="{9D8B030D-6E8A-4147-A177-3AD203B41FA5}">
                      <a16:colId xmlns:a16="http://schemas.microsoft.com/office/drawing/2014/main" val="3805895204"/>
                    </a:ext>
                  </a:extLst>
                </a:gridCol>
              </a:tblGrid>
              <a:tr h="43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730461"/>
                  </a:ext>
                </a:extLst>
              </a:tr>
              <a:tr h="43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64921"/>
                  </a:ext>
                </a:extLst>
              </a:tr>
              <a:tr h="43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577298"/>
                  </a:ext>
                </a:extLst>
              </a:tr>
              <a:tr h="43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300864"/>
                  </a:ext>
                </a:extLst>
              </a:tr>
              <a:tr h="43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966109"/>
                  </a:ext>
                </a:extLst>
              </a:tr>
              <a:tr h="43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3400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EB44C8C-4A22-C8BD-DF2F-4820FB068392}"/>
              </a:ext>
            </a:extLst>
          </p:cNvPr>
          <p:cNvSpPr txBox="1"/>
          <p:nvPr/>
        </p:nvSpPr>
        <p:spPr>
          <a:xfrm>
            <a:off x="669925" y="3302000"/>
            <a:ext cx="8474075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If the CPU scheduling policy is priority non-preemptive, calculate the average waiting time and average turnaround time. (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Higher number represents higher priority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3570655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269066-7528-F1F7-241E-314FCEC38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🔹 Round Robin Scheduling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8C373-7506-3216-190F-3A8148AF5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dirty="0"/>
              <a:t>🔁 Round Robin (RR) is a preemptive CPU scheduling algorithm.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⏱️ Each process is given a fixed time slot called a time quantum.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🕒 If a process doesn’t finish within its time quantum, it is preempted and placed at the end of the ready queue.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✅ It is always preemptive due to the fixed time quantum.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🔄 Ensures fair sharing of CPU time among all processes.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⚖️ Good for time-sharing systems and interactive environments.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🚫 Avoids starvation, but average turnaround time may be higher than SJF.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📥 Handles arriving processes dynamically – new arrivals can enter the ready queue at any time.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877555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F7F70E-4AEA-5CB9-989C-A6ADBC7ED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BEA29-770F-2F1C-8443-C9EBCA3EC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dirty="0"/>
              <a:t>Let's solve this </a:t>
            </a:r>
            <a:r>
              <a:rPr lang="en-US" sz="1600" b="1" dirty="0"/>
              <a:t>Round Robin Scheduling</a:t>
            </a:r>
            <a:r>
              <a:rPr lang="en-US" sz="1600" dirty="0"/>
              <a:t> example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IN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696DE4-BF44-F756-40B9-8CFA427E5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795462"/>
              </p:ext>
            </p:extLst>
          </p:nvPr>
        </p:nvGraphicFramePr>
        <p:xfrm>
          <a:off x="669924" y="1651518"/>
          <a:ext cx="10850562" cy="1912775"/>
        </p:xfrm>
        <a:graphic>
          <a:graphicData uri="http://schemas.openxmlformats.org/drawingml/2006/table">
            <a:tbl>
              <a:tblPr/>
              <a:tblGrid>
                <a:gridCol w="3616854">
                  <a:extLst>
                    <a:ext uri="{9D8B030D-6E8A-4147-A177-3AD203B41FA5}">
                      <a16:colId xmlns:a16="http://schemas.microsoft.com/office/drawing/2014/main" val="2286107616"/>
                    </a:ext>
                  </a:extLst>
                </a:gridCol>
                <a:gridCol w="3616854">
                  <a:extLst>
                    <a:ext uri="{9D8B030D-6E8A-4147-A177-3AD203B41FA5}">
                      <a16:colId xmlns:a16="http://schemas.microsoft.com/office/drawing/2014/main" val="12653886"/>
                    </a:ext>
                  </a:extLst>
                </a:gridCol>
                <a:gridCol w="3616854">
                  <a:extLst>
                    <a:ext uri="{9D8B030D-6E8A-4147-A177-3AD203B41FA5}">
                      <a16:colId xmlns:a16="http://schemas.microsoft.com/office/drawing/2014/main" val="1832295623"/>
                    </a:ext>
                  </a:extLst>
                </a:gridCol>
              </a:tblGrid>
              <a:tr h="382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216480"/>
                  </a:ext>
                </a:extLst>
              </a:tr>
              <a:tr h="382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30763"/>
                  </a:ext>
                </a:extLst>
              </a:tr>
              <a:tr h="382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989466"/>
                  </a:ext>
                </a:extLst>
              </a:tr>
              <a:tr h="382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901303"/>
                  </a:ext>
                </a:extLst>
              </a:tr>
              <a:tr h="382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0336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A02E699-D048-4866-5D58-60779214E9AC}"/>
              </a:ext>
            </a:extLst>
          </p:cNvPr>
          <p:cNvSpPr txBox="1"/>
          <p:nvPr/>
        </p:nvSpPr>
        <p:spPr>
          <a:xfrm>
            <a:off x="933062" y="4187111"/>
            <a:ext cx="3157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🕒 </a:t>
            </a:r>
            <a:r>
              <a:rPr lang="en-IN" b="1" dirty="0"/>
              <a:t>Assume Time Quantum =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26991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10E363-40E5-1A63-15AE-0D8537BAD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730C71-FBD5-ACEA-4136-1284390EAC4C}"/>
              </a:ext>
            </a:extLst>
          </p:cNvPr>
          <p:cNvSpPr txBox="1"/>
          <p:nvPr/>
        </p:nvSpPr>
        <p:spPr>
          <a:xfrm>
            <a:off x="419878" y="1212981"/>
            <a:ext cx="87264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IN" sz="1400" dirty="0"/>
              <a:t>📋 </a:t>
            </a:r>
            <a:r>
              <a:rPr lang="en-IN" sz="1400" b="1" dirty="0"/>
              <a:t>Completion Table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655ACC1-9310-1405-BE3B-A7A91AA7E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408240"/>
              </p:ext>
            </p:extLst>
          </p:nvPr>
        </p:nvGraphicFramePr>
        <p:xfrm>
          <a:off x="419878" y="1953344"/>
          <a:ext cx="10850562" cy="1737360"/>
        </p:xfrm>
        <a:graphic>
          <a:graphicData uri="http://schemas.openxmlformats.org/drawingml/2006/table">
            <a:tbl>
              <a:tblPr/>
              <a:tblGrid>
                <a:gridCol w="1808427">
                  <a:extLst>
                    <a:ext uri="{9D8B030D-6E8A-4147-A177-3AD203B41FA5}">
                      <a16:colId xmlns:a16="http://schemas.microsoft.com/office/drawing/2014/main" val="3128433089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3823747093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1853967416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3059455258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4088409820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792859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Turnaround Time (CT - AT)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Waiting Time (TAT - BT)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891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12 - 0 = 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12 - 5 = 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110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11 - 1 = 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10 - 4 = 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742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6 - 2 =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4 - 2 =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060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9 - 4 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5 - 1 =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999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8423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26C2A3-ACC3-E3E0-49C4-63207DB92987}"/>
              </a:ext>
            </a:extLst>
          </p:cNvPr>
          <p:cNvSpPr txBox="1"/>
          <p:nvPr/>
        </p:nvSpPr>
        <p:spPr>
          <a:xfrm>
            <a:off x="811763" y="671804"/>
            <a:ext cx="534022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Input: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n ← number of processes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arrival[] ← array of arrival times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burst[] ← array of burst times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time_quantum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← fixed time slice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Initialize: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remaining[] ← burst[]        // Remaining burst time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completion[] ← [0] * n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turnaround[] ← [0] * n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waiting[] ← [0] * n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queue ← empty list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time ← 0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mark all processes as not added to queue yet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first arrived processes to queue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any process has remaining time: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If queue is empty: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time ← time + 1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Add newly arrived processes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continue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process ←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queue.pop_front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72B792-A3EA-6997-D99D-5409AD6F3BC6}"/>
              </a:ext>
            </a:extLst>
          </p:cNvPr>
          <p:cNvSpPr txBox="1"/>
          <p:nvPr/>
        </p:nvSpPr>
        <p:spPr>
          <a:xfrm>
            <a:off x="4926562" y="130629"/>
            <a:ext cx="4219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📄 Pseudocode: Round Robin Scheduling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4559847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345595-4CC5-3611-32B6-4EEA67B1C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CD568-7D60-FB62-9801-A5CCEAC21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600" dirty="0"/>
              <a:t> If remaining[process] &gt; </a:t>
            </a:r>
            <a:r>
              <a:rPr lang="en-IN" sz="1600" dirty="0" err="1"/>
              <a:t>time_quantum</a:t>
            </a:r>
            <a:r>
              <a:rPr lang="en-IN" sz="1600" dirty="0"/>
              <a:t>:</a:t>
            </a:r>
          </a:p>
          <a:p>
            <a:pPr marL="114300" indent="0">
              <a:buNone/>
            </a:pPr>
            <a:r>
              <a:rPr lang="en-IN" sz="1600" dirty="0"/>
              <a:t>        time ← time + </a:t>
            </a:r>
            <a:r>
              <a:rPr lang="en-IN" sz="1600" dirty="0" err="1"/>
              <a:t>time_quantum</a:t>
            </a: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        remaining[process] ← remaining[process] - </a:t>
            </a:r>
            <a:r>
              <a:rPr lang="en-IN" sz="1600" dirty="0" err="1"/>
              <a:t>time_quantum</a:t>
            </a: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        Add new arrivals to queue</a:t>
            </a:r>
          </a:p>
          <a:p>
            <a:pPr marL="11430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queue.append</a:t>
            </a:r>
            <a:r>
              <a:rPr lang="en-IN" sz="1600" dirty="0"/>
              <a:t>(process)</a:t>
            </a:r>
          </a:p>
          <a:p>
            <a:pPr marL="114300" indent="0">
              <a:buNone/>
            </a:pPr>
            <a:r>
              <a:rPr lang="en-IN" sz="1600" dirty="0"/>
              <a:t> </a:t>
            </a:r>
          </a:p>
          <a:p>
            <a:pPr marL="114300" indent="0">
              <a:buNone/>
            </a:pPr>
            <a:r>
              <a:rPr lang="en-IN" sz="1600" dirty="0"/>
              <a:t>Else:</a:t>
            </a:r>
          </a:p>
          <a:p>
            <a:pPr marL="114300" indent="0">
              <a:buNone/>
            </a:pPr>
            <a:r>
              <a:rPr lang="en-IN" sz="1600" dirty="0"/>
              <a:t>        time ← time + remaining[process]</a:t>
            </a:r>
          </a:p>
          <a:p>
            <a:pPr marL="114300" indent="0">
              <a:buNone/>
            </a:pPr>
            <a:r>
              <a:rPr lang="en-IN" sz="1600" dirty="0"/>
              <a:t>        remaining[process] ← 0</a:t>
            </a:r>
          </a:p>
          <a:p>
            <a:pPr marL="114300" indent="0">
              <a:buNone/>
            </a:pPr>
            <a:r>
              <a:rPr lang="en-IN" sz="1600" dirty="0"/>
              <a:t>        completion[process] ← time</a:t>
            </a:r>
          </a:p>
          <a:p>
            <a:pPr marL="114300" indent="0">
              <a:buNone/>
            </a:pPr>
            <a:r>
              <a:rPr lang="en-IN" sz="1600" dirty="0"/>
              <a:t>        turnaround[process] ← time - arrival[process]</a:t>
            </a:r>
          </a:p>
          <a:p>
            <a:pPr marL="114300" indent="0">
              <a:buNone/>
            </a:pPr>
            <a:r>
              <a:rPr lang="en-IN" sz="1600" dirty="0"/>
              <a:t>        waiting[process] ← turnaround[process] - burst[process]</a:t>
            </a:r>
          </a:p>
          <a:p>
            <a:pPr marL="114300" indent="0">
              <a:buNone/>
            </a:pPr>
            <a:r>
              <a:rPr lang="en-IN" sz="1600" dirty="0"/>
              <a:t>        Add new arrivals to queue (if any)</a:t>
            </a:r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Output:</a:t>
            </a:r>
          </a:p>
          <a:p>
            <a:pPr marL="114300" indent="0">
              <a:buNone/>
            </a:pPr>
            <a:r>
              <a:rPr lang="en-IN" sz="1600" dirty="0"/>
              <a:t>    completion[], turnaround[], waiting[]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60986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4159C-6CDF-6C84-896D-9AADCB6A0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8481" y="680721"/>
            <a:ext cx="10982008" cy="5456554"/>
          </a:xfrm>
        </p:spPr>
        <p:txBody>
          <a:bodyPr/>
          <a:lstStyle/>
          <a:p>
            <a:pPr marL="114300" indent="0">
              <a:buNone/>
            </a:pPr>
            <a:r>
              <a:rPr lang="en-US" sz="1800" dirty="0"/>
              <a:t>Practice Problem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Consider the set of 5 processes whose arrival time and burst time are given below-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33F932-AD39-C1B8-68B9-C985A4899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543736"/>
              </p:ext>
            </p:extLst>
          </p:nvPr>
        </p:nvGraphicFramePr>
        <p:xfrm>
          <a:off x="1087120" y="1838962"/>
          <a:ext cx="6471918" cy="1828800"/>
        </p:xfrm>
        <a:graphic>
          <a:graphicData uri="http://schemas.openxmlformats.org/drawingml/2006/table">
            <a:tbl>
              <a:tblPr/>
              <a:tblGrid>
                <a:gridCol w="2157306">
                  <a:extLst>
                    <a:ext uri="{9D8B030D-6E8A-4147-A177-3AD203B41FA5}">
                      <a16:colId xmlns:a16="http://schemas.microsoft.com/office/drawing/2014/main" val="2222075787"/>
                    </a:ext>
                  </a:extLst>
                </a:gridCol>
                <a:gridCol w="2157306">
                  <a:extLst>
                    <a:ext uri="{9D8B030D-6E8A-4147-A177-3AD203B41FA5}">
                      <a16:colId xmlns:a16="http://schemas.microsoft.com/office/drawing/2014/main" val="3918353093"/>
                    </a:ext>
                  </a:extLst>
                </a:gridCol>
                <a:gridCol w="2157306">
                  <a:extLst>
                    <a:ext uri="{9D8B030D-6E8A-4147-A177-3AD203B41FA5}">
                      <a16:colId xmlns:a16="http://schemas.microsoft.com/office/drawing/2014/main" val="472061658"/>
                    </a:ext>
                  </a:extLst>
                </a:gridCol>
              </a:tblGrid>
              <a:tr h="194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154467"/>
                  </a:ext>
                </a:extLst>
              </a:tr>
              <a:tr h="194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813545"/>
                  </a:ext>
                </a:extLst>
              </a:tr>
              <a:tr h="194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204612"/>
                  </a:ext>
                </a:extLst>
              </a:tr>
              <a:tr h="194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569788"/>
                  </a:ext>
                </a:extLst>
              </a:tr>
              <a:tr h="194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524758"/>
                  </a:ext>
                </a:extLst>
              </a:tr>
              <a:tr h="194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4800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95CA813-6C49-B10A-A430-4B954AFD0964}"/>
              </a:ext>
            </a:extLst>
          </p:cNvPr>
          <p:cNvSpPr txBox="1"/>
          <p:nvPr/>
        </p:nvSpPr>
        <p:spPr>
          <a:xfrm>
            <a:off x="538480" y="3167390"/>
            <a:ext cx="1037336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CPU scheduling policy is Round Robin with time quantum = 2 unit, calculate the average waiting time and average turnaround time. 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5236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>
            <a:spLocks noGrp="1"/>
          </p:cNvSpPr>
          <p:nvPr>
            <p:ph type="body" idx="1"/>
          </p:nvPr>
        </p:nvSpPr>
        <p:spPr>
          <a:xfrm>
            <a:off x="1552115" y="1138801"/>
            <a:ext cx="85217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spcBef>
                <a:spcPts val="480"/>
              </a:spcBef>
              <a:buSzPts val="2400"/>
              <a:buNone/>
            </a:pPr>
            <a:endParaRPr lang="en-IN" sz="1400" dirty="0"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891E85-696D-505E-5A2E-FFE7D1CFE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924232"/>
            <a:ext cx="5077952" cy="44540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D64084-E94E-9A80-D8C3-83874FCA20F0}"/>
              </a:ext>
            </a:extLst>
          </p:cNvPr>
          <p:cNvSpPr txBox="1"/>
          <p:nvPr/>
        </p:nvSpPr>
        <p:spPr>
          <a:xfrm>
            <a:off x="5584723" y="924232"/>
            <a:ext cx="43261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Time for Some MCQs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EAB06-CF1D-5D8C-0650-9006402534A2}"/>
              </a:ext>
            </a:extLst>
          </p:cNvPr>
          <p:cNvSpPr txBox="1"/>
          <p:nvPr/>
        </p:nvSpPr>
        <p:spPr>
          <a:xfrm>
            <a:off x="1752600" y="2462240"/>
            <a:ext cx="7391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                                                    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         </a:t>
            </a:r>
            <a:endParaRPr lang="en-IN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EB91B-7A0E-713E-7F4E-7A366B70B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sz="1800" dirty="0"/>
              <a:t>Which one or more of the following CPU scheduling algorithms can potentially cause starvation?</a:t>
            </a:r>
          </a:p>
          <a:p>
            <a:pPr marL="114300" indent="0">
              <a:buNone/>
            </a:pPr>
            <a:r>
              <a:rPr lang="en-IN" sz="1800" dirty="0"/>
              <a:t>A First-in First-out</a:t>
            </a:r>
          </a:p>
          <a:p>
            <a:pPr marL="114300" indent="0">
              <a:buNone/>
            </a:pPr>
            <a:r>
              <a:rPr lang="en-IN" sz="1800" dirty="0"/>
              <a:t>B Round Robin</a:t>
            </a:r>
          </a:p>
          <a:p>
            <a:pPr marL="114300" indent="0">
              <a:buNone/>
            </a:pPr>
            <a:r>
              <a:rPr lang="en-IN" sz="1800" dirty="0"/>
              <a:t>C Priority Scheduling</a:t>
            </a:r>
          </a:p>
          <a:p>
            <a:pPr marL="114300" indent="0">
              <a:buNone/>
            </a:pPr>
            <a:r>
              <a:rPr lang="en-IN" sz="1800" dirty="0"/>
              <a:t>D Shortest Job First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39318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C0BA3A74-B807-045D-9E3D-60FC8B0F95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63425"/>
            <a:ext cx="342433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 Priority Scheduling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 Shortest Job First</a:t>
            </a:r>
          </a:p>
        </p:txBody>
      </p:sp>
    </p:spTree>
    <p:extLst>
      <p:ext uri="{BB962C8B-B14F-4D97-AF65-F5344CB8AC3E}">
        <p14:creationId xmlns:p14="http://schemas.microsoft.com/office/powerpoint/2010/main" val="17978635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E7188-0288-A09F-4CE2-F6D93B5BE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sz="1800" dirty="0"/>
              <a:t>Which of the following statement(s) is/are correct in the context of CPU scheduling?</a:t>
            </a:r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r>
              <a:rPr lang="en-IN" sz="1800" dirty="0"/>
              <a:t>A Implementing </a:t>
            </a:r>
            <a:r>
              <a:rPr lang="en-IN" sz="1800" dirty="0" err="1"/>
              <a:t>preemptive</a:t>
            </a:r>
            <a:r>
              <a:rPr lang="en-IN" sz="1800" dirty="0"/>
              <a:t> scheduling needs hardware support.</a:t>
            </a:r>
          </a:p>
          <a:p>
            <a:pPr marL="114300" indent="0">
              <a:buNone/>
            </a:pPr>
            <a:r>
              <a:rPr lang="en-IN" sz="1800" dirty="0"/>
              <a:t>B Turnaround time includes waiting time.</a:t>
            </a:r>
          </a:p>
          <a:p>
            <a:pPr marL="114300" indent="0">
              <a:buNone/>
            </a:pPr>
            <a:r>
              <a:rPr lang="en-IN" sz="1800" dirty="0"/>
              <a:t>C Round-robin policy can be used even when the CPU time required by each of the processes is not known </a:t>
            </a:r>
            <a:r>
              <a:rPr lang="en-IN" sz="1800" dirty="0" err="1"/>
              <a:t>apriori</a:t>
            </a:r>
            <a:r>
              <a:rPr lang="en-IN" sz="1800" dirty="0"/>
              <a:t>.</a:t>
            </a:r>
          </a:p>
          <a:p>
            <a:pPr marL="114300" indent="0">
              <a:buNone/>
            </a:pPr>
            <a:r>
              <a:rPr lang="en-IN" sz="1800" dirty="0"/>
              <a:t>D The goal is to only maximize CPU utilization and minimize throughput</a:t>
            </a:r>
            <a:r>
              <a:rPr lang="en-IN" dirty="0"/>
              <a:t>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18226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5D5775-B381-AC93-E52A-06BE2A14A5AE}"/>
              </a:ext>
            </a:extLst>
          </p:cNvPr>
          <p:cNvSpPr txBox="1"/>
          <p:nvPr/>
        </p:nvSpPr>
        <p:spPr>
          <a:xfrm>
            <a:off x="895739" y="1054360"/>
            <a:ext cx="8250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 statements: A, B, and C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7711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8A857B-8DD3-276A-A57D-98A7353CBCF2}"/>
              </a:ext>
            </a:extLst>
          </p:cNvPr>
          <p:cNvSpPr txBox="1"/>
          <p:nvPr/>
        </p:nvSpPr>
        <p:spPr>
          <a:xfrm>
            <a:off x="513183" y="849086"/>
            <a:ext cx="10814179" cy="3782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 of the following statements are true?</a:t>
            </a:r>
            <a:b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I. Shortest remaining time first scheduling may cause starvation</a:t>
            </a:r>
            <a:b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II. 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Preemptive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scheduling may cause starvation</a:t>
            </a:r>
            <a:b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III. Round robin is better than FCFS in terms of response time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I only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 I and II only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 II and III only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 Correct Answer  I, II and III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4119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1441A-36CC-C844-A516-E6BD15D3E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800" b="1" dirty="0"/>
              <a:t>Correct Answer: D. I, II and III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42577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AB1F91-2378-174C-2059-8814F168B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🔹 Multilevel Queue Scheduling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A9A3E2-6656-801A-AFAC-A62A14AB0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Divides the ready queue into multiple separate queues.</a:t>
            </a:r>
          </a:p>
          <a:p>
            <a:r>
              <a:rPr lang="en-IN" sz="1600" dirty="0"/>
              <a:t>Each queue is designed for a specific type of process (e.g., system, user, batch).</a:t>
            </a:r>
          </a:p>
          <a:p>
            <a:r>
              <a:rPr lang="en-IN" sz="1600" dirty="0"/>
              <a:t>Each queue has its own scheduling algorithm (e.g., Round Robin, FCFS, Priority).</a:t>
            </a:r>
          </a:p>
          <a:p>
            <a:r>
              <a:rPr lang="en-IN" sz="1600" dirty="0"/>
              <a:t>Processes are permanently assigned to one queue based on:</a:t>
            </a:r>
          </a:p>
          <a:p>
            <a:pPr marL="114300" indent="0">
              <a:buNone/>
            </a:pPr>
            <a:r>
              <a:rPr lang="en-IN" sz="1600" dirty="0"/>
              <a:t>       Process type (system/user)</a:t>
            </a:r>
          </a:p>
          <a:p>
            <a:pPr marL="114300" indent="0">
              <a:buNone/>
            </a:pPr>
            <a:r>
              <a:rPr lang="en-IN" sz="1600" dirty="0"/>
              <a:t>       Memory size</a:t>
            </a:r>
          </a:p>
          <a:p>
            <a:pPr marL="114300" indent="0">
              <a:buNone/>
            </a:pPr>
            <a:r>
              <a:rPr lang="en-IN" sz="1600" dirty="0"/>
              <a:t>       Priority level</a:t>
            </a:r>
          </a:p>
          <a:p>
            <a:pPr marL="114300" indent="0">
              <a:buNone/>
            </a:pPr>
            <a:r>
              <a:rPr lang="en-IN" sz="1600" dirty="0"/>
              <a:t>       CPU burst characteristics</a:t>
            </a:r>
          </a:p>
          <a:p>
            <a:r>
              <a:rPr lang="en-IN" sz="1600" dirty="0"/>
              <a:t>No movement of processes between queues.</a:t>
            </a:r>
          </a:p>
          <a:p>
            <a:r>
              <a:rPr lang="en-IN" sz="1600" dirty="0"/>
              <a:t>Queues are scheduled based on priority levels:</a:t>
            </a:r>
          </a:p>
          <a:p>
            <a:pPr marL="114300" indent="0">
              <a:buNone/>
            </a:pPr>
            <a:r>
              <a:rPr lang="en-IN" sz="1600" dirty="0"/>
              <a:t>        Higher-priority queues are served first.</a:t>
            </a:r>
          </a:p>
          <a:p>
            <a:pPr marL="114300" indent="0">
              <a:buNone/>
            </a:pPr>
            <a:r>
              <a:rPr lang="en-IN" sz="1600" dirty="0"/>
              <a:t>        Lower-priority queues may experience starvation.</a:t>
            </a:r>
          </a:p>
          <a:p>
            <a:r>
              <a:rPr lang="en-IN" sz="1600" dirty="0"/>
              <a:t>Used when system needs strict separation of process types (e.g., OS vs user tasks).</a:t>
            </a:r>
          </a:p>
        </p:txBody>
      </p:sp>
    </p:spTree>
    <p:extLst>
      <p:ext uri="{BB962C8B-B14F-4D97-AF65-F5344CB8AC3E}">
        <p14:creationId xmlns:p14="http://schemas.microsoft.com/office/powerpoint/2010/main" val="33415950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1122F5-01FA-33FE-14E9-F92E544D4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🔢 </a:t>
            </a:r>
            <a:r>
              <a:rPr lang="en-IN" sz="1800" b="1" dirty="0"/>
              <a:t>Multilevel Queue Scheduling – 5 Queue Explanation</a:t>
            </a:r>
            <a:endParaRPr lang="en-IN" sz="1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F2CDA-37C3-292D-2B5D-119CB5A77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1600" dirty="0"/>
              <a:t>Each queue is designed to handle a specific </a:t>
            </a:r>
            <a:r>
              <a:rPr lang="en-US" sz="1600" b="1" dirty="0"/>
              <a:t>type of process</a:t>
            </a:r>
            <a:r>
              <a:rPr lang="en-US" sz="1600" dirty="0"/>
              <a:t> based on its behavior, importance, or resource needs. These queues are prioritized from top (highest) to bottom (lowest):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                                                Priority</a:t>
            </a:r>
          </a:p>
          <a:p>
            <a:pPr marL="114300" indent="0">
              <a:buNone/>
            </a:pPr>
            <a:r>
              <a:rPr lang="en-IN" sz="1600" dirty="0"/>
              <a:t>ATM</a:t>
            </a:r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Net Banking                                                                                                                                                                   Round robin</a:t>
            </a:r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Code </a:t>
            </a:r>
            <a:r>
              <a:rPr lang="en-IN" sz="1600" dirty="0" err="1"/>
              <a:t>editing,Db</a:t>
            </a:r>
            <a:r>
              <a:rPr lang="en-IN" sz="1600" dirty="0"/>
              <a:t> queries                                                                                                                                              SJF or  Round Robin</a:t>
            </a:r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Data backs ,monthly report                                                                                                                                          FCFS</a:t>
            </a:r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 </a:t>
            </a:r>
          </a:p>
          <a:p>
            <a:pPr marL="114300" indent="0">
              <a:buNone/>
            </a:pPr>
            <a:r>
              <a:rPr lang="en-IN" sz="1600" dirty="0"/>
              <a:t>Assignment submission                                                                                                                                                   FCFS or Round Robin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327FDE-4AE3-1E91-3861-BADDFBC8D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1" y="2011680"/>
            <a:ext cx="6289040" cy="454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069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4EB4E-6373-C5B3-91B3-0CE4031EF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sz="1600" dirty="0"/>
              <a:t>🟥.</a:t>
            </a:r>
            <a:r>
              <a:rPr lang="en-US" sz="1600" b="1" dirty="0"/>
              <a:t> System Processes (Highest Priority)</a:t>
            </a:r>
          </a:p>
          <a:p>
            <a:pPr>
              <a:buAutoNum type="arabicPeriod"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What it includes:</a:t>
            </a:r>
            <a:r>
              <a:rPr lang="en-US" sz="1600" dirty="0"/>
              <a:t> Operating system tasks, interrupt handling, device drivers.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Reason for high priority:</a:t>
            </a:r>
            <a:r>
              <a:rPr lang="en-US" sz="1600" dirty="0"/>
              <a:t> These are essential for the system’s core functions. Delays can cause crashes or instability.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Scheduling Algorithm</a:t>
            </a:r>
            <a:r>
              <a:rPr lang="en-US" sz="1600" dirty="0"/>
              <a:t>: Priority Scheduling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Example:</a:t>
            </a:r>
            <a:r>
              <a:rPr lang="en-US" sz="1600" dirty="0"/>
              <a:t> Keyboard/mouse input handling, memory management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🟧 Interactive Processes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What it includes:</a:t>
            </a:r>
            <a:r>
              <a:rPr lang="en-US" sz="1600" dirty="0"/>
              <a:t> Real-time user applications that require quick responses.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Scheduling goal:</a:t>
            </a:r>
            <a:r>
              <a:rPr lang="en-US" sz="1600" dirty="0"/>
              <a:t> Fast response time to maintain smooth user experience.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Scheduling Algorithm</a:t>
            </a:r>
            <a:r>
              <a:rPr lang="en-US" sz="1600" dirty="0"/>
              <a:t>: Round Robin (larger time quantum like 4 </a:t>
            </a:r>
            <a:r>
              <a:rPr lang="en-US" sz="1600" dirty="0" err="1"/>
              <a:t>ms</a:t>
            </a:r>
            <a:r>
              <a:rPr lang="en-US" sz="1600" dirty="0"/>
              <a:t>).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Example:</a:t>
            </a:r>
            <a:r>
              <a:rPr lang="en-US" sz="1600" dirty="0"/>
              <a:t> Web browsers, video players, or GUI-based applications.</a:t>
            </a:r>
          </a:p>
          <a:p>
            <a:pPr marL="11430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5356847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EE46F-0A62-092F-9AA7-64E575A01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4885" y="1130299"/>
            <a:ext cx="10850563" cy="5006975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sz="1600" b="1" dirty="0"/>
              <a:t>🟨 Interactive Editing Processes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What it includes:</a:t>
            </a:r>
            <a:r>
              <a:rPr lang="en-US" sz="1600" dirty="0"/>
              <a:t> Tools used for content creation and editing.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Balance between responsiveness and workload.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Scheduling Algorithm</a:t>
            </a:r>
            <a:r>
              <a:rPr lang="en-US" sz="1600" dirty="0"/>
              <a:t>: FCFS or Round Robin (based on importance of task or user).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Example:</a:t>
            </a:r>
            <a:r>
              <a:rPr lang="en-US" sz="1600" dirty="0"/>
              <a:t> Text editors, IDEs, design tools.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🟩 Batch Processes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What it includes:</a:t>
            </a:r>
            <a:r>
              <a:rPr lang="en-US" sz="1600" dirty="0"/>
              <a:t> Long-running jobs submitted without direct user interaction.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Scheduled only when higher queues are empty.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Scheduling Algorithm</a:t>
            </a:r>
            <a:r>
              <a:rPr lang="en-US" sz="1600" dirty="0"/>
              <a:t>: FCFS (First-Come, First-Served</a:t>
            </a:r>
            <a:r>
              <a:rPr lang="en-US" sz="1600" b="1" dirty="0"/>
              <a:t>).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Example:</a:t>
            </a:r>
            <a:r>
              <a:rPr lang="en-US" sz="1600" dirty="0"/>
              <a:t> Compiling a large project, backups, report generation.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57253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6C7927-5450-2153-7E3E-4DFFC76F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70D206-F276-C8BA-D380-9338AF75B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600" b="1" dirty="0"/>
              <a:t>🟦 Student Processes (Lowest Priority)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What it includes:</a:t>
            </a:r>
            <a:r>
              <a:rPr lang="en-US" sz="1600" dirty="0"/>
              <a:t> User-initiated or lab processes by students in academic environments.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Lowest priority to avoid interfering with system/admin tasks.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Scheduling Algorithm</a:t>
            </a:r>
            <a:r>
              <a:rPr lang="en-US" sz="1600" dirty="0"/>
              <a:t>: FCFS or Low-Priority Round Robin.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Example:</a:t>
            </a:r>
            <a:r>
              <a:rPr lang="en-US" sz="1600" dirty="0"/>
              <a:t> Running code, simulations, non-critical applications.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61071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269EA9-EC98-4B4F-AAD6-597972929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🧭 </a:t>
            </a:r>
            <a:r>
              <a:rPr lang="en-US" sz="2000" b="1" dirty="0"/>
              <a:t>Foreground and Background Processes 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825AA-6618-E552-E7CE-E5688CBA0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dirty="0"/>
              <a:t>In operating systems and CPU scheduling (including multilevel queue scheduling), processes are often classified as </a:t>
            </a:r>
            <a:r>
              <a:rPr lang="en-US" sz="1600" b="1" dirty="0"/>
              <a:t>foreground</a:t>
            </a:r>
            <a:r>
              <a:rPr lang="en-US" sz="1600" dirty="0"/>
              <a:t> or </a:t>
            </a:r>
            <a:r>
              <a:rPr lang="en-US" sz="1600" b="1" dirty="0"/>
              <a:t>background</a:t>
            </a:r>
            <a:r>
              <a:rPr lang="en-US" sz="1600" dirty="0"/>
              <a:t> based on their interaction with the user and urgency of execution.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1. Foreground Processes : Initiated by the user (e.g., opening apps, typing, browsing). Short CPU bursts, frequent I/O.</a:t>
            </a:r>
          </a:p>
          <a:p>
            <a:pPr marL="114300" indent="0">
              <a:buNone/>
            </a:pPr>
            <a:r>
              <a:rPr lang="en-US" sz="1600" dirty="0"/>
              <a:t>  Cannot be delayed for long. They require immediate attention and quick response times.</a:t>
            </a:r>
          </a:p>
          <a:p>
            <a:pPr marL="114300" indent="0">
              <a:buNone/>
            </a:pPr>
            <a:r>
              <a:rPr lang="en-US" sz="1600" dirty="0"/>
              <a:t>Example: Word processors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2.</a:t>
            </a:r>
            <a:r>
              <a:rPr lang="en-US" sz="1600" b="1" dirty="0"/>
              <a:t> </a:t>
            </a:r>
            <a:r>
              <a:rPr lang="en-US" sz="1600" dirty="0"/>
              <a:t>Background Processes: These are non-interactive processes that run without direct user interaction. Often used for maintenance, logging, or low-priority tasks. Run in the background silently. Usually have long CPU bursts. Can tolerate delay or being preempted.</a:t>
            </a:r>
          </a:p>
          <a:p>
            <a:pPr marL="114300" indent="0">
              <a:buNone/>
            </a:pPr>
            <a:r>
              <a:rPr lang="en-US" sz="1600" dirty="0"/>
              <a:t>Example: Software updates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514827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F51C75-D56A-5FDD-7A7E-BE9C83085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Multilevel Queue Scheduling</a:t>
            </a:r>
            <a:endParaRPr lang="en-IN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0195D-2E81-F3ED-FA0F-7F7CBCB26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900" dirty="0"/>
              <a:t>✅ </a:t>
            </a:r>
            <a:r>
              <a:rPr lang="en-US" sz="1900" b="1" dirty="0"/>
              <a:t>Advantage:</a:t>
            </a:r>
          </a:p>
          <a:p>
            <a:pPr marL="114300" indent="0">
              <a:buNone/>
            </a:pPr>
            <a:r>
              <a:rPr lang="en-US" sz="1900" b="1" dirty="0"/>
              <a:t>Can apply separate scheduling algorithm for each queue</a:t>
            </a:r>
          </a:p>
          <a:p>
            <a:pPr lvl="1"/>
            <a:r>
              <a:rPr lang="en-US" sz="1900" dirty="0"/>
              <a:t>This is a key feature of MLQ scheduling:</a:t>
            </a:r>
            <a:br>
              <a:rPr lang="en-US" sz="1900" dirty="0"/>
            </a:br>
            <a:r>
              <a:rPr lang="en-US" sz="1900" dirty="0"/>
              <a:t>Each queue can use a different scheduling algorithm (e.g., Round Robin for one queue, FCFS for another), based on the process type.</a:t>
            </a:r>
          </a:p>
          <a:p>
            <a:pPr marL="571500" lvl="1" indent="0">
              <a:buNone/>
            </a:pPr>
            <a:endParaRPr lang="en-US" sz="1900" dirty="0"/>
          </a:p>
          <a:p>
            <a:pPr marL="571500" lvl="1" indent="0">
              <a:buNone/>
            </a:pPr>
            <a:endParaRPr lang="en-US" sz="1900" dirty="0"/>
          </a:p>
          <a:p>
            <a:pPr marL="114300" indent="0">
              <a:buNone/>
            </a:pPr>
            <a:r>
              <a:rPr lang="en-US" sz="1900" dirty="0"/>
              <a:t>❌ </a:t>
            </a:r>
            <a:r>
              <a:rPr lang="en-US" sz="1900" b="1" dirty="0"/>
              <a:t>Disadvantages:</a:t>
            </a:r>
          </a:p>
          <a:p>
            <a:pPr marL="114300" indent="0">
              <a:buNone/>
            </a:pPr>
            <a:r>
              <a:rPr lang="en-US" sz="1900" b="1" dirty="0"/>
              <a:t>Until high priority queue is not empty, no process from lower priority queues will be selected</a:t>
            </a:r>
          </a:p>
          <a:p>
            <a:pPr marL="571500" lvl="1" indent="0">
              <a:buNone/>
            </a:pPr>
            <a:r>
              <a:rPr lang="en-US" sz="1900" dirty="0"/>
              <a:t>This describes strict priority scheduling used between queues in MLQ.</a:t>
            </a:r>
          </a:p>
          <a:p>
            <a:pPr marL="571500" lvl="1" indent="0">
              <a:buNone/>
            </a:pPr>
            <a:r>
              <a:rPr lang="en-US" sz="1900" dirty="0"/>
              <a:t>Lower-priority queues must wait until all higher ones are empty.</a:t>
            </a:r>
          </a:p>
          <a:p>
            <a:pPr marL="114300" indent="0">
              <a:buNone/>
            </a:pPr>
            <a:r>
              <a:rPr lang="en-US" sz="1900" b="1" dirty="0"/>
              <a:t>Starvation for lower priority processes</a:t>
            </a:r>
          </a:p>
          <a:p>
            <a:pPr marL="571500" lvl="1" indent="0">
              <a:buNone/>
            </a:pPr>
            <a:r>
              <a:rPr lang="en-US" sz="1900" dirty="0"/>
              <a:t>A common problem in MLQ:</a:t>
            </a:r>
            <a:br>
              <a:rPr lang="en-US" sz="1900" dirty="0"/>
            </a:br>
            <a:r>
              <a:rPr lang="en-US" sz="1900" dirty="0"/>
              <a:t>If high-priority queues are always busy, low-priority processes (like background or student processes) may never get CPU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30529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78B534-4085-3F66-2668-763F70B58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Multilevel Feedback Queue (MLFQ) Scheduling</a:t>
            </a:r>
            <a:endParaRPr lang="en-IN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7D728-6C47-4C99-782D-0F33EBBF1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IN" sz="1800" b="1" dirty="0"/>
              <a:t>Key Concept</a:t>
            </a:r>
            <a:r>
              <a:rPr lang="en-IN" sz="1800" dirty="0"/>
              <a:t>: Unlike </a:t>
            </a:r>
            <a:r>
              <a:rPr lang="en-IN" sz="1800" i="1" dirty="0"/>
              <a:t>Multilevel Queue Scheduling</a:t>
            </a:r>
            <a:r>
              <a:rPr lang="en-IN" sz="1800" dirty="0"/>
              <a:t> (which assigns processes permanently to a queue), Multilevel Feedback Queue allows processes to move between queues based on their CPU usage pattern.</a:t>
            </a:r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r>
              <a:rPr lang="en-US" sz="1800" b="1" dirty="0"/>
              <a:t>       How It Works:</a:t>
            </a:r>
          </a:p>
          <a:p>
            <a:r>
              <a:rPr lang="en-US" sz="1800" dirty="0"/>
              <a:t>Multiple queues with different </a:t>
            </a:r>
            <a:r>
              <a:rPr lang="en-US" sz="1800" b="1" dirty="0"/>
              <a:t>priority levels</a:t>
            </a:r>
            <a:r>
              <a:rPr lang="en-US" sz="1800" dirty="0"/>
              <a:t>.</a:t>
            </a:r>
          </a:p>
          <a:p>
            <a:r>
              <a:rPr lang="en-US" sz="1800" dirty="0"/>
              <a:t>Each queue can have a </a:t>
            </a:r>
            <a:r>
              <a:rPr lang="en-US" sz="1800" b="1" dirty="0"/>
              <a:t>different scheduling algorithm</a:t>
            </a:r>
            <a:r>
              <a:rPr lang="en-US" sz="1800" dirty="0"/>
              <a:t> (usually Round Robin for higher priority queues, FCFS for lower).</a:t>
            </a:r>
          </a:p>
          <a:p>
            <a:r>
              <a:rPr lang="en-US" sz="1800" b="1" dirty="0"/>
              <a:t>New processes start in the highest priority queue</a:t>
            </a:r>
            <a:r>
              <a:rPr lang="en-US" sz="1800" dirty="0"/>
              <a:t>.</a:t>
            </a:r>
          </a:p>
          <a:p>
            <a:r>
              <a:rPr lang="en-US" sz="1800" dirty="0"/>
              <a:t>If a process </a:t>
            </a:r>
            <a:r>
              <a:rPr lang="en-US" sz="1800" b="1" dirty="0"/>
              <a:t>uses too much CPU time</a:t>
            </a:r>
            <a:r>
              <a:rPr lang="en-US" sz="1800" dirty="0"/>
              <a:t>, it's moved to a </a:t>
            </a:r>
            <a:r>
              <a:rPr lang="en-US" sz="1800" b="1" dirty="0"/>
              <a:t>lower-priority queue</a:t>
            </a:r>
            <a:r>
              <a:rPr lang="en-US" sz="1800" dirty="0"/>
              <a:t>.</a:t>
            </a:r>
          </a:p>
          <a:p>
            <a:r>
              <a:rPr lang="en-US" sz="1800" dirty="0"/>
              <a:t>If a process </a:t>
            </a:r>
            <a:r>
              <a:rPr lang="en-US" sz="1800" b="1" dirty="0"/>
              <a:t>waits too long</a:t>
            </a:r>
            <a:r>
              <a:rPr lang="en-US" sz="1800" dirty="0"/>
              <a:t>, it may be </a:t>
            </a:r>
            <a:r>
              <a:rPr lang="en-US" sz="1800" b="1" dirty="0"/>
              <a:t>promoted</a:t>
            </a:r>
            <a:r>
              <a:rPr lang="en-US" sz="1800" dirty="0"/>
              <a:t> to prevent starvation.</a:t>
            </a:r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934140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DB0A8A-71FA-996C-B9C1-C5DACEE5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B31756-371E-A08F-206C-A3B8BF6D1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7" y="2238375"/>
            <a:ext cx="4734217" cy="238125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94A63-2E56-C4A2-FAF7-273E87CF7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2025" y="1520890"/>
            <a:ext cx="6652726" cy="4973216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114300" indent="0">
              <a:buNone/>
            </a:pPr>
            <a:r>
              <a:rPr lang="en-IN" dirty="0"/>
              <a:t>Multilevel Feedback Queue</a:t>
            </a:r>
          </a:p>
        </p:txBody>
      </p:sp>
    </p:spTree>
    <p:extLst>
      <p:ext uri="{BB962C8B-B14F-4D97-AF65-F5344CB8AC3E}">
        <p14:creationId xmlns:p14="http://schemas.microsoft.com/office/powerpoint/2010/main" val="6173541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5765E-490F-26E6-42C8-D3BB2AA96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5DBD0-E371-E37D-F711-5F337EF94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800" b="1" dirty="0"/>
              <a:t>🌐 Why Aging is Needed in MLFQ:</a:t>
            </a:r>
            <a:endParaRPr lang="en-US" dirty="0"/>
          </a:p>
          <a:p>
            <a:pPr marL="114300" indent="0">
              <a:buNone/>
            </a:pPr>
            <a:r>
              <a:rPr lang="en-US" sz="1600" dirty="0"/>
              <a:t>In MLFQ, high-priority queues are served first.</a:t>
            </a:r>
          </a:p>
          <a:p>
            <a:pPr marL="114300" indent="0">
              <a:buNone/>
            </a:pPr>
            <a:r>
              <a:rPr lang="en-US" sz="1600" dirty="0"/>
              <a:t>If many short or interactive processes keep arriving, long processes in lower queues might never get scheduled.</a:t>
            </a:r>
          </a:p>
          <a:p>
            <a:pPr marL="114300" indent="0">
              <a:buNone/>
            </a:pPr>
            <a:r>
              <a:rPr lang="en-US" sz="1600" dirty="0"/>
              <a:t>This leads to starvation. Aging solves this by promoting long-waiting processes up the queue hierarchy.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800" b="1" dirty="0"/>
              <a:t>🛠️ How Aging Works in MLFQ</a:t>
            </a:r>
            <a:r>
              <a:rPr lang="en-US" sz="1800" dirty="0"/>
              <a:t>:</a:t>
            </a:r>
            <a:r>
              <a:rPr lang="en-US" sz="1600" dirty="0"/>
              <a:t> </a:t>
            </a:r>
          </a:p>
          <a:p>
            <a:pPr marL="114300" indent="0">
              <a:buNone/>
            </a:pPr>
            <a:r>
              <a:rPr lang="en-US" sz="1600" dirty="0"/>
              <a:t>Each process has a wait time counter. If a process stays in a lower-priority queue for longer than a defined threshold, its priority is increased. It gets moved to a higher-priority queue, making it more likely to be scheduled. This ensures fair CPU access for all processes.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0939201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918585-B83F-C712-B752-23EA75C39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060" y="765111"/>
            <a:ext cx="7265589" cy="466530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0A4AD-3E22-ABE3-C202-0FEB534A3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133349" y="1324946"/>
            <a:ext cx="5660960" cy="458133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700" dirty="0"/>
              <a:t>This diagram shows a Multilevel Feedback Queue (MLFQ) with:</a:t>
            </a:r>
          </a:p>
          <a:p>
            <a:pPr marL="114300" indent="0">
              <a:buNone/>
            </a:pPr>
            <a:r>
              <a:rPr lang="en-IN" sz="1700" dirty="0"/>
              <a:t>3 priority levels:</a:t>
            </a:r>
          </a:p>
          <a:p>
            <a:pPr lvl="1"/>
            <a:r>
              <a:rPr lang="en-IN" sz="1700" dirty="0"/>
              <a:t>Q1 (High): Round Robin, Quantum = 9</a:t>
            </a:r>
          </a:p>
          <a:p>
            <a:pPr lvl="1"/>
            <a:r>
              <a:rPr lang="en-IN" sz="1700" dirty="0"/>
              <a:t>Q2 (Medium): Round Robin, Quantum = 18</a:t>
            </a:r>
          </a:p>
          <a:p>
            <a:pPr lvl="1"/>
            <a:r>
              <a:rPr lang="en-IN" sz="1700" dirty="0"/>
              <a:t>Q3 (Low): FCFS (no time quantum)</a:t>
            </a:r>
          </a:p>
          <a:p>
            <a:pPr lvl="1"/>
            <a:endParaRPr lang="en-IN" sz="1700" dirty="0"/>
          </a:p>
          <a:p>
            <a:pPr marL="114300" indent="0">
              <a:buNone/>
            </a:pPr>
            <a:r>
              <a:rPr lang="en-IN" sz="1700" dirty="0"/>
              <a:t>New processes start in Q1. If they don’t finish, they move down.</a:t>
            </a:r>
          </a:p>
          <a:p>
            <a:pPr marL="114300" indent="0">
              <a:buNone/>
            </a:pPr>
            <a:r>
              <a:rPr lang="en-IN" sz="1700" dirty="0"/>
              <a:t>Aging (right side): Long-waiting processes in lower queues are promoted upward to prevent starvation.</a:t>
            </a:r>
          </a:p>
          <a:p>
            <a:pPr marL="114300" indent="0">
              <a:buNone/>
            </a:pPr>
            <a:r>
              <a:rPr lang="en-IN" sz="1700" dirty="0"/>
              <a:t>This balances speed for short tasks and fairness for long ones.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91260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FCCC48-6AC5-F89A-C72B-CB224778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Multiprocessing Scheduling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CD430-BCEE-E694-6C9E-86E0939B4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b="1" dirty="0"/>
              <a:t>Multiprocessing scheduling</a:t>
            </a:r>
            <a:r>
              <a:rPr lang="en-US" sz="1800" dirty="0"/>
              <a:t> is the method used by an operating system to manage </a:t>
            </a:r>
            <a:r>
              <a:rPr lang="en-US" sz="1800" b="1" dirty="0"/>
              <a:t>multiple CPUs</a:t>
            </a:r>
            <a:r>
              <a:rPr lang="en-US" sz="1800" dirty="0"/>
              <a:t> working in parallel.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2000" b="1" dirty="0"/>
              <a:t>Types of Multiprocessing Systems: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2400" b="1" dirty="0"/>
              <a:t>Symmetric Multiprocessing (SMP)</a:t>
            </a:r>
            <a:endParaRPr lang="en-US" sz="2400" dirty="0"/>
          </a:p>
          <a:p>
            <a:r>
              <a:rPr lang="en-US" sz="1600" dirty="0"/>
              <a:t>All processors are equal and share scheduling duties.</a:t>
            </a:r>
          </a:p>
          <a:p>
            <a:r>
              <a:rPr lang="en-US" sz="1600" dirty="0"/>
              <a:t>Each CPU has access to the shared ready queue or its own queue.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Example: </a:t>
            </a:r>
            <a:r>
              <a:rPr lang="en-US" sz="1600" dirty="0"/>
              <a:t>Morden operating systems(</a:t>
            </a:r>
            <a:r>
              <a:rPr lang="en-US" sz="1600" dirty="0" err="1"/>
              <a:t>windows,Linux,Mac</a:t>
            </a:r>
            <a:r>
              <a:rPr lang="en-US" sz="1600" dirty="0"/>
              <a:t> OS)</a:t>
            </a:r>
          </a:p>
          <a:p>
            <a:pPr marL="571500" lvl="1" indent="0">
              <a:buNone/>
            </a:pPr>
            <a:endParaRPr lang="en-US" sz="2300" dirty="0"/>
          </a:p>
          <a:p>
            <a:pPr marL="571500" lvl="1" indent="0">
              <a:buNone/>
            </a:pPr>
            <a:endParaRPr lang="en-US" sz="2300" dirty="0"/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5811603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F75264-6321-209F-468E-E7E35F9A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1DF57C-D3D8-4170-7872-3A9E8A3DF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/>
              <a:t>Asymmetric Multiprocessing (AMP)</a:t>
            </a:r>
            <a:endParaRPr lang="en-US" dirty="0"/>
          </a:p>
          <a:p>
            <a:pPr marL="114300" indent="0">
              <a:buNone/>
            </a:pPr>
            <a:r>
              <a:rPr lang="en-US" sz="1600" dirty="0"/>
              <a:t>One CPU is the master, others are slaves.</a:t>
            </a:r>
          </a:p>
          <a:p>
            <a:pPr marL="114300" indent="0">
              <a:buNone/>
            </a:pPr>
            <a:r>
              <a:rPr lang="en-US" sz="1600" dirty="0"/>
              <a:t>Master handles all scheduling and assigns tasks to slave processors.</a:t>
            </a:r>
          </a:p>
          <a:p>
            <a:pPr marL="114300" indent="0">
              <a:buNone/>
            </a:pPr>
            <a:r>
              <a:rPr lang="en-US" sz="1600" dirty="0"/>
              <a:t>Slaves only execute what’s assigned.</a:t>
            </a:r>
          </a:p>
          <a:p>
            <a:pPr marL="114300" indent="0">
              <a:buNone/>
            </a:pPr>
            <a:r>
              <a:rPr lang="en-US" sz="1600" dirty="0"/>
              <a:t>✅ Simple to implement</a:t>
            </a:r>
          </a:p>
          <a:p>
            <a:pPr marL="114300" indent="0">
              <a:buNone/>
            </a:pPr>
            <a:r>
              <a:rPr lang="en-US" sz="1600" dirty="0"/>
              <a:t>❌ Underutilizes other processors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Example: </a:t>
            </a:r>
            <a:r>
              <a:rPr lang="en-US" sz="1600" dirty="0"/>
              <a:t>Early multiprocessor systems and </a:t>
            </a:r>
            <a:r>
              <a:rPr lang="en-US" sz="1600" b="1" dirty="0"/>
              <a:t>some embedded systems</a:t>
            </a:r>
            <a:r>
              <a:rPr lang="en-US" sz="1600" dirty="0"/>
              <a:t>.</a:t>
            </a:r>
          </a:p>
          <a:p>
            <a:pPr marL="114300" indent="0">
              <a:buNone/>
            </a:pPr>
            <a:endParaRPr lang="en-US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258119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CC9D01-BB12-0863-16C5-69CDB5D24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411155"/>
            <a:ext cx="10850563" cy="1380323"/>
          </a:xfrm>
        </p:spPr>
        <p:txBody>
          <a:bodyPr>
            <a:normAutofit/>
          </a:bodyPr>
          <a:lstStyle/>
          <a:p>
            <a:r>
              <a:rPr lang="en-IN" sz="3600" b="1" dirty="0"/>
              <a:t>Processor Affinity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1C5E7-920F-217F-4DA4-80C08E3ED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Processor affinity (also called CPU pinning) is a scheduling technique where a process is "bound" or prefers to run on a specific CPU core.</a:t>
            </a:r>
          </a:p>
          <a:p>
            <a:r>
              <a:rPr lang="en-US" sz="1600" dirty="0"/>
              <a:t>Improve cache performance (data remains in local CPU cache).</a:t>
            </a:r>
          </a:p>
          <a:p>
            <a:r>
              <a:rPr lang="en-US" sz="1600" dirty="0"/>
              <a:t>Reduce context switching and memory latency.</a:t>
            </a:r>
          </a:p>
          <a:p>
            <a:r>
              <a:rPr lang="en-US" sz="1600" dirty="0"/>
              <a:t>Enhance predictability for real-time or performance-sensitive tasks.</a:t>
            </a:r>
          </a:p>
          <a:p>
            <a:r>
              <a:rPr lang="en-US" sz="1600" dirty="0"/>
              <a:t>Faster execution due to better cache locality.</a:t>
            </a:r>
          </a:p>
          <a:p>
            <a:r>
              <a:rPr lang="en-US" sz="1600" dirty="0"/>
              <a:t>May cause load imbalance in the system.</a:t>
            </a:r>
          </a:p>
          <a:p>
            <a:r>
              <a:rPr lang="en-US" sz="1600" dirty="0"/>
              <a:t>Can lead to CPU underutilization if pinned processes block one core while others are idle.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Types of Affinity:</a:t>
            </a:r>
          </a:p>
          <a:p>
            <a:r>
              <a:rPr lang="en-US" sz="1600" b="1" dirty="0"/>
              <a:t>Soft Affinity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en-US" sz="1600" dirty="0"/>
              <a:t>The OS prefers to schedule the process on the same CPU it ran on before, but may change if needed.</a:t>
            </a:r>
          </a:p>
          <a:p>
            <a:r>
              <a:rPr lang="en-US" sz="1600" b="1" dirty="0"/>
              <a:t>Hard Affinity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en-US" sz="1600" dirty="0"/>
              <a:t>The process is strictly restricted to run only on a specific CPU or set of CPUs (set manually or by user).</a:t>
            </a:r>
          </a:p>
          <a:p>
            <a:pPr marL="11430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8993200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BF6CBA-D214-D5B6-85F6-88ADF32D1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Load Balancing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EBBC4-743C-5B70-9C39-4364B8CAB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algn="just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On SMP systems, workload balance is important.</a:t>
            </a:r>
          </a:p>
          <a:p>
            <a:pPr marL="342900" algn="just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All processors should be fully utilized efficiently.</a:t>
            </a:r>
          </a:p>
          <a:p>
            <a:pPr marL="342900" algn="just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Load balancing prevents some processors from idling.</a:t>
            </a:r>
          </a:p>
          <a:p>
            <a:pPr marL="342900" algn="just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High workloads may burden specific processors excessively.</a:t>
            </a:r>
          </a:p>
          <a:p>
            <a:pPr marL="342900" algn="just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Idle processors waste system resources and efficiency.</a:t>
            </a:r>
          </a:p>
          <a:p>
            <a:pPr marL="342900" algn="just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Balanced workloads maximize the system's overall performance.</a:t>
            </a:r>
            <a:endParaRPr lang="en-US" altLang="en-US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55898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34FF59-3A04-3F96-4242-67BF45AB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88B9A-1073-8220-C412-D9E5DDCBF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Clr>
                <a:srgbClr val="000000"/>
              </a:buClr>
              <a:buSzPct val="100000"/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Two approaches to load balancing: </a:t>
            </a:r>
            <a:r>
              <a:rPr lang="en-US" altLang="en-US" sz="1600" b="1" dirty="0">
                <a:solidFill>
                  <a:schemeClr val="tx1"/>
                </a:solidFill>
              </a:rPr>
              <a:t>push migration and pull migration.</a:t>
            </a:r>
          </a:p>
          <a:p>
            <a:pPr>
              <a:buClr>
                <a:srgbClr val="000000"/>
              </a:buClr>
              <a:buSzPct val="100000"/>
              <a:buNone/>
            </a:pPr>
            <a:endParaRPr lang="en-US" altLang="en-US" sz="1600" b="1" dirty="0">
              <a:solidFill>
                <a:schemeClr val="tx1"/>
              </a:solidFill>
            </a:endParaRPr>
          </a:p>
          <a:p>
            <a:pPr>
              <a:buClr>
                <a:srgbClr val="000000"/>
              </a:buClr>
              <a:buSzPct val="100000"/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1. Push migration:</a:t>
            </a:r>
            <a:r>
              <a:rPr lang="en-US" altLang="en-US" sz="1600" dirty="0">
                <a:solidFill>
                  <a:schemeClr val="tx1"/>
                </a:solidFill>
              </a:rPr>
              <a:t> a specific task periodically checks the</a:t>
            </a:r>
          </a:p>
          <a:p>
            <a:pPr>
              <a:buClr>
                <a:srgbClr val="000000"/>
              </a:buClr>
              <a:buSzPct val="100000"/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load on each processor and—if it finds an imbalance—evenly distributes the load by </a:t>
            </a:r>
            <a:r>
              <a:rPr lang="en-US" altLang="en-US" sz="1600" b="1" dirty="0">
                <a:solidFill>
                  <a:schemeClr val="tx1"/>
                </a:solidFill>
              </a:rPr>
              <a:t>moving (or pushing) processes from overloaded to idle or less-busy processors</a:t>
            </a:r>
            <a:r>
              <a:rPr lang="en-US" altLang="en-US" sz="1600" dirty="0">
                <a:solidFill>
                  <a:schemeClr val="tx1"/>
                </a:solidFill>
              </a:rPr>
              <a:t>. </a:t>
            </a:r>
          </a:p>
          <a:p>
            <a:pPr>
              <a:buClr>
                <a:srgbClr val="000000"/>
              </a:buClr>
              <a:buSzPct val="100000"/>
              <a:buNone/>
            </a:pPr>
            <a:endParaRPr lang="en-US" altLang="en-US" sz="1600" dirty="0">
              <a:solidFill>
                <a:schemeClr val="tx1"/>
              </a:solidFill>
            </a:endParaRPr>
          </a:p>
          <a:p>
            <a:pPr>
              <a:buClr>
                <a:srgbClr val="000000"/>
              </a:buClr>
              <a:buSzPct val="100000"/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2. Pull migration: </a:t>
            </a:r>
            <a:r>
              <a:rPr lang="en-US" altLang="en-US" sz="1600" dirty="0">
                <a:solidFill>
                  <a:schemeClr val="tx1"/>
                </a:solidFill>
              </a:rPr>
              <a:t>occurs when an idle processor </a:t>
            </a:r>
            <a:r>
              <a:rPr lang="en-US" altLang="en-US" sz="1600" b="1" dirty="0">
                <a:solidFill>
                  <a:schemeClr val="tx1"/>
                </a:solidFill>
              </a:rPr>
              <a:t>pulls a waiting task from a busy processor.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58378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B0E48D-80B4-8790-04BE-08922BAC3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Multicore Processors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C0F33F-DD33-0A2B-87DA-2486CA1A6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ct val="100000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A multi-core processor has independent cores.</a:t>
            </a:r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ct val="100000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It reads and executes program instructions.</a:t>
            </a:r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ct val="100000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A CPU may contain multiple cores.</a:t>
            </a:r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ct val="100000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A core includes registers and cache.</a:t>
            </a:r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ct val="100000"/>
              <a:defRPr/>
            </a:pPr>
            <a:r>
              <a:rPr lang="en-US" sz="1600" dirty="0"/>
              <a:t>A core handles a portion of the processor's tasks, not the entire workload.</a:t>
            </a:r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ct val="100000"/>
              <a:defRPr/>
            </a:pPr>
            <a:r>
              <a:rPr lang="en-US" sz="1600" dirty="0"/>
              <a:t>Better performance in parallel applications (e.g., video editing, simulations)</a:t>
            </a:r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ct val="100000"/>
              <a:defRPr/>
            </a:pPr>
            <a:r>
              <a:rPr lang="en-US" sz="1600" dirty="0"/>
              <a:t>Lower power consumption than using multiple separate processors.</a:t>
            </a:r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ct val="100000"/>
              <a:defRPr/>
            </a:pPr>
            <a:r>
              <a:rPr lang="en-US" sz="1600" dirty="0"/>
              <a:t>Enables high responsiveness in modern OS and software.</a:t>
            </a:r>
          </a:p>
          <a:p>
            <a:pPr algn="just">
              <a:lnSpc>
                <a:spcPct val="200000"/>
              </a:lnSpc>
            </a:pPr>
            <a:endParaRPr lang="en-US" sz="1600" dirty="0"/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ct val="100000"/>
              <a:defRPr/>
            </a:pPr>
            <a:endParaRPr lang="en-US" altLang="en-US" sz="1600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713212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9F7D35-A573-2279-9FF6-184C7734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D8BDA-D397-DC5A-8520-AFA668370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sz="2000" b="1" dirty="0"/>
              <a:t>⚙️ Types of Multicore Processors:</a:t>
            </a:r>
          </a:p>
          <a:p>
            <a:pPr marL="114300" indent="0">
              <a:buNone/>
            </a:pPr>
            <a:endParaRPr lang="en-IN" sz="2000" b="1" dirty="0"/>
          </a:p>
          <a:p>
            <a:r>
              <a:rPr lang="en-IN" sz="1600" b="1" dirty="0"/>
              <a:t>Dual-Core</a:t>
            </a:r>
            <a:r>
              <a:rPr lang="en-IN" sz="1600" dirty="0"/>
              <a:t> – 2 cores</a:t>
            </a:r>
          </a:p>
          <a:p>
            <a:r>
              <a:rPr lang="en-IN" sz="1600" b="1" dirty="0"/>
              <a:t>Quad-Core</a:t>
            </a:r>
            <a:r>
              <a:rPr lang="en-IN" sz="1600" dirty="0"/>
              <a:t> – 4 cores</a:t>
            </a:r>
          </a:p>
          <a:p>
            <a:r>
              <a:rPr lang="en-IN" sz="1600" b="1" dirty="0"/>
              <a:t>Hexa-Core</a:t>
            </a:r>
            <a:r>
              <a:rPr lang="en-IN" sz="1600" dirty="0"/>
              <a:t> – 6 cores</a:t>
            </a:r>
          </a:p>
          <a:p>
            <a:r>
              <a:rPr lang="en-IN" sz="1600" b="1" dirty="0"/>
              <a:t>Octa-Core</a:t>
            </a:r>
            <a:r>
              <a:rPr lang="en-IN" sz="1600" dirty="0"/>
              <a:t> – 8 cores</a:t>
            </a:r>
          </a:p>
          <a:p>
            <a:r>
              <a:rPr lang="en-IN" sz="1600" b="1" dirty="0"/>
              <a:t>Many-Core</a:t>
            </a:r>
            <a:r>
              <a:rPr lang="en-IN" sz="1600" dirty="0"/>
              <a:t> – 16+ cores (e.g., used in servers, GPUs)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43866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96C5D6-DA48-10EF-FCEA-FED8F4CB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Memory Stall in Multicore Processors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3B691-CE41-19B3-4FEC-9BD74FE41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3225" y="1130299"/>
            <a:ext cx="11147263" cy="500697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dirty="0"/>
              <a:t>Multiple cores share memory resources (like main memory, cache, or buses). When many cores try to access memory at once, it can lead to delays.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What is a Memory Stall?</a:t>
            </a:r>
          </a:p>
          <a:p>
            <a:pPr marL="114300" indent="0">
              <a:buNone/>
            </a:pPr>
            <a:r>
              <a:rPr lang="en-US" sz="1600" dirty="0"/>
              <a:t>A memory stall occurs when a processor waits (stalls) because the data it needs is not yet available from memory — especially main memory (RAM).</a:t>
            </a:r>
          </a:p>
          <a:p>
            <a:pPr marL="114300" indent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Memory Stall may occur due to a cache miss</a:t>
            </a:r>
            <a:r>
              <a:rPr lang="en-US" altLang="en-US" sz="1600" dirty="0">
                <a:solidFill>
                  <a:schemeClr val="tx1"/>
                </a:solidFill>
              </a:rPr>
              <a:t> (accessing data that are not in cache memory).</a:t>
            </a:r>
            <a:endParaRPr lang="en-US" altLang="en-US" sz="16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IN" sz="1600" dirty="0"/>
              <a:t>Example:</a:t>
            </a:r>
          </a:p>
          <a:p>
            <a:pPr marL="114300" indent="0">
              <a:buNone/>
            </a:pPr>
            <a:r>
              <a:rPr lang="en-US" sz="1600" dirty="0"/>
              <a:t>1. LOAD R1, [X]       ; Load value from memory address X</a:t>
            </a:r>
          </a:p>
          <a:p>
            <a:pPr marL="114300" indent="0">
              <a:buNone/>
            </a:pPr>
            <a:r>
              <a:rPr lang="en-US" sz="1600" dirty="0"/>
              <a:t>2. ADD R2, R1, #10    ; Use value loaded into R1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IN" sz="16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EFB0736-B395-0712-611C-77CE22508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25" y="4510302"/>
            <a:ext cx="1197739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data at [X] is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in cache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processor must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stall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after instruction 1 until the value is fetched from main memory,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delaying instruction 2</a:t>
            </a:r>
          </a:p>
        </p:txBody>
      </p:sp>
    </p:spTree>
    <p:extLst>
      <p:ext uri="{BB962C8B-B14F-4D97-AF65-F5344CB8AC3E}">
        <p14:creationId xmlns:p14="http://schemas.microsoft.com/office/powerpoint/2010/main" val="1995222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70FAB6-072C-AE4A-7A26-443D1E48C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D7D412-A7DB-E7D9-33F2-8542462DC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8" y="1838131"/>
            <a:ext cx="9433249" cy="31627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5C31E-4AA5-C3B1-333F-C525BCFFE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7" y="1130298"/>
            <a:ext cx="10776856" cy="4990583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114300" indent="0">
              <a:buNone/>
            </a:pPr>
            <a:r>
              <a:rPr lang="en-US" sz="1600" dirty="0"/>
              <a:t>                  The image illustrates a sequence of compute and memory stall cycles for a single thread over time.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03619504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2A568E-231C-2C4C-8DC9-7A249C791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⏱️ </a:t>
            </a:r>
            <a:r>
              <a:rPr lang="en-IN" sz="3200" b="1" dirty="0"/>
              <a:t>Real-Time Scheduling</a:t>
            </a:r>
            <a:endParaRPr lang="en-IN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1422A-FF28-5666-1285-EC4FC9115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b="1" dirty="0"/>
              <a:t>Real-time scheduling</a:t>
            </a:r>
            <a:r>
              <a:rPr lang="en-US" sz="1600" dirty="0"/>
              <a:t> is a type of CPU scheduling designed for </a:t>
            </a:r>
            <a:r>
              <a:rPr lang="en-US" sz="1600" b="1" dirty="0"/>
              <a:t>real-time systems</a:t>
            </a:r>
            <a:r>
              <a:rPr lang="en-US" sz="1600" dirty="0"/>
              <a:t>, where </a:t>
            </a:r>
            <a:r>
              <a:rPr lang="en-US" sz="1600" b="1" dirty="0"/>
              <a:t>correctness</a:t>
            </a:r>
            <a:r>
              <a:rPr lang="en-US" sz="1600" dirty="0"/>
              <a:t> depends not only on logical results, but also on </a:t>
            </a:r>
            <a:r>
              <a:rPr lang="en-US" sz="1600" b="1" dirty="0"/>
              <a:t>timing</a:t>
            </a:r>
            <a:r>
              <a:rPr lang="en-US" sz="1600" dirty="0"/>
              <a:t> — tasks </a:t>
            </a:r>
            <a:r>
              <a:rPr lang="en-US" sz="1600" b="1" dirty="0"/>
              <a:t>must be completed within a specific deadline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pPr marL="114300" indent="0">
              <a:buNone/>
            </a:pPr>
            <a:r>
              <a:rPr lang="en-IN" sz="1600" b="1" dirty="0"/>
              <a:t>Types of Real-Time Systems:</a:t>
            </a:r>
          </a:p>
          <a:p>
            <a:pPr marL="114300" indent="0">
              <a:buNone/>
            </a:pPr>
            <a:endParaRPr lang="en-IN" sz="1600" b="1" dirty="0"/>
          </a:p>
          <a:p>
            <a:pPr marL="114300" indent="0">
              <a:buNone/>
            </a:pPr>
            <a:r>
              <a:rPr lang="en-IN" sz="1600" dirty="0"/>
              <a:t>✅ Hard Real-Time Systems</a:t>
            </a:r>
          </a:p>
          <a:p>
            <a:pPr marL="571500" lvl="1" indent="0">
              <a:buNone/>
            </a:pPr>
            <a:r>
              <a:rPr lang="en-IN" sz="1600" dirty="0"/>
              <a:t>Missing a deadline = system failure</a:t>
            </a:r>
          </a:p>
          <a:p>
            <a:pPr marL="571500" lvl="1" indent="0">
              <a:buNone/>
            </a:pPr>
            <a:r>
              <a:rPr lang="en-IN" sz="1600" dirty="0"/>
              <a:t>Example: Airbag system, pacemaker, aircraft control</a:t>
            </a:r>
          </a:p>
          <a:p>
            <a:pPr marL="571500" lvl="1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⚠️ Soft Real-Time Systems</a:t>
            </a:r>
          </a:p>
          <a:p>
            <a:pPr marL="571500" lvl="1" indent="0">
              <a:buNone/>
            </a:pPr>
            <a:r>
              <a:rPr lang="en-IN" sz="1600" dirty="0"/>
              <a:t>Occasional deadline misses are acceptable</a:t>
            </a:r>
          </a:p>
          <a:p>
            <a:pPr marL="571500" lvl="1" indent="0">
              <a:buNone/>
            </a:pPr>
            <a:r>
              <a:rPr lang="en-IN" sz="1600" dirty="0"/>
              <a:t>Example: Video streaming, online gaming</a:t>
            </a:r>
          </a:p>
          <a:p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1531211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8C881C-1D87-8D41-0693-603F15F4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Rate Monotonic Scheduling (RMS)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CE2F2-AED6-A55C-BE85-6B222D1D4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800" dirty="0"/>
              <a:t>✅ Static priority real-time scheduling algorithm</a:t>
            </a:r>
          </a:p>
          <a:p>
            <a:pPr marL="114300" indent="0">
              <a:buNone/>
            </a:pPr>
            <a:r>
              <a:rPr lang="en-IN" sz="1800" dirty="0"/>
              <a:t>📉 Priority is based on the period:</a:t>
            </a:r>
            <a:br>
              <a:rPr lang="en-IN" sz="1800" dirty="0"/>
            </a:br>
            <a:r>
              <a:rPr lang="en-IN" sz="1800" dirty="0"/>
              <a:t>→ Shorter period = Higher priority</a:t>
            </a:r>
          </a:p>
          <a:p>
            <a:pPr marL="114300" indent="0">
              <a:buNone/>
            </a:pPr>
            <a:r>
              <a:rPr lang="en-IN" sz="1800" dirty="0"/>
              <a:t>🕒 Designed for periodic tasks with known execution times and periods</a:t>
            </a:r>
          </a:p>
          <a:p>
            <a:pPr marL="114300" indent="0">
              <a:buNone/>
            </a:pPr>
            <a:r>
              <a:rPr lang="en-IN" sz="1800" dirty="0"/>
              <a:t>🔁 </a:t>
            </a:r>
            <a:r>
              <a:rPr lang="en-IN" sz="1800" dirty="0" err="1"/>
              <a:t>Preemptive</a:t>
            </a:r>
            <a:r>
              <a:rPr lang="en-IN" sz="1800" dirty="0"/>
              <a:t>: Higher priority tasks can interrupt lower ones</a:t>
            </a:r>
          </a:p>
          <a:p>
            <a:pPr marL="114300" indent="0">
              <a:buNone/>
            </a:pPr>
            <a:r>
              <a:rPr lang="en-IN" sz="1800" dirty="0"/>
              <a:t>✅ Optimal for fixed-priority scheduling (if deadlines = periods)</a:t>
            </a:r>
          </a:p>
          <a:p>
            <a:pPr marL="114300" indent="0">
              <a:buNone/>
            </a:pPr>
            <a:r>
              <a:rPr lang="en-IN" sz="1800" dirty="0"/>
              <a:t>❌ Not suitable for aperiodic or sporadic tasks</a:t>
            </a:r>
          </a:p>
          <a:p>
            <a:pPr marL="114300" indent="0">
              <a:buNone/>
            </a:pPr>
            <a:r>
              <a:rPr lang="en-IN" sz="1800" dirty="0"/>
              <a:t>❌ Less flexible than dynamic algorithms like EDF</a:t>
            </a:r>
          </a:p>
          <a:p>
            <a:pPr marL="114300" indent="0">
              <a:buNone/>
            </a:pPr>
            <a:r>
              <a:rPr lang="en-IN" sz="1800" dirty="0"/>
              <a:t>📈 Widely used in embedded, automotive, and control systems</a:t>
            </a:r>
          </a:p>
          <a:p>
            <a:pPr marL="11430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454879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0B5E9C-8A85-1A63-9535-E9B4AC46F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⏳ </a:t>
            </a:r>
            <a:r>
              <a:rPr lang="en-US" sz="3200" b="1" dirty="0"/>
              <a:t>Earliest Deadline First (EDF) Scheduling</a:t>
            </a:r>
            <a:endParaRPr lang="en-IN" sz="32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09854A-D6A1-F917-72CF-E96FCFF95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b="1" dirty="0"/>
              <a:t>Earliest Deadline First (EDF)</a:t>
            </a:r>
            <a:r>
              <a:rPr lang="en-US" sz="1600" dirty="0"/>
              <a:t> is a </a:t>
            </a:r>
            <a:r>
              <a:rPr lang="en-US" sz="1600" b="1" dirty="0"/>
              <a:t>dynamic priority real-time scheduling</a:t>
            </a:r>
            <a:r>
              <a:rPr lang="en-US" sz="1600" dirty="0"/>
              <a:t> algorithm that always runs the task </a:t>
            </a:r>
            <a:r>
              <a:rPr lang="en-US" sz="1600" b="1" dirty="0"/>
              <a:t>with the closest (earliest) deadline</a:t>
            </a:r>
            <a:r>
              <a:rPr lang="en-US" sz="1600" dirty="0"/>
              <a:t>.</a:t>
            </a:r>
          </a:p>
          <a:p>
            <a:pPr marL="114300" indent="0">
              <a:buNone/>
            </a:pPr>
            <a:endParaRPr lang="en-US" sz="1600" dirty="0"/>
          </a:p>
          <a:p>
            <a:r>
              <a:rPr lang="en-US" sz="1600" b="1" dirty="0"/>
              <a:t>Dynamic priority</a:t>
            </a:r>
            <a:r>
              <a:rPr lang="en-US" sz="1600" dirty="0"/>
              <a:t>: Priorities change at runtime based on deadlines.</a:t>
            </a:r>
          </a:p>
          <a:p>
            <a:r>
              <a:rPr lang="en-US" sz="1600" dirty="0"/>
              <a:t>Task with </a:t>
            </a:r>
            <a:r>
              <a:rPr lang="en-US" sz="1600" b="1" dirty="0"/>
              <a:t>earliest absolute deadline</a:t>
            </a:r>
            <a:r>
              <a:rPr lang="en-US" sz="1600" dirty="0"/>
              <a:t> gets the </a:t>
            </a:r>
            <a:r>
              <a:rPr lang="en-US" sz="1600" b="1" dirty="0"/>
              <a:t>highest priority</a:t>
            </a:r>
            <a:r>
              <a:rPr lang="en-US" sz="1600" dirty="0"/>
              <a:t>.</a:t>
            </a:r>
          </a:p>
          <a:p>
            <a:r>
              <a:rPr lang="en-US" sz="1600" b="1" dirty="0"/>
              <a:t>Preemptive</a:t>
            </a:r>
            <a:r>
              <a:rPr lang="en-US" sz="1600" dirty="0"/>
              <a:t>: A new task with an earlier deadline can preempt the current task.</a:t>
            </a:r>
          </a:p>
          <a:p>
            <a:r>
              <a:rPr lang="en-US" sz="1600" dirty="0"/>
              <a:t>Under the EDF policy, when a process becomes runnable, it must announce its deadline requirements to the system.</a:t>
            </a:r>
          </a:p>
        </p:txBody>
      </p:sp>
    </p:spTree>
    <p:extLst>
      <p:ext uri="{BB962C8B-B14F-4D97-AF65-F5344CB8AC3E}">
        <p14:creationId xmlns:p14="http://schemas.microsoft.com/office/powerpoint/2010/main" val="204996892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C0583F-515F-1A7F-B9B6-1DA5C64C1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600" i="1" dirty="0"/>
              <a:t>1. Operating System Concepts :Authors: Abraham Silberschatz, Peter B. Galvin, Greg Gagne</a:t>
            </a:r>
          </a:p>
          <a:p>
            <a:pPr marL="114300" indent="0">
              <a:buNone/>
            </a:pPr>
            <a:endParaRPr lang="en-IN" sz="1600" i="1" dirty="0"/>
          </a:p>
          <a:p>
            <a:pPr marL="114300" indent="0">
              <a:buNone/>
            </a:pPr>
            <a:r>
              <a:rPr lang="en-IN" sz="1600" i="1" dirty="0"/>
              <a:t>2. Modern Operating Systems: Author: Andrew S. Tanenbaum</a:t>
            </a:r>
          </a:p>
          <a:p>
            <a:pPr marL="114300" indent="0">
              <a:buNone/>
            </a:pPr>
            <a:endParaRPr lang="en-IN" sz="1600" i="1" dirty="0"/>
          </a:p>
          <a:p>
            <a:pPr marL="114300" indent="0">
              <a:buNone/>
            </a:pPr>
            <a:r>
              <a:rPr lang="en-IN" sz="1600" i="1" dirty="0"/>
              <a:t>3.</a:t>
            </a:r>
            <a:r>
              <a:rPr lang="en-US" sz="1600" i="1" dirty="0"/>
              <a:t> Operating Systems: Internals and Design Principles by William Stallings</a:t>
            </a:r>
          </a:p>
          <a:p>
            <a:pPr marL="114300" indent="0">
              <a:buNone/>
            </a:pPr>
            <a:endParaRPr lang="en-US" sz="1600" i="1" dirty="0"/>
          </a:p>
          <a:p>
            <a:pPr marL="114300" indent="0">
              <a:buNone/>
            </a:pPr>
            <a:r>
              <a:rPr lang="en-US" sz="1600" i="1" dirty="0"/>
              <a:t>4. </a:t>
            </a:r>
            <a:r>
              <a:rPr lang="en-US" sz="1600" i="1" dirty="0" err="1"/>
              <a:t>GeeksforGeeks</a:t>
            </a:r>
            <a:r>
              <a:rPr lang="en-US" sz="1600" i="1" dirty="0"/>
              <a:t> – CPU Scheduling</a:t>
            </a:r>
            <a:br>
              <a:rPr lang="en-US" sz="1600" i="1" dirty="0"/>
            </a:br>
            <a:r>
              <a:rPr lang="en-US" sz="1600" i="1" dirty="0"/>
              <a:t>🔗 </a:t>
            </a:r>
            <a:r>
              <a:rPr lang="en-US" sz="1600" i="1" dirty="0">
                <a:hlinkClick r:id="rId2"/>
              </a:rPr>
              <a:t>https://www.geeksforgeeks.org/cpu-scheduling-in-operating-systems/</a:t>
            </a:r>
            <a:endParaRPr lang="en-US" sz="1600" i="1" dirty="0"/>
          </a:p>
          <a:p>
            <a:pPr marL="114300" indent="0">
              <a:buNone/>
            </a:pPr>
            <a:endParaRPr lang="en-IN" sz="1600" i="1" dirty="0"/>
          </a:p>
          <a:p>
            <a:pPr marL="114300" indent="0">
              <a:buNone/>
            </a:pPr>
            <a:r>
              <a:rPr lang="en-IN" sz="1600" i="1" dirty="0"/>
              <a:t>5.</a:t>
            </a:r>
            <a:r>
              <a:rPr lang="en-IN" sz="1600" dirty="0"/>
              <a:t> </a:t>
            </a:r>
            <a:r>
              <a:rPr lang="en-IN" sz="1600" dirty="0" err="1"/>
              <a:t>TutorialsPoint</a:t>
            </a:r>
            <a:r>
              <a:rPr lang="en-IN" sz="1600" dirty="0"/>
              <a:t> – Operating System Scheduling</a:t>
            </a:r>
            <a:endParaRPr lang="en-IN" sz="1600" i="1" dirty="0"/>
          </a:p>
          <a:p>
            <a:pPr marL="114300" indent="0">
              <a:buNone/>
            </a:pPr>
            <a:r>
              <a:rPr lang="en-US" sz="1600" i="1" dirty="0"/>
              <a:t>🔗 </a:t>
            </a:r>
            <a:r>
              <a:rPr lang="en-US" sz="1600" i="1" dirty="0">
                <a:hlinkClick r:id="rId3"/>
              </a:rPr>
              <a:t>https://www.tutorialspoint.com/operating_system/os_process_scheduling_algorithms.htm</a:t>
            </a:r>
            <a:endParaRPr lang="en-US" sz="1600" i="1" dirty="0"/>
          </a:p>
          <a:p>
            <a:pPr marL="114300" indent="0">
              <a:buNone/>
            </a:pPr>
            <a:endParaRPr lang="en-IN" sz="1600" i="1" dirty="0"/>
          </a:p>
          <a:p>
            <a:pPr marL="114300" indent="0">
              <a:buNone/>
            </a:pPr>
            <a:endParaRPr lang="en-IN" sz="1600" i="1" dirty="0"/>
          </a:p>
          <a:p>
            <a:pPr marL="114300" indent="0">
              <a:buNone/>
            </a:pPr>
            <a:endParaRPr lang="en-IN" sz="1600" i="1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3EE1AE-A2A9-5AB6-4638-49C1DAB02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3460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0053F"/>
      </a:accent1>
      <a:accent2>
        <a:srgbClr val="00C1F1"/>
      </a:accent2>
      <a:accent3>
        <a:srgbClr val="EFBC22"/>
      </a:accent3>
      <a:accent4>
        <a:srgbClr val="810593"/>
      </a:accent4>
      <a:accent5>
        <a:srgbClr val="110A76"/>
      </a:accent5>
      <a:accent6>
        <a:srgbClr val="004C8C"/>
      </a:accent6>
      <a:hlink>
        <a:srgbClr val="4276AA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1347</TotalTime>
  <Words>6186</Words>
  <Application>Microsoft Office PowerPoint</Application>
  <PresentationFormat>Widescreen</PresentationFormat>
  <Paragraphs>1156</Paragraphs>
  <Slides>81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1" baseType="lpstr">
      <vt:lpstr>MS PGothic</vt:lpstr>
      <vt:lpstr>Arial</vt:lpstr>
      <vt:lpstr>Calibri</vt:lpstr>
      <vt:lpstr>DejaVu Sans</vt:lpstr>
      <vt:lpstr>Droid Sans Fallback</vt:lpstr>
      <vt:lpstr>Georgia</vt:lpstr>
      <vt:lpstr>Google Sans</vt:lpstr>
      <vt:lpstr>Montserrat</vt:lpstr>
      <vt:lpstr>Times New Roman</vt:lpstr>
      <vt:lpstr>Office Theme</vt:lpstr>
      <vt:lpstr>Unit 2: CPU Scheduling  </vt:lpstr>
      <vt:lpstr>PowerPoint Presentation</vt:lpstr>
      <vt:lpstr>PowerPoint Presentation</vt:lpstr>
      <vt:lpstr>   ✈️ Air Traffic Control (ATC) as an OS Scheduler </vt:lpstr>
      <vt:lpstr>PowerPoint Presentation</vt:lpstr>
      <vt:lpstr>⚙️ CPU Burst and I/O Burst in OS Scheduling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CPU Scheduling</vt:lpstr>
      <vt:lpstr>PowerPoint Presentation</vt:lpstr>
      <vt:lpstr>PowerPoint Presentation</vt:lpstr>
      <vt:lpstr>Dispatcher </vt:lpstr>
      <vt:lpstr> Key CPU scheduling criteria </vt:lpstr>
      <vt:lpstr>PowerPoint Presentation</vt:lpstr>
      <vt:lpstr>PowerPoint Presentation</vt:lpstr>
      <vt:lpstr>🔹 First Come First Serve (FCFS)</vt:lpstr>
      <vt:lpstr>       📘 Example: Assume we have the following processes: </vt:lpstr>
      <vt:lpstr>PowerPoint Presentation</vt:lpstr>
      <vt:lpstr>🔷 FCFS Scheduling Pseudocode</vt:lpstr>
      <vt:lpstr>PowerPoint Presentation</vt:lpstr>
      <vt:lpstr>Shortest Job First (SJF)</vt:lpstr>
      <vt:lpstr>  </vt:lpstr>
      <vt:lpstr>PowerPoint Presentation</vt:lpstr>
      <vt:lpstr>🔷 Pseudocode: Shortest Job First (SJF – Non-Preemptive)</vt:lpstr>
      <vt:lpstr>PowerPoint Presentation</vt:lpstr>
      <vt:lpstr>🔹 Shortest Remaining Time First (SRTF)</vt:lpstr>
      <vt:lpstr>PowerPoint Presentation</vt:lpstr>
      <vt:lpstr>PowerPoint Presentation</vt:lpstr>
      <vt:lpstr>            🔹 SRTF Scheduling – Pseudocode </vt:lpstr>
      <vt:lpstr>PowerPoint Presentation</vt:lpstr>
      <vt:lpstr>🔷 Priority Scheduling </vt:lpstr>
      <vt:lpstr>PowerPoint Presentation</vt:lpstr>
      <vt:lpstr>PowerPoint Presentation</vt:lpstr>
      <vt:lpstr>🧠 Pseudocode: Preemptive Priority Scheduling</vt:lpstr>
      <vt:lpstr>PowerPoint Presentation</vt:lpstr>
      <vt:lpstr>PowerPoint Presentation</vt:lpstr>
      <vt:lpstr>🔹 Round Robin Scheduling</vt:lpstr>
      <vt:lpstr>PowerPoint Presentation</vt:lpstr>
      <vt:lpstr>PowerPoint Presentation</vt:lpstr>
      <vt:lpstr>PowerPoint Presentation</vt:lpstr>
      <vt:lpstr>Contd…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🔹 Multilevel Queue Scheduling</vt:lpstr>
      <vt:lpstr>🔢 Multilevel Queue Scheduling – 5 Queue Explanation</vt:lpstr>
      <vt:lpstr>PowerPoint Presentation</vt:lpstr>
      <vt:lpstr>PowerPoint Presentation</vt:lpstr>
      <vt:lpstr>PowerPoint Presentation</vt:lpstr>
      <vt:lpstr>🧭 Foreground and Background Processes </vt:lpstr>
      <vt:lpstr>Multilevel Queue Scheduling</vt:lpstr>
      <vt:lpstr>Multilevel Feedback Queue (MLFQ) Scheduling</vt:lpstr>
      <vt:lpstr>PowerPoint Presentation</vt:lpstr>
      <vt:lpstr>PowerPoint Presentation</vt:lpstr>
      <vt:lpstr>PowerPoint Presentation</vt:lpstr>
      <vt:lpstr>Multiprocessing Scheduling</vt:lpstr>
      <vt:lpstr>PowerPoint Presentation</vt:lpstr>
      <vt:lpstr>Processor Affinity </vt:lpstr>
      <vt:lpstr>Load Balancing</vt:lpstr>
      <vt:lpstr>PowerPoint Presentation</vt:lpstr>
      <vt:lpstr>Multicore Processors</vt:lpstr>
      <vt:lpstr>PowerPoint Presentation</vt:lpstr>
      <vt:lpstr>Memory Stall in Multicore Processors</vt:lpstr>
      <vt:lpstr>PowerPoint Presentation</vt:lpstr>
      <vt:lpstr>⏱️ Real-Time Scheduling</vt:lpstr>
      <vt:lpstr>Rate Monotonic Scheduling (RMS) </vt:lpstr>
      <vt:lpstr>⏳ Earliest Deadline First (EDF) Scheduling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kritimathur90@outlook.com</cp:lastModifiedBy>
  <cp:revision>133</cp:revision>
  <dcterms:created xsi:type="dcterms:W3CDTF">2006-08-16T00:00:00Z</dcterms:created>
  <dcterms:modified xsi:type="dcterms:W3CDTF">2025-09-15T04:54:52Z</dcterms:modified>
</cp:coreProperties>
</file>